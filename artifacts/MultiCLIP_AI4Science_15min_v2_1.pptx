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73" r:id="rId2"/>
    <p:sldId id="272" r:id="rId3"/>
    <p:sldId id="274" r:id="rId4"/>
    <p:sldId id="276" r:id="rId5"/>
    <p:sldId id="275" r:id="rId6"/>
    <p:sldId id="258" r:id="rId7"/>
    <p:sldId id="283" r:id="rId8"/>
    <p:sldId id="280" r:id="rId9"/>
    <p:sldId id="281" r:id="rId10"/>
    <p:sldId id="279" r:id="rId11"/>
    <p:sldId id="259" r:id="rId12"/>
    <p:sldId id="260" r:id="rId13"/>
    <p:sldId id="261" r:id="rId14"/>
    <p:sldId id="282" r:id="rId15"/>
    <p:sldId id="278" r:id="rId16"/>
    <p:sldId id="262" r:id="rId17"/>
    <p:sldId id="263" r:id="rId18"/>
    <p:sldId id="284" r:id="rId19"/>
    <p:sldId id="286" r:id="rId20"/>
    <p:sldId id="264" r:id="rId21"/>
    <p:sldId id="290" r:id="rId22"/>
    <p:sldId id="289" r:id="rId23"/>
    <p:sldId id="288" r:id="rId24"/>
    <p:sldId id="265" r:id="rId25"/>
    <p:sldId id="266" r:id="rId26"/>
    <p:sldId id="267" r:id="rId27"/>
    <p:sldId id="277" r:id="rId28"/>
    <p:sldId id="285" r:id="rId29"/>
    <p:sldId id="268" r:id="rId30"/>
    <p:sldId id="287" r:id="rId31"/>
    <p:sldId id="269" r:id="rId32"/>
    <p:sldId id="270" r:id="rId33"/>
    <p:sldId id="271"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373" autoAdjust="0"/>
  </p:normalViewPr>
  <p:slideViewPr>
    <p:cSldViewPr snapToGrid="0" snapToObjects="1">
      <p:cViewPr varScale="1">
        <p:scale>
          <a:sx n="59" d="100"/>
          <a:sy n="59" d="100"/>
        </p:scale>
        <p:origin x="158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689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00:00–00:20  ·  TITLE</a:t>
            </a:r>
          </a:p>
          <a:p>
            <a:endParaRPr sz="1400">
              <a:latin typeface="Aptos"/>
            </a:endParaRPr>
          </a:p>
          <a:p>
            <a:r>
              <a:rPr sz="1400">
                <a:latin typeface="Aptos"/>
              </a:rPr>
              <a:t>SAY</a:t>
            </a:r>
          </a:p>
          <a:p>
            <a:r>
              <a:rPr sz="1400">
                <a:latin typeface="Aptos"/>
              </a:rPr>
              <a:t>Good afternoon. I am Manuel Ruiz-Botella, from Universitat Rovira i Virgili in Tarragona, with Marta Sales-Pardo and Roger Guimerà.</a:t>
            </a:r>
          </a:p>
          <a:p>
            <a:endParaRPr sz="1400">
              <a:latin typeface="Aptos"/>
            </a:endParaRPr>
          </a:p>
          <a:p>
            <a:r>
              <a:rPr sz="1400">
                <a:latin typeface="Aptos"/>
              </a:rPr>
              <a:t>This talk is MultiCLIP: four-view contrastive learning for metabolite identification from tandem mass spectra.</a:t>
            </a:r>
          </a:p>
          <a:p>
            <a:endParaRPr sz="1400">
              <a:latin typeface="Aptos"/>
            </a:endParaRPr>
          </a:p>
          <a:p>
            <a:r>
              <a:rPr sz="1400">
                <a:latin typeface="Aptos"/>
              </a:rPr>
              <a:t>[Pause 1 s. Click. Do not start the science on this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29A3-0C2E-8AB7-FDEA-0F2DDF52B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85D504-1410-F699-7470-4D63298442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FBC740-66C7-CDDF-BCC8-EFC8625C4E54}"/>
              </a:ext>
            </a:extLst>
          </p:cNvPr>
          <p:cNvSpPr>
            <a:spLocks noGrp="1"/>
          </p:cNvSpPr>
          <p:nvPr>
            <p:ph type="body" sz="quarter" idx="3"/>
          </p:nvPr>
        </p:nvSpPr>
        <p:spPr/>
        <p:txBody>
          <a:bodyPr/>
          <a:lstStyle/>
          <a:p>
            <a:r>
              <a:rPr sz="1400">
                <a:latin typeface="Aptos"/>
              </a:rPr>
              <a:t>00:20–00:45  ·  THE PROBLEM  (clock on slide still says 00:35–01:25 for the whole opening)</a:t>
            </a:r>
            <a:endParaRPr dirty="0"/>
          </a:p>
          <a:p>
            <a:endParaRPr dirty="0"/>
          </a:p>
          <a:p>
            <a:r>
              <a:rPr sz="1400">
                <a:latin typeface="Aptos"/>
              </a:rPr>
              <a:t>SAY</a:t>
            </a:r>
          </a:p>
          <a:p>
            <a:r>
              <a:rPr sz="1400">
                <a:latin typeface="Aptos"/>
              </a:rPr>
              <a:t>Imagine you are at the bench with a biological sample, and you need to know which molecule is in it.</a:t>
            </a:r>
          </a:p>
          <a:p>
            <a:endParaRPr sz="1400">
              <a:latin typeface="Aptos"/>
            </a:endParaRPr>
          </a:p>
          <a:p>
            <a:r>
              <a:rPr sz="1400">
                <a:latin typeface="Aptos"/>
              </a:rPr>
              <a:t>You run it on the mass spectrometer. You get a spectrum.</a:t>
            </a:r>
          </a:p>
          <a:p>
            <a:endParaRPr sz="1400">
              <a:latin typeface="Aptos"/>
            </a:endParaRPr>
          </a:p>
          <a:p>
            <a:r>
              <a:rPr sz="1400">
                <a:latin typeface="Aptos"/>
              </a:rPr>
              <a:t>Then the question starts: is it this isomer, or this one, or this one?</a:t>
            </a:r>
          </a:p>
          <a:p>
            <a:endParaRPr sz="1400">
              <a:latin typeface="Aptos"/>
            </a:endParaRPr>
          </a:p>
          <a:p>
            <a:r>
              <a:rPr sz="1400">
                <a:latin typeface="Aptos"/>
              </a:rPr>
              <a:t>You search the library. It is not there.</a:t>
            </a:r>
          </a:p>
          <a:p>
            <a:endParaRPr sz="1400">
              <a:latin typeface="Aptos"/>
            </a:endParaRPr>
          </a:p>
          <a:p>
            <a:r>
              <a:rPr sz="1400">
                <a:latin typeface="Aptos"/>
              </a:rPr>
              <a:t>So you are back to reading peaks by hand — among thousands of possible structures.</a:t>
            </a:r>
          </a:p>
          <a:p>
            <a:endParaRPr sz="1400">
              <a:latin typeface="Aptos"/>
            </a:endParaRPr>
          </a:p>
          <a:p>
            <a:r>
              <a:rPr sz="1400">
                <a:latin typeface="Aptos"/>
              </a:rPr>
              <a:t>[Pause 2 s. Point at the question mark, then at the branching isomers.]</a:t>
            </a:r>
          </a:p>
          <a:p>
            <a:r>
              <a:rPr sz="1400">
                <a:latin typeface="Aptos"/>
              </a:rPr>
              <a:t>That is the problem this talk is about.</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6E273999-E79A-C733-EB61-7EB5DF9289DE}"/>
              </a:ext>
            </a:extLst>
          </p:cNvPr>
          <p:cNvSpPr>
            <a:spLocks noGrp="1"/>
          </p:cNvSpPr>
          <p:nvPr>
            <p:ph type="sldNum" sz="quarter" idx="5"/>
          </p:nvPr>
        </p:nvSpPr>
        <p:spPr/>
      </p:sp>
    </p:spTree>
    <p:extLst>
      <p:ext uri="{BB962C8B-B14F-4D97-AF65-F5344CB8AC3E}">
        <p14:creationId xmlns:p14="http://schemas.microsoft.com/office/powerpoint/2010/main" val="3819418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00:45–01:10  ·  THE ISOMER GRID</a:t>
            </a:r>
          </a:p>
          <a:p>
            <a:endParaRPr sz="1400">
              <a:latin typeface="Aptos"/>
            </a:endParaRPr>
          </a:p>
          <a:p>
            <a:r>
              <a:rPr sz="1400">
                <a:latin typeface="Aptos"/>
              </a:rPr>
              <a:t>SAY</a:t>
            </a:r>
          </a:p>
          <a:p>
            <a:r>
              <a:rPr sz="1400">
                <a:latin typeface="Aptos"/>
              </a:rPr>
              <a:t>This spectrum on the left was produced by one of these molecules.</a:t>
            </a:r>
          </a:p>
          <a:p>
            <a:endParaRPr sz="1400">
              <a:latin typeface="Aptos"/>
            </a:endParaRPr>
          </a:p>
          <a:p>
            <a:r>
              <a:rPr sz="1400">
                <a:latin typeface="Aptos"/>
              </a:rPr>
              <a:t>They all share the same precursor mass, and the same molecular formula.</a:t>
            </a:r>
          </a:p>
          <a:p>
            <a:endParaRPr sz="1400">
              <a:latin typeface="Aptos"/>
            </a:endParaRPr>
          </a:p>
          <a:p>
            <a:r>
              <a:rPr sz="1400">
                <a:latin typeface="Aptos"/>
              </a:rPr>
              <a:t>[Pause 3 s. Let them look at the grid. Do not give numbers yet.]</a:t>
            </a:r>
          </a:p>
          <a:p>
            <a:endParaRPr sz="1400">
              <a:latin typeface="Aptos"/>
            </a:endParaRPr>
          </a:p>
          <a:p>
            <a:r>
              <a:rPr sz="1400">
                <a:latin typeface="Aptos"/>
              </a:rPr>
              <a:t>This is the inverse problem of mass spectrometry: from incomplete fragments, to one exact structure.</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DF37-0C21-BDFF-FF66-3B16002FC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23A73-6F8B-8B1B-B93D-2ADCE5D3655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E5432EE-AC82-B80B-0597-01599502C049}"/>
              </a:ext>
            </a:extLst>
          </p:cNvPr>
          <p:cNvSpPr>
            <a:spLocks noGrp="1"/>
          </p:cNvSpPr>
          <p:nvPr>
            <p:ph type="body" sz="quarter" idx="3"/>
          </p:nvPr>
        </p:nvSpPr>
        <p:spPr/>
        <p:txBody>
          <a:bodyPr/>
          <a:lstStyle/>
          <a:p>
            <a:r>
              <a:rPr sz="1400">
                <a:latin typeface="Aptos"/>
              </a:rPr>
              <a:t>01:10–01:30  ·  44,374 ISOMERS</a:t>
            </a:r>
          </a:p>
          <a:p>
            <a:endParaRPr sz="1400">
              <a:latin typeface="Aptos"/>
            </a:endParaRPr>
          </a:p>
          <a:p>
            <a:r>
              <a:rPr sz="1400">
                <a:latin typeface="Aptos"/>
              </a:rPr>
              <a:t>SAY</a:t>
            </a:r>
          </a:p>
          <a:p>
            <a:r>
              <a:rPr sz="1400">
                <a:latin typeface="Aptos"/>
              </a:rPr>
              <a:t>But how hard can this problem get?</a:t>
            </a:r>
          </a:p>
          <a:p>
            <a:endParaRPr sz="1400">
              <a:latin typeface="Aptos"/>
            </a:endParaRPr>
          </a:p>
          <a:p>
            <a:r>
              <a:rPr sz="1400">
                <a:latin typeface="Aptos"/>
              </a:rPr>
              <a:t>You can write C₁₂H₁₈N₂O₂ from the precursor mass. You still do not know which compound is in the sample.</a:t>
            </a:r>
          </a:p>
          <a:p>
            <a:endParaRPr sz="1400">
              <a:latin typeface="Aptos"/>
            </a:endParaRPr>
          </a:p>
          <a:p>
            <a:r>
              <a:rPr sz="1400">
                <a:latin typeface="Aptos"/>
              </a:rPr>
              <a:t>That modest formula has 44,374 structures in PubChem. The molecules around this number are real isomers of it.</a:t>
            </a:r>
          </a:p>
          <a:p>
            <a:endParaRPr sz="1400">
              <a:latin typeface="Aptos"/>
            </a:endParaRPr>
          </a:p>
          <a:p>
            <a:r>
              <a:rPr sz="1400">
                <a:latin typeface="Aptos"/>
              </a:rPr>
              <a:t>Knowing the formula is not an identification.</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E73A9EBA-A38E-E893-2220-01FFAF71F3A6}"/>
              </a:ext>
            </a:extLst>
          </p:cNvPr>
          <p:cNvSpPr>
            <a:spLocks noGrp="1"/>
          </p:cNvSpPr>
          <p:nvPr>
            <p:ph type="sldNum" sz="quarter" idx="5"/>
          </p:nvPr>
        </p:nvSpPr>
        <p:spPr/>
      </p:sp>
    </p:spTree>
    <p:extLst>
      <p:ext uri="{BB962C8B-B14F-4D97-AF65-F5344CB8AC3E}">
        <p14:creationId xmlns:p14="http://schemas.microsoft.com/office/powerpoint/2010/main" val="117980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01:30–01:50  ·  2.3% LIBRARY HIT RATE</a:t>
            </a:r>
          </a:p>
          <a:p>
            <a:endParaRPr sz="1400">
              <a:latin typeface="Aptos"/>
            </a:endParaRPr>
          </a:p>
          <a:p>
            <a:r>
              <a:rPr sz="1400">
                <a:latin typeface="Aptos"/>
              </a:rPr>
              <a:t>SAY</a:t>
            </a:r>
          </a:p>
          <a:p>
            <a:r>
              <a:rPr sz="1400">
                <a:latin typeface="Aptos"/>
              </a:rPr>
              <a:t>And looking it up in a library barely helps.</a:t>
            </a:r>
          </a:p>
          <a:p>
            <a:endParaRPr sz="1400">
              <a:latin typeface="Aptos"/>
            </a:endParaRPr>
          </a:p>
          <a:p>
            <a:r>
              <a:rPr sz="1400">
                <a:latin typeface="Aptos"/>
              </a:rPr>
              <a:t>If we search experimental MS/MS against GNPS, the public reference library, only 2.3% of measurements get a name. One in forty-two.</a:t>
            </a:r>
          </a:p>
          <a:p>
            <a:endParaRPr sz="1400">
              <a:latin typeface="Aptos"/>
            </a:endParaRPr>
          </a:p>
          <a:p>
            <a:r>
              <a:rPr sz="1400">
                <a:latin typeface="Aptos"/>
              </a:rPr>
              <a:t>The rest is dark metabolome: either the molecule is not in the library, or the spectrum does not match well enough.</a:t>
            </a:r>
          </a:p>
          <a:p>
            <a:endParaRPr sz="1400">
              <a:latin typeface="Aptos"/>
            </a:endParaRPr>
          </a:p>
          <a:p>
            <a:r>
              <a:rPr sz="1400">
                <a:latin typeface="Aptos"/>
              </a:rPr>
              <a:t>[Pause 2 s]</a:t>
            </a:r>
          </a:p>
          <a:p>
            <a:r>
              <a:rPr sz="1400">
                <a:latin typeface="Aptos"/>
              </a:rPr>
              <a:t>This was the difficulty. Today I will show you how we attack it.</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01:50–02:10  ·  THE IDEA  (clock on slide: 01:25–02:00)</a:t>
            </a:r>
          </a:p>
          <a:p>
            <a:endParaRPr sz="1400">
              <a:latin typeface="Aptos"/>
            </a:endParaRPr>
          </a:p>
          <a:p>
            <a:r>
              <a:rPr sz="1400">
                <a:latin typeface="Aptos"/>
              </a:rPr>
              <a:t>SAY</a:t>
            </a:r>
          </a:p>
          <a:p>
            <a:r>
              <a:rPr sz="1400">
                <a:latin typeface="Aptos"/>
              </a:rPr>
              <a:t>One sentence for the rest of this talk:</a:t>
            </a:r>
          </a:p>
          <a:p>
            <a:endParaRPr sz="1400">
              <a:latin typeface="Aptos"/>
            </a:endParaRPr>
          </a:p>
          <a:p>
            <a:r>
              <a:rPr sz="1400">
                <a:latin typeface="Aptos"/>
              </a:rPr>
              <a:t>[Pause 2 s]</a:t>
            </a:r>
          </a:p>
          <a:p>
            <a:endParaRPr sz="1400">
              <a:latin typeface="Aptos"/>
            </a:endParaRPr>
          </a:p>
          <a:p>
            <a:r>
              <a:rPr sz="1400">
                <a:latin typeface="Aptos"/>
              </a:rPr>
              <a:t>Aligning four views of a metabolite helps to identify the isomer from several candidates.</a:t>
            </a:r>
          </a:p>
          <a:p>
            <a:endParaRPr sz="1400">
              <a:latin typeface="Aptos"/>
            </a:endParaRPr>
          </a:p>
          <a:p>
            <a:r>
              <a:rPr sz="1400">
                <a:latin typeface="Aptos"/>
              </a:rPr>
              <a:t>[Pause 3 s. Look at the centre of the room.]</a:t>
            </a:r>
          </a:p>
          <a:p>
            <a:endParaRPr sz="1400">
              <a:latin typeface="Aptos"/>
            </a:endParaRPr>
          </a:p>
          <a:p>
            <a:r>
              <a:rPr sz="1400">
                <a:latin typeface="Aptos"/>
              </a:rPr>
              <a:t>If this works, you rank isomers from the raw spectrum, without a precursor formula in the encoder. If we keep one pair and formula-dependent tokens, we leave evidence unused.</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7DBFE-6F40-287A-E983-D7360BFCB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1A7C5-C67D-5BC4-9EBD-4AE963A8E04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F38CF1-006E-FE83-10BD-02DE8F2B556D}"/>
              </a:ext>
            </a:extLst>
          </p:cNvPr>
          <p:cNvSpPr>
            <a:spLocks noGrp="1"/>
          </p:cNvSpPr>
          <p:nvPr>
            <p:ph type="body" sz="quarter" idx="3"/>
          </p:nvPr>
        </p:nvSpPr>
        <p:spPr/>
        <p:txBody>
          <a:bodyPr/>
          <a:lstStyle/>
          <a:p>
            <a:r>
              <a:rPr sz="1400">
                <a:latin typeface="Aptos"/>
              </a:rPr>
              <a:t>02:10–02:15  ·  BEAT  (almost empty on purpose)</a:t>
            </a:r>
          </a:p>
          <a:p>
            <a:endParaRPr sz="1400">
              <a:latin typeface="Aptos"/>
            </a:endParaRPr>
          </a:p>
          <a:p>
            <a:r>
              <a:rPr sz="1400">
                <a:latin typeface="Aptos"/>
              </a:rPr>
              <a:t>SAY</a:t>
            </a:r>
          </a:p>
          <a:p>
            <a:r>
              <a:rPr sz="1400">
                <a:latin typeface="Aptos"/>
              </a:rPr>
              <a:t>[Almost nothing. One breath.]</a:t>
            </a:r>
          </a:p>
          <a:p>
            <a:r>
              <a:rPr sz="1400">
                <a:latin typeface="Aptos"/>
              </a:rPr>
              <a:t>What are those four views?</a:t>
            </a:r>
          </a:p>
          <a:p>
            <a:endParaRPr sz="1400">
              <a:latin typeface="Aptos"/>
            </a:endParaRPr>
          </a:p>
          <a:p>
            <a:r>
              <a:rPr sz="1400">
                <a:latin typeface="Aptos"/>
              </a:rPr>
              <a:t>[Click immediately.]</a:t>
            </a:r>
          </a:p>
        </p:txBody>
      </p:sp>
      <p:sp>
        <p:nvSpPr>
          <p:cNvPr id="4" name="Slide Number Placeholder 3">
            <a:extLst>
              <a:ext uri="{FF2B5EF4-FFF2-40B4-BE49-F238E27FC236}">
                <a16:creationId xmlns:a16="http://schemas.microsoft.com/office/drawing/2014/main" id="{58F5876D-534D-D16F-465A-F98E1DF7C21B}"/>
              </a:ext>
            </a:extLst>
          </p:cNvPr>
          <p:cNvSpPr>
            <a:spLocks noGrp="1"/>
          </p:cNvSpPr>
          <p:nvPr>
            <p:ph type="sldNum" sz="quarter" idx="5"/>
          </p:nvPr>
        </p:nvSpPr>
        <p:spPr/>
      </p:sp>
    </p:spTree>
    <p:extLst>
      <p:ext uri="{BB962C8B-B14F-4D97-AF65-F5344CB8AC3E}">
        <p14:creationId xmlns:p14="http://schemas.microsoft.com/office/powerpoint/2010/main" val="586490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EF5A4-1618-96B7-6F03-68B97C7B7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EE8EE-8BC3-FBDA-5916-1B5DAE335F4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1A42A3-684C-E9A0-6488-C858A47B9034}"/>
              </a:ext>
            </a:extLst>
          </p:cNvPr>
          <p:cNvSpPr>
            <a:spLocks noGrp="1"/>
          </p:cNvSpPr>
          <p:nvPr>
            <p:ph type="body" sz="quarter" idx="3"/>
          </p:nvPr>
        </p:nvSpPr>
        <p:spPr/>
        <p:txBody>
          <a:bodyPr/>
          <a:lstStyle/>
          <a:p>
            <a:r>
              <a:rPr sz="1400">
                <a:latin typeface="Aptos"/>
              </a:rPr>
              <a:t>02:15–02:35  ·  ONE METABOLITE, FOUR VIEWS</a:t>
            </a:r>
          </a:p>
          <a:p>
            <a:endParaRPr sz="1400">
              <a:latin typeface="Aptos"/>
            </a:endParaRPr>
          </a:p>
          <a:p>
            <a:r>
              <a:rPr sz="1400">
                <a:latin typeface="Aptos"/>
              </a:rPr>
              <a:t>SAY</a:t>
            </a:r>
          </a:p>
          <a:p>
            <a:r>
              <a:rPr sz="1400">
                <a:latin typeface="Aptos"/>
              </a:rPr>
              <a:t>Upper left: the 2D graph — atom connectivity.</a:t>
            </a:r>
          </a:p>
          <a:p>
            <a:endParaRPr sz="1400">
              <a:latin typeface="Aptos"/>
            </a:endParaRPr>
          </a:p>
          <a:p>
            <a:r>
              <a:rPr sz="1400">
                <a:latin typeface="Aptos"/>
              </a:rPr>
              <a:t>Lower left: the Morgan fingerprint — the substructure pattern.</a:t>
            </a:r>
          </a:p>
          <a:p>
            <a:endParaRPr sz="1400">
              <a:latin typeface="Aptos"/>
            </a:endParaRPr>
          </a:p>
          <a:p>
            <a:r>
              <a:rPr sz="1400">
                <a:latin typeface="Aptos"/>
              </a:rPr>
              <a:t>Upper right: the merged consensus spectrum — a stable signature.</a:t>
            </a:r>
          </a:p>
          <a:p>
            <a:endParaRPr sz="1400">
              <a:latin typeface="Aptos"/>
            </a:endParaRPr>
          </a:p>
          <a:p>
            <a:r>
              <a:rPr sz="1400">
                <a:latin typeface="Aptos"/>
              </a:rPr>
              <a:t>Lower right: a single MS/MS measurement — intensity and losses from one run.</a:t>
            </a:r>
          </a:p>
          <a:p>
            <a:endParaRPr sz="1400">
              <a:latin typeface="Aptos"/>
            </a:endParaRPr>
          </a:p>
          <a:p>
            <a:r>
              <a:rPr sz="1400">
                <a:latin typeface="Aptos"/>
              </a:rPr>
              <a:t>They are four views of the same metabolite.</a:t>
            </a:r>
          </a:p>
          <a:p>
            <a:endParaRPr sz="1400">
              <a:latin typeface="Aptos"/>
            </a:endParaRPr>
          </a:p>
          <a:p>
            <a:r>
              <a:rPr sz="1400">
                <a:latin typeface="Aptos"/>
              </a:rPr>
              <a:t>[Pause 2 s]</a:t>
            </a:r>
          </a:p>
          <a:p>
            <a:r>
              <a:rPr sz="1400">
                <a:latin typeface="Aptos"/>
              </a:rPr>
              <a:t>[Click]</a:t>
            </a:r>
          </a:p>
        </p:txBody>
      </p:sp>
      <p:sp>
        <p:nvSpPr>
          <p:cNvPr id="4" name="Slide Number Placeholder 3">
            <a:extLst>
              <a:ext uri="{FF2B5EF4-FFF2-40B4-BE49-F238E27FC236}">
                <a16:creationId xmlns:a16="http://schemas.microsoft.com/office/drawing/2014/main" id="{A6656366-4596-2189-5584-B0EA5DF61492}"/>
              </a:ext>
            </a:extLst>
          </p:cNvPr>
          <p:cNvSpPr>
            <a:spLocks noGrp="1"/>
          </p:cNvSpPr>
          <p:nvPr>
            <p:ph type="sldNum" sz="quarter" idx="5"/>
          </p:nvPr>
        </p:nvSpPr>
        <p:spPr/>
      </p:sp>
    </p:spTree>
    <p:extLst>
      <p:ext uri="{BB962C8B-B14F-4D97-AF65-F5344CB8AC3E}">
        <p14:creationId xmlns:p14="http://schemas.microsoft.com/office/powerpoint/2010/main" val="2391650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F7B2-A390-BAF1-2F53-E4E34C09A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497EE-05FF-9582-1AEA-8B04AFE2AB7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0E15784-5386-FF4E-1E82-EB1DA907F77F}"/>
              </a:ext>
            </a:extLst>
          </p:cNvPr>
          <p:cNvSpPr>
            <a:spLocks noGrp="1"/>
          </p:cNvSpPr>
          <p:nvPr>
            <p:ph type="body" sz="quarter" idx="3"/>
          </p:nvPr>
        </p:nvSpPr>
        <p:spPr/>
        <p:txBody>
          <a:bodyPr/>
          <a:lstStyle/>
          <a:p>
            <a:r>
              <a:rPr sz="1400">
                <a:latin typeface="Aptos"/>
              </a:rPr>
              <a:t>02:35–03:00  ·  THREE ACTS  (clock on slide: 01:25–02:00)</a:t>
            </a:r>
          </a:p>
          <a:p>
            <a:endParaRPr sz="1400">
              <a:latin typeface="Aptos"/>
            </a:endParaRPr>
          </a:p>
          <a:p>
            <a:r>
              <a:rPr sz="1400">
                <a:latin typeface="Aptos"/>
              </a:rPr>
              <a:t>SAY</a:t>
            </a:r>
          </a:p>
          <a:p>
            <a:r>
              <a:rPr sz="1400">
                <a:latin typeface="Aptos"/>
              </a:rPr>
              <a:t>Aligning four views of a metabolite helps to identify the isomer from several candidates.</a:t>
            </a:r>
          </a:p>
          <a:p>
            <a:endParaRPr sz="1400">
              <a:latin typeface="Aptos"/>
            </a:endParaRPr>
          </a:p>
          <a:p>
            <a:r>
              <a:rPr sz="1400">
                <a:latin typeface="Aptos"/>
              </a:rPr>
              <a:t>[Pause 2 s]</a:t>
            </a:r>
          </a:p>
          <a:p>
            <a:endParaRPr sz="1400">
              <a:latin typeface="Aptos"/>
            </a:endParaRPr>
          </a:p>
          <a:p>
            <a:r>
              <a:rPr sz="1400">
                <a:latin typeface="Aptos"/>
              </a:rPr>
              <a:t>I will build that claim in three acts.</a:t>
            </a:r>
          </a:p>
          <a:p>
            <a:endParaRPr sz="1400">
              <a:latin typeface="Aptos"/>
            </a:endParaRPr>
          </a:p>
          <a:p>
            <a:r>
              <a:rPr sz="1400">
                <a:latin typeface="Aptos"/>
              </a:rPr>
              <a:t>Input: tokenise every m/z peak directly, instead of the encodings used today.</a:t>
            </a:r>
          </a:p>
          <a:p>
            <a:endParaRPr sz="1400">
              <a:latin typeface="Aptos"/>
            </a:endParaRPr>
          </a:p>
          <a:p>
            <a:r>
              <a:rPr sz="1400">
                <a:latin typeface="Aptos"/>
              </a:rPr>
              <a:t>Engine: align and fuse those four views — graph, fingerprint, merged spectra, and single spectra.</a:t>
            </a:r>
          </a:p>
          <a:p>
            <a:endParaRPr sz="1400">
              <a:latin typeface="Aptos"/>
            </a:endParaRPr>
          </a:p>
          <a:p>
            <a:r>
              <a:rPr sz="1400">
                <a:latin typeface="Aptos"/>
              </a:rPr>
              <a:t>Horizon: understand the latent geometry, so we can reconstruct molecules that are not in any library.</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86CDF80F-7A62-0D47-8489-69AC69D30CB6}"/>
              </a:ext>
            </a:extLst>
          </p:cNvPr>
          <p:cNvSpPr>
            <a:spLocks noGrp="1"/>
          </p:cNvSpPr>
          <p:nvPr>
            <p:ph type="sldNum" sz="quarter" idx="5"/>
          </p:nvPr>
        </p:nvSpPr>
        <p:spPr/>
      </p:sp>
    </p:spTree>
    <p:extLst>
      <p:ext uri="{BB962C8B-B14F-4D97-AF65-F5344CB8AC3E}">
        <p14:creationId xmlns:p14="http://schemas.microsoft.com/office/powerpoint/2010/main" val="1357852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03:00–03:10  ·  ACT 1 BEGINS</a:t>
            </a:r>
          </a:p>
          <a:p>
            <a:r>
              <a:rPr sz="1400">
                <a:latin typeface="Aptos"/>
              </a:rPr>
              <a:t>On-slide clock still says 02:00–02:15 — ignore it. The opening now has more slides.</a:t>
            </a:r>
          </a:p>
          <a:p>
            <a:endParaRPr sz="1400">
              <a:latin typeface="Aptos"/>
            </a:endParaRPr>
          </a:p>
          <a:p>
            <a:r>
              <a:rPr sz="1400">
                <a:latin typeface="Aptos"/>
              </a:rPr>
              <a:t>SAY</a:t>
            </a:r>
          </a:p>
          <a:p>
            <a:r>
              <a:rPr sz="1400">
                <a:latin typeface="Aptos"/>
              </a:rPr>
              <a:t>Act 1 starts here: how do you encode a spectrum?</a:t>
            </a:r>
          </a:p>
          <a:p>
            <a:endParaRPr sz="1400">
              <a:latin typeface="Aptos"/>
            </a:endParaRPr>
          </a:p>
          <a:p>
            <a:r>
              <a:rPr sz="1400">
                <a:latin typeface="Aptos"/>
              </a:rPr>
              <a:t>[Pause 2 s. Point at card 01.]</a:t>
            </a: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03:10–03:55  ·  CURRENT SPECTRUM ENCODINGS</a:t>
            </a:r>
          </a:p>
          <a:p>
            <a:r>
              <a:rPr sz="1400">
                <a:latin typeface="Aptos"/>
              </a:rPr>
              <a:t>On-slide clock: 02:15–03:00. Take ~45 seconds.</a:t>
            </a:r>
          </a:p>
          <a:p>
            <a:endParaRPr sz="1400">
              <a:latin typeface="Aptos"/>
            </a:endParaRPr>
          </a:p>
          <a:p>
            <a:r>
              <a:rPr sz="1400">
                <a:latin typeface="Aptos"/>
              </a:rPr>
              <a:t>SAY</a:t>
            </a:r>
          </a:p>
          <a:p>
            <a:r>
              <a:rPr sz="1400">
                <a:latin typeface="Aptos"/>
              </a:rPr>
              <a:t>Current methods encode the same spectrum in three different ways.</a:t>
            </a:r>
          </a:p>
          <a:p>
            <a:endParaRPr sz="1400">
              <a:latin typeface="Aptos"/>
            </a:endParaRPr>
          </a:p>
          <a:p>
            <a:r>
              <a:rPr sz="1400">
                <a:latin typeface="Aptos"/>
              </a:rPr>
              <a:t>Left — JESTR. Exact masses are collapsed into a 1-dalton histogram, then a thousand-dimensional vector goes through an MLP. Formula-free. Isomer resolution is what you lose.</a:t>
            </a:r>
          </a:p>
          <a:p>
            <a:endParaRPr sz="1400">
              <a:latin typeface="Aptos"/>
            </a:endParaRPr>
          </a:p>
          <a:p>
            <a:r>
              <a:rPr sz="1400">
                <a:latin typeface="Aptos"/>
              </a:rPr>
              <a:t>Centre — MIST, MVP and FLARE. Each peak is labelled with a subformula of the precursor. Chemically rich. If formula inference is wrong, every token is wrong.</a:t>
            </a:r>
          </a:p>
          <a:p>
            <a:endParaRPr sz="1400">
              <a:latin typeface="Aptos"/>
            </a:endParaRPr>
          </a:p>
          <a:p>
            <a:r>
              <a:rPr sz="1400">
                <a:latin typeface="Aptos"/>
              </a:rPr>
              <a:t>Right — MSAlign. Frozen DreaMS on the spectrum, frozen ChemBERTa on the structure, then MLPs. Formula-free, but no peak-level chemistry.</a:t>
            </a:r>
          </a:p>
          <a:p>
            <a:endParaRPr sz="1400">
              <a:latin typeface="Aptos"/>
            </a:endParaRPr>
          </a:p>
          <a:p>
            <a:r>
              <a:rPr sz="1400">
                <a:latin typeface="Aptos"/>
              </a:rPr>
              <a:t>[Pause 2 s]</a:t>
            </a:r>
          </a:p>
          <a:p>
            <a:r>
              <a:rPr sz="1400">
                <a:latin typeface="Aptos"/>
              </a:rPr>
              <a:t>The chemically richest tokens assume a formula you often do not have. The formula-free ones pay another price.</a:t>
            </a:r>
          </a:p>
          <a:p>
            <a:endParaRPr sz="1400">
              <a:latin typeface="Aptos"/>
            </a:endParaRPr>
          </a:p>
          <a:p>
            <a:r>
              <a:rPr sz="1400">
                <a:latin typeface="Aptos"/>
              </a:rPr>
              <a:t>Next: we tokenise m/z directly.</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03:55–04:40  ·  TOKENIZER</a:t>
            </a:r>
          </a:p>
          <a:p>
            <a:r>
              <a:rPr sz="1400">
                <a:latin typeface="Aptos"/>
              </a:rPr>
              <a:t>On-slide clock: 03:00–03:45. Take ~45 seconds.</a:t>
            </a:r>
          </a:p>
          <a:p>
            <a:endParaRPr sz="1400">
              <a:latin typeface="Aptos"/>
            </a:endParaRPr>
          </a:p>
          <a:p>
            <a:r>
              <a:rPr sz="1400">
                <a:latin typeface="Aptos"/>
              </a:rPr>
              <a:t>SAY</a:t>
            </a:r>
          </a:p>
          <a:p>
            <a:r>
              <a:rPr sz="1400">
                <a:latin typeface="Aptos"/>
              </a:rPr>
              <a:t>We treat each peak as a token, the way a language model treats a word.</a:t>
            </a:r>
          </a:p>
          <a:p>
            <a:endParaRPr sz="1400">
              <a:latin typeface="Aptos"/>
            </a:endParaRPr>
          </a:p>
          <a:p>
            <a:r>
              <a:rPr sz="1400">
                <a:latin typeface="Aptos"/>
              </a:rPr>
              <a:t>Walk left to right. Raw m/z peaks. Bin at 0.01 dalton. Count occupancy on the training corpus. Keep the recurrent bins above a threshold. Map them to token IDs. Filter the spectrum.</a:t>
            </a:r>
          </a:p>
          <a:p>
            <a:endParaRPr sz="1400">
              <a:latin typeface="Aptos"/>
            </a:endParaRPr>
          </a:p>
          <a:p>
            <a:r>
              <a:rPr sz="1400">
                <a:latin typeface="Aptos"/>
              </a:rPr>
              <a:t>Merged spectra: keep bins in at least 2.5% of the corpus. Single spectra: 1%.</a:t>
            </a:r>
          </a:p>
          <a:p>
            <a:endParaRPr sz="1400">
              <a:latin typeface="Aptos"/>
            </a:endParaRPr>
          </a:p>
          <a:p>
            <a:r>
              <a:rPr sz="1400">
                <a:latin typeface="Aptos"/>
              </a:rPr>
              <a:t>Frequency on the training corpus decides which peaks become tokens. No evaluation data. No precursor formula.</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04:40–05:00  ·  VOCABULARY SIZE</a:t>
            </a:r>
          </a:p>
          <a:p>
            <a:r>
              <a:rPr sz="1400">
                <a:latin typeface="Aptos"/>
              </a:rPr>
              <a:t>On-slide clock: 03:45–04:10.</a:t>
            </a:r>
          </a:p>
          <a:p>
            <a:endParaRPr sz="1400">
              <a:latin typeface="Aptos"/>
            </a:endParaRPr>
          </a:p>
          <a:p>
            <a:r>
              <a:rPr sz="1400">
                <a:latin typeface="Aptos"/>
              </a:rPr>
              <a:t>SAY</a:t>
            </a:r>
          </a:p>
          <a:p>
            <a:r>
              <a:rPr sz="1400">
                <a:latin typeface="Aptos"/>
              </a:rPr>
              <a:t>Those thresholds give 939 tokens for merged spectra, and 780 for single spectra.</a:t>
            </a:r>
          </a:p>
          <a:p>
            <a:endParaRPr sz="1400">
              <a:latin typeface="Aptos"/>
            </a:endParaRPr>
          </a:p>
          <a:p>
            <a:r>
              <a:rPr sz="1400">
                <a:latin typeface="Aptos"/>
              </a:rPr>
              <a:t>They cover about one third of all peak occurrences.</a:t>
            </a:r>
          </a:p>
          <a:p>
            <a:endParaRPr sz="1400">
              <a:latin typeface="Aptos"/>
            </a:endParaRPr>
          </a:p>
          <a:p>
            <a:r>
              <a:rPr sz="1400">
                <a:latin typeface="Aptos"/>
              </a:rPr>
              <a:t>The vocabulary concentrates on recurrent low-mass fragments, and throws away the long tail of rare peaks.</a:t>
            </a:r>
          </a:p>
          <a:p>
            <a:endParaRPr sz="1400">
              <a:latin typeface="Aptos"/>
            </a:endParaRPr>
          </a:p>
          <a:p>
            <a:r>
              <a:rPr sz="1400">
                <a:latin typeface="Aptos"/>
              </a:rPr>
              <a:t>No precursor-dependent subformulae.</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05:00–05:20  ·  ONE-MOLECULE EXAMPLE</a:t>
            </a:r>
          </a:p>
          <a:p>
            <a:r>
              <a:rPr sz="1400">
                <a:latin typeface="Aptos"/>
              </a:rPr>
              <a:t>On-slide clock: 04:10–04:25.</a:t>
            </a:r>
          </a:p>
          <a:p>
            <a:endParaRPr sz="1400">
              <a:latin typeface="Aptos"/>
            </a:endParaRPr>
          </a:p>
          <a:p>
            <a:r>
              <a:rPr sz="1400">
                <a:latin typeface="Aptos"/>
              </a:rPr>
              <a:t>SAY</a:t>
            </a:r>
          </a:p>
          <a:p>
            <a:r>
              <a:rPr sz="1400">
                <a:latin typeface="Aptos"/>
              </a:rPr>
              <a:t>Same molecule: C₁₉H₂₁N₅S.</a:t>
            </a:r>
          </a:p>
          <a:p>
            <a:endParaRPr sz="1400">
              <a:latin typeface="Aptos"/>
            </a:endParaRPr>
          </a:p>
          <a:p>
            <a:r>
              <a:rPr sz="1400">
                <a:latin typeface="Aptos"/>
              </a:rPr>
              <a:t>Orange peaks stay as tokens. Grey peaks are out of vocabulary and are thrown away.</a:t>
            </a:r>
          </a:p>
          <a:p>
            <a:endParaRPr sz="1400">
              <a:latin typeface="Aptos"/>
            </a:endParaRPr>
          </a:p>
          <a:p>
            <a:r>
              <a:rPr sz="1400">
                <a:latin typeface="Aptos"/>
              </a:rPr>
              <a:t>Merged consensus: 23 tokens. Single measurement: 17.</a:t>
            </a:r>
          </a:p>
          <a:p>
            <a:endParaRPr sz="1400">
              <a:latin typeface="Aptos"/>
            </a:endParaRPr>
          </a:p>
          <a:p>
            <a:r>
              <a:rPr sz="1400">
                <a:latin typeface="Aptos"/>
              </a:rPr>
              <a:t>The grey peak near m/z 352 is the precursor ion — discarded, because it is rare in the corpus. No formula was used to decide that.</a:t>
            </a:r>
          </a:p>
          <a:p>
            <a:endParaRPr sz="1400">
              <a:latin typeface="Aptos"/>
            </a:endParaRPr>
          </a:p>
          <a:p>
            <a:r>
              <a:rPr sz="1400">
                <a:latin typeface="Aptos"/>
              </a:rPr>
              <a:t>Next: align this input with the molecule.</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05:20–05:30  ·  ACT 2 BEGINS</a:t>
            </a:r>
          </a:p>
          <a:p>
            <a:r>
              <a:rPr sz="1400">
                <a:latin typeface="Aptos"/>
              </a:rPr>
              <a:t>On-slide clock: 04:25–04:40.</a:t>
            </a:r>
          </a:p>
          <a:p>
            <a:endParaRPr sz="1400">
              <a:latin typeface="Aptos"/>
            </a:endParaRPr>
          </a:p>
          <a:p>
            <a:r>
              <a:rPr sz="1400">
                <a:latin typeface="Aptos"/>
              </a:rPr>
              <a:t>SAY</a:t>
            </a:r>
          </a:p>
          <a:p>
            <a:r>
              <a:rPr sz="1400">
                <a:latin typeface="Aptos"/>
              </a:rPr>
              <a:t>Act 1 gave us an m/z vocabulary that does not need a formula.</a:t>
            </a:r>
          </a:p>
          <a:p>
            <a:endParaRPr sz="1400">
              <a:latin typeface="Aptos"/>
            </a:endParaRPr>
          </a:p>
          <a:p>
            <a:r>
              <a:rPr sz="1400">
                <a:latin typeface="Aptos"/>
              </a:rPr>
              <a:t>The next problem is architectural: two molecular views, two spectral views, one ranking.</a:t>
            </a:r>
          </a:p>
          <a:p>
            <a:endParaRPr sz="1400">
              <a:latin typeface="Aptos"/>
            </a:endParaRPr>
          </a:p>
          <a:p>
            <a:r>
              <a:rPr sz="1400">
                <a:latin typeface="Aptos"/>
              </a:rPr>
              <a:t>How do four views of a molecule get aligned?</a:t>
            </a:r>
          </a:p>
          <a:p>
            <a:endParaRPr sz="1400">
              <a:latin typeface="Aptos"/>
            </a:endParaRPr>
          </a:p>
          <a:p>
            <a:r>
              <a:rPr sz="1400">
                <a:latin typeface="Aptos"/>
              </a:rPr>
              <a:t>[Pause 2 s. Point at card 02.]</a:t>
            </a:r>
          </a:p>
          <a:p>
            <a:r>
              <a:rPr sz="1400">
                <a:latin typeface="Aptos"/>
              </a:rPr>
              <a:t>That is Act 2.</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05:30–06:10  ·  FOUR VIEWS</a:t>
            </a:r>
          </a:p>
          <a:p>
            <a:r>
              <a:rPr sz="1400">
                <a:latin typeface="Aptos"/>
              </a:rPr>
              <a:t>On-slide clock: 04:40–05:30. Take ~40 seconds.</a:t>
            </a:r>
          </a:p>
          <a:p>
            <a:endParaRPr sz="1400">
              <a:latin typeface="Aptos"/>
            </a:endParaRPr>
          </a:p>
          <a:p>
            <a:r>
              <a:rPr sz="1400">
                <a:latin typeface="Aptos"/>
              </a:rPr>
              <a:t>SAY</a:t>
            </a:r>
          </a:p>
          <a:p>
            <a:r>
              <a:rPr sz="1400">
                <a:latin typeface="Aptos"/>
              </a:rPr>
              <a:t>The molecule and the experiment each have two complementary views.</a:t>
            </a:r>
          </a:p>
          <a:p>
            <a:endParaRPr sz="1400">
              <a:latin typeface="Aptos"/>
            </a:endParaRPr>
          </a:p>
          <a:p>
            <a:r>
              <a:rPr sz="1400">
                <a:latin typeface="Aptos"/>
              </a:rPr>
              <a:t>On the molecular side: the 2D graph captures atom connectivity, through a GNN. The Morgan fingerprint captures substructure patterns, through an MLP.</a:t>
            </a:r>
          </a:p>
          <a:p>
            <a:endParaRPr sz="1400">
              <a:latin typeface="Aptos"/>
            </a:endParaRPr>
          </a:p>
          <a:p>
            <a:r>
              <a:rPr sz="1400">
                <a:latin typeface="Aptos"/>
              </a:rPr>
              <a:t>On the spectral side: the merged consensus is the stable signature. The single spectrum keeps intensity and neutral-loss detail. Both go through Transformers.</a:t>
            </a:r>
          </a:p>
          <a:p>
            <a:endParaRPr sz="1400">
              <a:latin typeface="Aptos"/>
            </a:endParaRPr>
          </a:p>
          <a:p>
            <a:r>
              <a:rPr sz="1400">
                <a:latin typeface="Aptos"/>
              </a:rPr>
              <a:t>All four land in a shared 512-dimensional space.</a:t>
            </a:r>
          </a:p>
          <a:p>
            <a:endParaRPr sz="1400">
              <a:latin typeface="Aptos"/>
            </a:endParaRPr>
          </a:p>
          <a:p>
            <a:r>
              <a:rPr sz="1400">
                <a:latin typeface="Aptos"/>
              </a:rPr>
              <a:t>Same compound: four compatible embeddings.</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06:10–06:35  ·  SIX-TERM OBJECTIVE</a:t>
            </a:r>
          </a:p>
          <a:p>
            <a:r>
              <a:rPr sz="1400">
                <a:latin typeface="Aptos"/>
              </a:rPr>
              <a:t>On-slide clock: 05:30–06:05.</a:t>
            </a:r>
          </a:p>
          <a:p>
            <a:endParaRPr sz="1400">
              <a:latin typeface="Aptos"/>
            </a:endParaRPr>
          </a:p>
          <a:p>
            <a:r>
              <a:rPr sz="1400">
                <a:latin typeface="Aptos"/>
              </a:rPr>
              <a:t>SAY</a:t>
            </a:r>
          </a:p>
          <a:p>
            <a:r>
              <a:rPr sz="1400">
                <a:latin typeface="Aptos"/>
              </a:rPr>
              <a:t>Four branches create six positive pairings per compound.</a:t>
            </a:r>
          </a:p>
          <a:p>
            <a:endParaRPr sz="1400">
              <a:latin typeface="Aptos"/>
            </a:endParaRPr>
          </a:p>
          <a:p>
            <a:r>
              <a:rPr sz="1400">
                <a:latin typeface="Aptos"/>
              </a:rPr>
              <a:t>We train symmetric InfoNCE on all six. Each pair pulls the same compound together, and pushes other compounds apart.</a:t>
            </a:r>
          </a:p>
          <a:p>
            <a:endParaRPr sz="1400">
              <a:latin typeface="Aptos"/>
            </a:endParaRPr>
          </a:p>
          <a:p>
            <a:r>
              <a:rPr sz="1400">
                <a:latin typeface="Aptos"/>
              </a:rPr>
              <a:t>[Pause 2 s]</a:t>
            </a:r>
          </a:p>
          <a:p>
            <a:endParaRPr sz="1400">
              <a:latin typeface="Aptos"/>
            </a:endParaRPr>
          </a:p>
          <a:p>
            <a:r>
              <a:rPr sz="1400">
                <a:latin typeface="Aptos"/>
              </a:rPr>
              <a:t>Why this matters: no branch can specialise in evidence invisible to the other three.</a:t>
            </a:r>
          </a:p>
          <a:p>
            <a:endParaRPr sz="1400">
              <a:latin typeface="Aptos"/>
            </a:endParaRPr>
          </a:p>
          <a:p>
            <a:r>
              <a:rPr sz="1400">
                <a:latin typeface="Aptos"/>
              </a:rPr>
              <a:t>Because every view is aligned with every other view, the embeddings are compatible at inference. They can be fused.</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06:35–06:50  ·  ALIGNMENT, DRAWN</a:t>
            </a:r>
          </a:p>
          <a:p>
            <a:r>
              <a:rPr sz="1400">
                <a:latin typeface="Aptos"/>
              </a:rPr>
              <a:t>On-slide clock: 06:05–06:25.</a:t>
            </a:r>
          </a:p>
          <a:p>
            <a:endParaRPr sz="1400">
              <a:latin typeface="Aptos"/>
            </a:endParaRPr>
          </a:p>
          <a:p>
            <a:r>
              <a:rPr sz="1400">
                <a:latin typeface="Aptos"/>
              </a:rPr>
              <a:t>SAY</a:t>
            </a:r>
          </a:p>
          <a:p>
            <a:r>
              <a:rPr sz="1400">
                <a:latin typeface="Aptos"/>
              </a:rPr>
              <a:t>This is where the four views come together.</a:t>
            </a:r>
          </a:p>
          <a:p>
            <a:endParaRPr sz="1400">
              <a:latin typeface="Aptos"/>
            </a:endParaRPr>
          </a:p>
          <a:p>
            <a:r>
              <a:rPr sz="1400">
                <a:latin typeface="Aptos"/>
              </a:rPr>
              <a:t>Left and right are two different molecules. Each sends graph, fingerprint, merged spectrum and single spectrum into the shared space.</a:t>
            </a:r>
          </a:p>
          <a:p>
            <a:endParaRPr sz="1400">
              <a:latin typeface="Aptos"/>
            </a:endParaRPr>
          </a:p>
          <a:p>
            <a:r>
              <a:rPr sz="1400">
                <a:latin typeface="Aptos"/>
              </a:rPr>
              <a:t>Views of the same compound form a tight cluster. The red arrow pushes the two compounds apart.</a:t>
            </a:r>
          </a:p>
          <a:p>
            <a:endParaRPr sz="1400">
              <a:latin typeface="Aptos"/>
            </a:endParaRPr>
          </a:p>
          <a:p>
            <a:r>
              <a:rPr sz="1400">
                <a:latin typeface="Aptos"/>
              </a:rPr>
              <a:t>That is the six-term objective, drawn.</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024EC-C278-1205-386D-CF368BFC1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D7DAD-F0BA-1E57-3682-DA48AA15A77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497F757-D8B0-8DA3-1C34-976C004D1413}"/>
              </a:ext>
            </a:extLst>
          </p:cNvPr>
          <p:cNvSpPr>
            <a:spLocks noGrp="1"/>
          </p:cNvSpPr>
          <p:nvPr>
            <p:ph type="body" sz="quarter" idx="3"/>
          </p:nvPr>
        </p:nvSpPr>
        <p:spPr/>
        <p:txBody>
          <a:bodyPr/>
          <a:lstStyle/>
          <a:p>
            <a:r>
              <a:rPr sz="1400">
                <a:latin typeface="Aptos"/>
              </a:rPr>
              <a:t>06:50–07:05  ·  CALLBACK TO THE GRID</a:t>
            </a:r>
          </a:p>
          <a:p>
            <a:endParaRPr sz="1400">
              <a:latin typeface="Aptos"/>
            </a:endParaRPr>
          </a:p>
          <a:p>
            <a:r>
              <a:rPr sz="1400">
                <a:latin typeface="Aptos"/>
              </a:rPr>
              <a:t>SAY</a:t>
            </a:r>
          </a:p>
          <a:p>
            <a:r>
              <a:rPr sz="1400">
                <a:latin typeface="Aptos"/>
              </a:rPr>
              <a:t>Coming back to the problem we opened with.</a:t>
            </a:r>
          </a:p>
          <a:p>
            <a:endParaRPr sz="1400">
              <a:latin typeface="Aptos"/>
            </a:endParaRPr>
          </a:p>
          <a:p>
            <a:r>
              <a:rPr sz="1400">
                <a:latin typeface="Aptos"/>
              </a:rPr>
              <a:t>This spectrum was produced by one of these molecules. Same mass. Same formula.</a:t>
            </a:r>
          </a:p>
          <a:p>
            <a:endParaRPr sz="1400">
              <a:latin typeface="Aptos"/>
            </a:endParaRPr>
          </a:p>
          <a:p>
            <a:r>
              <a:rPr sz="1400">
                <a:latin typeface="Aptos"/>
              </a:rPr>
              <a:t>We now have four aligned views. Next: how we use them to rank.</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0AFD4532-51E9-127A-0559-4BF392437350}"/>
              </a:ext>
            </a:extLst>
          </p:cNvPr>
          <p:cNvSpPr>
            <a:spLocks noGrp="1"/>
          </p:cNvSpPr>
          <p:nvPr>
            <p:ph type="sldNum" sz="quarter" idx="5"/>
          </p:nvPr>
        </p:nvSpPr>
        <p:spPr/>
      </p:sp>
    </p:spTree>
    <p:extLst>
      <p:ext uri="{BB962C8B-B14F-4D97-AF65-F5344CB8AC3E}">
        <p14:creationId xmlns:p14="http://schemas.microsoft.com/office/powerpoint/2010/main" val="514290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07:05–07:50  ·  RETRIEVAL</a:t>
            </a:r>
          </a:p>
          <a:p>
            <a:r>
              <a:rPr sz="1400">
                <a:latin typeface="Aptos"/>
              </a:rPr>
              <a:t>On-slide clock: 06:25–07:20. Slides 21–22 are hidden, so go from here to the leaderboard.</a:t>
            </a:r>
          </a:p>
          <a:p>
            <a:endParaRPr sz="1400">
              <a:latin typeface="Aptos"/>
            </a:endParaRPr>
          </a:p>
          <a:p>
            <a:r>
              <a:rPr sz="1400">
                <a:latin typeface="Aptos"/>
              </a:rPr>
              <a:t>SAY</a:t>
            </a:r>
          </a:p>
          <a:p>
            <a:r>
              <a:rPr sz="1400">
                <a:latin typeface="Aptos"/>
              </a:rPr>
              <a:t>At inference we fuse the four views, then rank.</a:t>
            </a:r>
          </a:p>
          <a:p>
            <a:endParaRPr sz="1400">
              <a:latin typeface="Aptos"/>
            </a:endParaRPr>
          </a:p>
          <a:p>
            <a:r>
              <a:rPr sz="1400">
                <a:latin typeface="Aptos"/>
              </a:rPr>
              <a:t>The query is a blend of the merged consensus and pooled single spectra.</a:t>
            </a:r>
          </a:p>
          <a:p>
            <a:endParaRPr sz="1400">
              <a:latin typeface="Aptos"/>
            </a:endParaRPr>
          </a:p>
          <a:p>
            <a:r>
              <a:rPr sz="1400">
                <a:latin typeface="Aptos"/>
              </a:rPr>
              <a:t>Each candidate is a blend of the graph and the fingerprint.</a:t>
            </a:r>
          </a:p>
          <a:p>
            <a:endParaRPr sz="1400">
              <a:latin typeface="Aptos"/>
            </a:endParaRPr>
          </a:p>
          <a:p>
            <a:r>
              <a:rPr sz="1400">
                <a:latin typeface="Aptos"/>
              </a:rPr>
              <a:t>Cosine similarity in 512-D picks the closest structure.</a:t>
            </a:r>
          </a:p>
          <a:p>
            <a:endParaRPr sz="1400">
              <a:latin typeface="Aptos"/>
            </a:endParaRPr>
          </a:p>
          <a:p>
            <a:r>
              <a:rPr sz="1400">
                <a:latin typeface="Aptos"/>
              </a:rPr>
              <a:t>[If 21 and 22 stay hidden — they are hidden in this deck — add this, then go to the leaderboard:]</a:t>
            </a:r>
          </a:p>
          <a:p>
            <a:r>
              <a:rPr sz="1400">
                <a:latin typeface="Aptos"/>
              </a:rPr>
              <a:t>The fusion is asymmetric: more weight on the graph for candidates, more weight on pooled singles for the query. Operating points chosen on validation, not on test. One view is not enough. Combining them is what beats the published methods. The numbers are next.</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84BAE-A11F-D94A-95C7-373631F84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DE40C-1021-36C7-CFB7-78A4662A53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BFB739-8985-7998-B16D-D4D193A361BC}"/>
              </a:ext>
            </a:extLst>
          </p:cNvPr>
          <p:cNvSpPr>
            <a:spLocks noGrp="1"/>
          </p:cNvSpPr>
          <p:nvPr>
            <p:ph type="body" sz="quarter" idx="3"/>
          </p:nvPr>
        </p:nvSpPr>
        <p:spPr/>
        <p:txBody>
          <a:bodyPr/>
          <a:lstStyle/>
          <a:p>
            <a:r>
              <a:rPr sz="1400">
                <a:latin typeface="Aptos"/>
              </a:rPr>
              <a:t>07:05–07:50  ·  RETRIEVAL</a:t>
            </a:r>
          </a:p>
          <a:p>
            <a:r>
              <a:rPr sz="1400">
                <a:latin typeface="Aptos"/>
              </a:rPr>
              <a:t>On-slide clock: 06:25–07:20. Slides 21–22 are hidden, so go from here to the leaderboard.</a:t>
            </a:r>
          </a:p>
          <a:p>
            <a:endParaRPr sz="1400">
              <a:latin typeface="Aptos"/>
            </a:endParaRPr>
          </a:p>
          <a:p>
            <a:r>
              <a:rPr sz="1400">
                <a:latin typeface="Aptos"/>
              </a:rPr>
              <a:t>SAY</a:t>
            </a:r>
          </a:p>
          <a:p>
            <a:r>
              <a:rPr sz="1400">
                <a:latin typeface="Aptos"/>
              </a:rPr>
              <a:t>At inference we fuse the four views, then rank.</a:t>
            </a:r>
          </a:p>
          <a:p>
            <a:endParaRPr sz="1400">
              <a:latin typeface="Aptos"/>
            </a:endParaRPr>
          </a:p>
          <a:p>
            <a:r>
              <a:rPr sz="1400">
                <a:latin typeface="Aptos"/>
              </a:rPr>
              <a:t>The query is a blend of the merged consensus and pooled single spectra.</a:t>
            </a:r>
          </a:p>
          <a:p>
            <a:endParaRPr sz="1400">
              <a:latin typeface="Aptos"/>
            </a:endParaRPr>
          </a:p>
          <a:p>
            <a:r>
              <a:rPr sz="1400">
                <a:latin typeface="Aptos"/>
              </a:rPr>
              <a:t>Each candidate is a blend of the graph and the fingerprint.</a:t>
            </a:r>
          </a:p>
          <a:p>
            <a:endParaRPr sz="1400">
              <a:latin typeface="Aptos"/>
            </a:endParaRPr>
          </a:p>
          <a:p>
            <a:r>
              <a:rPr sz="1400">
                <a:latin typeface="Aptos"/>
              </a:rPr>
              <a:t>Cosine similarity in 512-D picks the closest structure.</a:t>
            </a:r>
          </a:p>
          <a:p>
            <a:endParaRPr sz="1400">
              <a:latin typeface="Aptos"/>
            </a:endParaRPr>
          </a:p>
          <a:p>
            <a:r>
              <a:rPr sz="1400">
                <a:latin typeface="Aptos"/>
              </a:rPr>
              <a:t>[If 21 and 22 stay hidden — they are hidden in this deck — add this, then go to the leaderboard:]</a:t>
            </a:r>
          </a:p>
          <a:p>
            <a:r>
              <a:rPr sz="1400">
                <a:latin typeface="Aptos"/>
              </a:rPr>
              <a:t>The fusion is asymmetric: more weight on the graph for candidates, more weight on pooled singles for the query. Operating points chosen on validation, not on test. One view is not enough. Combining them is what beats the published methods. The numbers are next.</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848E8EC3-B90B-77FB-CE37-1D2F412FA717}"/>
              </a:ext>
            </a:extLst>
          </p:cNvPr>
          <p:cNvSpPr>
            <a:spLocks noGrp="1"/>
          </p:cNvSpPr>
          <p:nvPr>
            <p:ph type="sldNum" sz="quarter" idx="5"/>
          </p:nvPr>
        </p:nvSpPr>
        <p:spPr/>
      </p:sp>
    </p:spTree>
    <p:extLst>
      <p:ext uri="{BB962C8B-B14F-4D97-AF65-F5344CB8AC3E}">
        <p14:creationId xmlns:p14="http://schemas.microsoft.com/office/powerpoint/2010/main" val="4270273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F8D2-0E23-7C38-6BEF-AB040FCDB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69807C-551A-AC57-A645-E56514194B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3C68248-85DE-2799-8819-55F5BED4F799}"/>
              </a:ext>
            </a:extLst>
          </p:cNvPr>
          <p:cNvSpPr>
            <a:spLocks noGrp="1"/>
          </p:cNvSpPr>
          <p:nvPr>
            <p:ph type="body" sz="quarter" idx="3"/>
          </p:nvPr>
        </p:nvSpPr>
        <p:spPr/>
        <p:txBody>
          <a:bodyPr/>
          <a:lstStyle/>
          <a:p>
            <a:r>
              <a:rPr sz="1400">
                <a:latin typeface="Aptos"/>
              </a:rPr>
              <a:t>07:05–07:50  ·  RETRIEVAL</a:t>
            </a:r>
          </a:p>
          <a:p>
            <a:r>
              <a:rPr sz="1400">
                <a:latin typeface="Aptos"/>
              </a:rPr>
              <a:t>On-slide clock: 06:25–07:20. Slides 21–22 are hidden, so go from here to the leaderboard.</a:t>
            </a:r>
          </a:p>
          <a:p>
            <a:endParaRPr sz="1400">
              <a:latin typeface="Aptos"/>
            </a:endParaRPr>
          </a:p>
          <a:p>
            <a:r>
              <a:rPr sz="1400">
                <a:latin typeface="Aptos"/>
              </a:rPr>
              <a:t>SAY</a:t>
            </a:r>
          </a:p>
          <a:p>
            <a:r>
              <a:rPr sz="1400">
                <a:latin typeface="Aptos"/>
              </a:rPr>
              <a:t>At inference we fuse the four views, then rank.</a:t>
            </a:r>
          </a:p>
          <a:p>
            <a:endParaRPr sz="1400">
              <a:latin typeface="Aptos"/>
            </a:endParaRPr>
          </a:p>
          <a:p>
            <a:r>
              <a:rPr sz="1400">
                <a:latin typeface="Aptos"/>
              </a:rPr>
              <a:t>The query is a blend of the merged consensus and pooled single spectra.</a:t>
            </a:r>
          </a:p>
          <a:p>
            <a:endParaRPr sz="1400">
              <a:latin typeface="Aptos"/>
            </a:endParaRPr>
          </a:p>
          <a:p>
            <a:r>
              <a:rPr sz="1400">
                <a:latin typeface="Aptos"/>
              </a:rPr>
              <a:t>Each candidate is a blend of the graph and the fingerprint.</a:t>
            </a:r>
          </a:p>
          <a:p>
            <a:endParaRPr sz="1400">
              <a:latin typeface="Aptos"/>
            </a:endParaRPr>
          </a:p>
          <a:p>
            <a:r>
              <a:rPr sz="1400">
                <a:latin typeface="Aptos"/>
              </a:rPr>
              <a:t>Cosine similarity in 512-D picks the closest structure.</a:t>
            </a:r>
          </a:p>
          <a:p>
            <a:endParaRPr sz="1400">
              <a:latin typeface="Aptos"/>
            </a:endParaRPr>
          </a:p>
          <a:p>
            <a:r>
              <a:rPr sz="1400">
                <a:latin typeface="Aptos"/>
              </a:rPr>
              <a:t>[If 21 and 22 stay hidden — they are hidden in this deck — add this, then go to the leaderboard:]</a:t>
            </a:r>
          </a:p>
          <a:p>
            <a:r>
              <a:rPr sz="1400">
                <a:latin typeface="Aptos"/>
              </a:rPr>
              <a:t>The fusion is asymmetric: more weight on the graph for candidates, more weight on pooled singles for the query. Operating points chosen on validation, not on test. One view is not enough. Combining them is what beats the published methods. The numbers are next.</a:t>
            </a:r>
          </a:p>
          <a:p>
            <a:endParaRPr sz="1400">
              <a:latin typeface="Aptos"/>
            </a:endParaRPr>
          </a:p>
          <a:p>
            <a:r>
              <a:rPr sz="1400">
                <a:latin typeface="Aptos"/>
              </a:rPr>
              <a:t>[Click]</a:t>
            </a:r>
          </a:p>
        </p:txBody>
      </p:sp>
      <p:sp>
        <p:nvSpPr>
          <p:cNvPr id="4" name="Slide Number Placeholder 3">
            <a:extLst>
              <a:ext uri="{FF2B5EF4-FFF2-40B4-BE49-F238E27FC236}">
                <a16:creationId xmlns:a16="http://schemas.microsoft.com/office/drawing/2014/main" id="{FA72D85C-6F7C-5326-5DE2-3A75A656837F}"/>
              </a:ext>
            </a:extLst>
          </p:cNvPr>
          <p:cNvSpPr>
            <a:spLocks noGrp="1"/>
          </p:cNvSpPr>
          <p:nvPr>
            <p:ph type="sldNum" sz="quarter" idx="5"/>
          </p:nvPr>
        </p:nvSpPr>
        <p:spPr/>
      </p:sp>
    </p:spTree>
    <p:extLst>
      <p:ext uri="{BB962C8B-B14F-4D97-AF65-F5344CB8AC3E}">
        <p14:creationId xmlns:p14="http://schemas.microsoft.com/office/powerpoint/2010/main" val="445889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11:50–12:15  ·  THE PROBLEM, SOLVED</a:t>
            </a:r>
          </a:p>
          <a:p>
            <a:r>
              <a:rPr sz="1400">
                <a:latin typeface="Aptos"/>
              </a:rPr>
              <a:t>On-slide clock: 12:55–13:20.</a:t>
            </a:r>
          </a:p>
          <a:p>
            <a:endParaRPr sz="1400">
              <a:latin typeface="Aptos"/>
            </a:endParaRPr>
          </a:p>
          <a:p>
            <a:r>
              <a:rPr sz="1400">
                <a:latin typeface="Aptos"/>
              </a:rPr>
              <a:t>SAY</a:t>
            </a:r>
          </a:p>
          <a:p>
            <a:r>
              <a:rPr sz="1400">
                <a:latin typeface="Aptos"/>
              </a:rPr>
              <a:t>We opened with this query and this candidate list.</a:t>
            </a:r>
          </a:p>
          <a:p>
            <a:endParaRPr sz="1400">
              <a:latin typeface="Aptos"/>
            </a:endParaRPr>
          </a:p>
          <a:p>
            <a:r>
              <a:rPr sz="1400">
                <a:latin typeface="Aptos"/>
              </a:rPr>
              <a:t>After four-view training, the spectrum and the molecules sit in the same 512-D space.</a:t>
            </a:r>
          </a:p>
          <a:p>
            <a:endParaRPr sz="1400">
              <a:latin typeface="Aptos"/>
            </a:endParaRPr>
          </a:p>
          <a:p>
            <a:r>
              <a:rPr sz="1400">
                <a:latin typeface="Aptos"/>
              </a:rPr>
              <a:t>Cosine ranking puts candidate 4 first — the true isomer.</a:t>
            </a:r>
          </a:p>
          <a:p>
            <a:endParaRPr sz="1400">
              <a:latin typeface="Aptos"/>
            </a:endParaRPr>
          </a:p>
          <a:p>
            <a:r>
              <a:rPr sz="1400">
                <a:latin typeface="Aptos"/>
              </a:rPr>
              <a:t>[Pause 2 s]</a:t>
            </a:r>
          </a:p>
          <a:p>
            <a:r>
              <a:rPr sz="1400">
                <a:latin typeface="Aptos"/>
              </a:rPr>
              <a:t>That is the identification.</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HIDDEN SLIDE — skip unless you unhide it.</a:t>
            </a:r>
          </a:p>
          <a:p>
            <a:r>
              <a:rPr sz="1400">
                <a:latin typeface="Aptos"/>
              </a:rPr>
              <a:t>Clock on slide: 07:10–08:05  ·  FUSION WEIGHTS</a:t>
            </a:r>
          </a:p>
          <a:p>
            <a:endParaRPr sz="1400">
              <a:latin typeface="Aptos"/>
            </a:endParaRPr>
          </a:p>
          <a:p>
            <a:r>
              <a:rPr sz="1400">
                <a:latin typeface="Aptos"/>
              </a:rPr>
              <a:t>SAY</a:t>
            </a:r>
          </a:p>
          <a:p>
            <a:r>
              <a:rPr sz="1400">
                <a:latin typeface="Aptos"/>
              </a:rPr>
              <a:t>Training aligns the views. Inference combines them.</a:t>
            </a:r>
          </a:p>
          <a:p>
            <a:endParaRPr sz="1400">
              <a:latin typeface="Aptos"/>
            </a:endParaRPr>
          </a:p>
          <a:p>
            <a:r>
              <a:rPr sz="1400">
                <a:latin typeface="Aptos"/>
              </a:rPr>
              <a:t>Candidate side: 60% graph, 40% fingerprint. One candidate embedding.</a:t>
            </a:r>
          </a:p>
          <a:p>
            <a:endParaRPr sz="1400">
              <a:latin typeface="Aptos"/>
            </a:endParaRPr>
          </a:p>
          <a:p>
            <a:r>
              <a:rPr sz="1400">
                <a:latin typeface="Aptos"/>
              </a:rPr>
              <a:t>Query side: 20% merged, 80% mean of sixteen single spectra. One query embedding.</a:t>
            </a:r>
          </a:p>
          <a:p>
            <a:endParaRPr sz="1400">
              <a:latin typeface="Aptos"/>
            </a:endParaRPr>
          </a:p>
          <a:p>
            <a:r>
              <a:rPr sz="1400">
                <a:latin typeface="Aptos"/>
              </a:rPr>
              <a:t>Asymmetric because they solve different problems: connectivity plus substructure on the candidate; a stable signature plus replicate variability on the query.</a:t>
            </a:r>
          </a:p>
          <a:p>
            <a:endParaRPr sz="1400">
              <a:latin typeface="Aptos"/>
            </a:endParaRPr>
          </a:p>
          <a:p>
            <a:r>
              <a:rPr sz="1400">
                <a:latin typeface="Aptos"/>
              </a:rPr>
              <a:t>Cosine similarity then ranks each formula-matched candidate against the fused query.</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HIDDEN SLIDE — skip unless you unhide it.</a:t>
            </a:r>
          </a:p>
          <a:p>
            <a:r>
              <a:rPr sz="1400">
                <a:latin typeface="Aptos"/>
              </a:rPr>
              <a:t>Clock on slide: 07:20–09:15  ·  INCREMENTAL EVIDENCE</a:t>
            </a:r>
          </a:p>
          <a:p>
            <a:endParaRPr sz="1400">
              <a:latin typeface="Aptos"/>
            </a:endParaRPr>
          </a:p>
          <a:p>
            <a:r>
              <a:rPr sz="1400">
                <a:latin typeface="Aptos"/>
              </a:rPr>
              <a:t>SAY</a:t>
            </a:r>
          </a:p>
          <a:p>
            <a:r>
              <a:rPr sz="1400">
                <a:latin typeface="Aptos"/>
              </a:rPr>
              <a:t>Here is the evidence, on held-out test. Alpha, beta and K were chosen on validation.</a:t>
            </a:r>
          </a:p>
          <a:p>
            <a:endParaRPr sz="1400">
              <a:latin typeface="Aptos"/>
            </a:endParaRPr>
          </a:p>
          <a:p>
            <a:r>
              <a:rPr sz="1400">
                <a:latin typeface="Aptos"/>
              </a:rPr>
              <a:t>Merged-only: 17.8% Recall@1. Single-only: 16.6%. Both sit below FLARE at 22.66%.</a:t>
            </a:r>
          </a:p>
          <a:p>
            <a:endParaRPr sz="1400">
              <a:latin typeface="Aptos"/>
            </a:endParaRPr>
          </a:p>
          <a:p>
            <a:r>
              <a:rPr sz="1400">
                <a:latin typeface="Aptos"/>
              </a:rPr>
              <a:t>DualSpec — combining the molecular views with the spectral views — 23.6%. Already above FLARE.</a:t>
            </a:r>
          </a:p>
          <a:p>
            <a:endParaRPr sz="1400">
              <a:latin typeface="Aptos"/>
            </a:endParaRPr>
          </a:p>
          <a:p>
            <a:r>
              <a:rPr sz="1400">
                <a:latin typeface="Aptos"/>
              </a:rPr>
              <a:t>Pooling sixteen replicates alone: 21.5%. Fusing everything: 25.9%.</a:t>
            </a:r>
          </a:p>
          <a:p>
            <a:endParaRPr sz="1400">
              <a:latin typeface="Aptos"/>
            </a:endParaRPr>
          </a:p>
          <a:p>
            <a:r>
              <a:rPr sz="1400">
                <a:latin typeface="Aptos"/>
              </a:rPr>
              <a:t>[Pause 3 s]</a:t>
            </a:r>
          </a:p>
          <a:p>
            <a:r>
              <a:rPr sz="1400">
                <a:latin typeface="Aptos"/>
              </a:rPr>
              <a:t>One view loses. Combining views wins.</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07:50–09:00  ·  LEADERBOARD</a:t>
            </a:r>
          </a:p>
          <a:p>
            <a:r>
              <a:rPr sz="1400">
                <a:latin typeface="Aptos"/>
              </a:rPr>
              <a:t>On-slide clock: 09:15–10:15. You arrive early because 21–22 are hidden. Use the extra minute. Do not rush this slide.</a:t>
            </a:r>
          </a:p>
          <a:p>
            <a:endParaRPr sz="1400">
              <a:latin typeface="Aptos"/>
            </a:endParaRPr>
          </a:p>
          <a:p>
            <a:r>
              <a:rPr sz="1400">
                <a:latin typeface="Aptos"/>
              </a:rPr>
              <a:t>SAY</a:t>
            </a:r>
          </a:p>
          <a:p>
            <a:r>
              <a:rPr sz="1400">
                <a:latin typeface="Aptos"/>
              </a:rPr>
              <a:t>MassSpecGym, formula-known track, up to 256 isomers per query.</a:t>
            </a:r>
          </a:p>
          <a:p>
            <a:endParaRPr sz="1400">
              <a:latin typeface="Aptos"/>
            </a:endParaRPr>
          </a:p>
          <a:p>
            <a:r>
              <a:rPr sz="1400">
                <a:latin typeface="Aptos"/>
              </a:rPr>
              <a:t>MultiCLIP–Fused: 25.9% Recall@1. 53.8% at 5. 78.4% at 20 — about eight in ten metabolites land in a list a chemist can review.</a:t>
            </a:r>
          </a:p>
          <a:p>
            <a:endParaRPr sz="1400">
              <a:latin typeface="Aptos"/>
            </a:endParaRPr>
          </a:p>
          <a:p>
            <a:r>
              <a:rPr sz="1400">
                <a:latin typeface="Aptos"/>
              </a:rPr>
              <a:t>That is the best published Recall@1, with a formula-free spectrum encoder.</a:t>
            </a:r>
          </a:p>
          <a:p>
            <a:endParaRPr sz="1400">
              <a:latin typeface="Aptos"/>
            </a:endParaRPr>
          </a:p>
          <a:p>
            <a:r>
              <a:rPr sz="1400">
                <a:latin typeface="Aptos"/>
              </a:rPr>
              <a:t>FLARE is the strongest prior method, but it needs precursor-dependent subformula tokens. We do not.</a:t>
            </a:r>
          </a:p>
          <a:p>
            <a:endParaRPr sz="1400">
              <a:latin typeface="Aptos"/>
            </a:endParaRPr>
          </a:p>
          <a:p>
            <a:r>
              <a:rPr sz="1400">
                <a:latin typeface="Aptos"/>
              </a:rPr>
              <a:t>[Pause 2 s]</a:t>
            </a:r>
          </a:p>
          <a:p>
            <a:r>
              <a:rPr sz="1400">
                <a:latin typeface="Aptos"/>
              </a:rPr>
              <a:t>One distinction, because it is easy to mix: the benchmark formula defines the candidate list. It is not an input to our spectrum encoder.</a:t>
            </a:r>
          </a:p>
          <a:p>
            <a:endParaRPr sz="1400">
              <a:latin typeface="Aptos"/>
            </a:endParaRPr>
          </a:p>
          <a:p>
            <a:r>
              <a:rPr sz="1400">
                <a:latin typeface="Aptos"/>
              </a:rPr>
              <a:t>[Pause 3 s. Look at the centre of the room.]</a:t>
            </a:r>
          </a:p>
          <a:p>
            <a:r>
              <a:rPr sz="1400">
                <a:latin typeface="Aptos"/>
              </a:rPr>
              <a:t>Aligning four views of a metabolite helps to identify the isomer from several candidates.</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09:00–09:15  ·  ACT 3 BEGINS</a:t>
            </a:r>
          </a:p>
          <a:p>
            <a:r>
              <a:rPr sz="1400">
                <a:latin typeface="Aptos"/>
              </a:rPr>
              <a:t>On-slide clock: 10:15–10:30.</a:t>
            </a:r>
          </a:p>
          <a:p>
            <a:endParaRPr sz="1400">
              <a:latin typeface="Aptos"/>
            </a:endParaRPr>
          </a:p>
          <a:p>
            <a:r>
              <a:rPr sz="1400">
                <a:latin typeface="Aptos"/>
              </a:rPr>
              <a:t>SAY</a:t>
            </a:r>
          </a:p>
          <a:p>
            <a:r>
              <a:rPr sz="1400">
                <a:latin typeface="Aptos"/>
              </a:rPr>
              <a:t>The retrieval number is the result.</a:t>
            </a:r>
          </a:p>
          <a:p>
            <a:endParaRPr sz="1400">
              <a:latin typeface="Aptos"/>
            </a:endParaRPr>
          </a:p>
          <a:p>
            <a:r>
              <a:rPr sz="1400">
                <a:latin typeface="Aptos"/>
              </a:rPr>
              <a:t>The remaining question is geometric: what does the embedding space actually look like?</a:t>
            </a:r>
          </a:p>
          <a:p>
            <a:endParaRPr sz="1400">
              <a:latin typeface="Aptos"/>
            </a:endParaRPr>
          </a:p>
          <a:p>
            <a:r>
              <a:rPr sz="1400">
                <a:latin typeface="Aptos"/>
              </a:rPr>
              <a:t>[Pause 2 s. Point at card 03.]</a:t>
            </a:r>
          </a:p>
          <a:p>
            <a:r>
              <a:rPr sz="1400">
                <a:latin typeface="Aptos"/>
              </a:rPr>
              <a:t>That is Act 3.</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09:15–09:45  ·  WHY THE GEOMETRY</a:t>
            </a:r>
          </a:p>
          <a:p>
            <a:r>
              <a:rPr sz="1400">
                <a:latin typeface="Aptos"/>
              </a:rPr>
              <a:t>On-slide clock: 11:05–11:25. Say this before the UMAPs.</a:t>
            </a:r>
          </a:p>
          <a:p>
            <a:endParaRPr sz="1400">
              <a:latin typeface="Aptos"/>
            </a:endParaRPr>
          </a:p>
          <a:p>
            <a:r>
              <a:rPr sz="1400">
                <a:latin typeface="Aptos"/>
              </a:rPr>
              <a:t>SAY</a:t>
            </a:r>
          </a:p>
          <a:p>
            <a:r>
              <a:rPr sz="1400">
                <a:latin typeface="Aptos"/>
              </a:rPr>
              <a:t>Why does this geometry matter?</a:t>
            </a:r>
          </a:p>
          <a:p>
            <a:endParaRPr sz="1400">
              <a:latin typeface="Aptos"/>
            </a:endParaRPr>
          </a:p>
          <a:p>
            <a:r>
              <a:rPr sz="1400">
                <a:latin typeface="Aptos"/>
              </a:rPr>
              <a:t>One. Retrieval has a hard wall. A novel metabolite is not in the list. Ranking cannot invent it.</a:t>
            </a:r>
          </a:p>
          <a:p>
            <a:endParaRPr sz="1400">
              <a:latin typeface="Aptos"/>
            </a:endParaRPr>
          </a:p>
          <a:p>
            <a:r>
              <a:rPr sz="1400">
                <a:latin typeface="Aptos"/>
              </a:rPr>
              <a:t>Two. Vision–language CLIP already generates from contrastive latents. unCLIP and DALL·E 2 already decode from that space.</a:t>
            </a:r>
          </a:p>
          <a:p>
            <a:endParaRPr sz="1400">
              <a:latin typeface="Aptos"/>
            </a:endParaRPr>
          </a:p>
          <a:p>
            <a:r>
              <a:rPr sz="1400">
                <a:latin typeface="Aptos"/>
              </a:rPr>
              <a:t>Three. A graph decoder fed a spectral vector would be out of distribution. That is the modality gap.</a:t>
            </a:r>
          </a:p>
          <a:p>
            <a:endParaRPr sz="1400">
              <a:latin typeface="Aptos"/>
            </a:endParaRPr>
          </a:p>
          <a:p>
            <a:r>
              <a:rPr sz="1400">
                <a:latin typeface="Aptos"/>
              </a:rPr>
              <a:t>[Pause 2 s]</a:t>
            </a:r>
          </a:p>
          <a:p>
            <a:r>
              <a:rPr sz="1400">
                <a:latin typeface="Aptos"/>
              </a:rPr>
              <a:t>No method has yet generated structures from contrastive MS/MS embeddings. The missing piece is geometric.</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09:45–10:15  ·  RAW MODALITY GAP</a:t>
            </a:r>
          </a:p>
          <a:p>
            <a:r>
              <a:rPr sz="1400">
                <a:latin typeface="Aptos"/>
              </a:rPr>
              <a:t>On-slide clock: 10:30–11:05.</a:t>
            </a:r>
          </a:p>
          <a:p>
            <a:endParaRPr sz="1400">
              <a:latin typeface="Aptos"/>
            </a:endParaRPr>
          </a:p>
          <a:p>
            <a:r>
              <a:rPr sz="1400">
                <a:latin typeface="Aptos"/>
              </a:rPr>
              <a:t>SAY</a:t>
            </a:r>
          </a:p>
          <a:p>
            <a:r>
              <a:rPr sz="1400">
                <a:latin typeface="Aptos"/>
              </a:rPr>
              <a:t>Contrastive alignment does not make the modalities overlap.</a:t>
            </a:r>
          </a:p>
          <a:p>
            <a:endParaRPr sz="1400">
              <a:latin typeface="Aptos"/>
            </a:endParaRPr>
          </a:p>
          <a:p>
            <a:r>
              <a:rPr sz="1400">
                <a:latin typeface="Aptos"/>
              </a:rPr>
              <a:t>InfoNCE aligns relative angles. It does not force the four encoders to occupy the same region.</a:t>
            </a:r>
          </a:p>
          <a:p>
            <a:endParaRPr sz="1400">
              <a:latin typeface="Aptos"/>
            </a:endParaRPr>
          </a:p>
          <a:p>
            <a:r>
              <a:rPr sz="1400">
                <a:latin typeface="Aptos"/>
              </a:rPr>
              <a:t>In the raw 512-D space, graph, fingerprint, merged and single form separate cones.</a:t>
            </a:r>
          </a:p>
          <a:p>
            <a:endParaRPr sz="1400">
              <a:latin typeface="Aptos"/>
            </a:endParaRPr>
          </a:p>
          <a:p>
            <a:r>
              <a:rPr sz="1400">
                <a:latin typeface="Aptos"/>
              </a:rPr>
              <a:t>Same compound: four embeddings, four separated cones.</a:t>
            </a:r>
          </a:p>
          <a:p>
            <a:endParaRPr sz="1400">
              <a:latin typeface="Aptos"/>
            </a:endParaRPr>
          </a:p>
          <a:p>
            <a:r>
              <a:rPr sz="1400">
                <a:latin typeface="Aptos"/>
              </a:rPr>
              <a:t>[Pause 2 s]</a:t>
            </a:r>
          </a:p>
          <a:p>
            <a:r>
              <a:rPr sz="1400">
                <a:latin typeface="Aptos"/>
              </a:rPr>
              <a:t>But look at the pattern: the displacement is systematic, not arbitrary scatter.</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10:15–10:40  ·  HOW WE ALIGN</a:t>
            </a:r>
          </a:p>
          <a:p>
            <a:r>
              <a:rPr sz="1400">
                <a:latin typeface="Aptos"/>
              </a:rPr>
              <a:t>On-slide clock: 11:15–11:35.</a:t>
            </a:r>
          </a:p>
          <a:p>
            <a:endParaRPr sz="1400">
              <a:latin typeface="Aptos"/>
            </a:endParaRPr>
          </a:p>
          <a:p>
            <a:r>
              <a:rPr sz="1400">
                <a:latin typeface="Aptos"/>
              </a:rPr>
              <a:t>SAY</a:t>
            </a:r>
          </a:p>
          <a:p>
            <a:r>
              <a:rPr sz="1400">
                <a:latin typeface="Aptos"/>
              </a:rPr>
              <a:t>Two deterministic steps. Nothing is retrained.</a:t>
            </a:r>
          </a:p>
          <a:p>
            <a:endParaRPr sz="1400">
              <a:latin typeface="Aptos"/>
            </a:endParaRPr>
          </a:p>
          <a:p>
            <a:r>
              <a:rPr sz="1400">
                <a:latin typeface="Aptos"/>
              </a:rPr>
              <a:t>First: subtract the mean of each view. Every cloud moves to the origin. Relative angles inside a view stay the same.</a:t>
            </a:r>
          </a:p>
          <a:p>
            <a:endParaRPr sz="1400">
              <a:latin typeface="Aptos"/>
            </a:endParaRPr>
          </a:p>
          <a:p>
            <a:r>
              <a:rPr sz="1400">
                <a:latin typeface="Aptos"/>
              </a:rPr>
              <a:t>Second: an orthogonal Procrustes rotation maps fingerprint, merged and single onto the graph frame, in 512-D. Distances inside each view are preserved.</a:t>
            </a:r>
          </a:p>
          <a:p>
            <a:endParaRPr sz="1400">
              <a:latin typeface="Aptos"/>
            </a:endParaRPr>
          </a:p>
          <a:p>
            <a:r>
              <a:rPr sz="1400">
                <a:latin typeface="Aptos"/>
              </a:rPr>
              <a:t>Affine, orthogonal, no extra training. Chemistry is preserved. Only the coordinate frame moves.</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10:40–11:10  ·  THE GAP CLOSES</a:t>
            </a:r>
          </a:p>
          <a:p>
            <a:r>
              <a:rPr sz="1400">
                <a:latin typeface="Aptos"/>
              </a:rPr>
              <a:t>On-slide clock: 11:35–12:05.</a:t>
            </a:r>
          </a:p>
          <a:p>
            <a:endParaRPr sz="1400">
              <a:latin typeface="Aptos"/>
            </a:endParaRPr>
          </a:p>
          <a:p>
            <a:r>
              <a:rPr sz="1400">
                <a:latin typeface="Aptos"/>
              </a:rPr>
              <a:t>SAY</a:t>
            </a:r>
          </a:p>
          <a:p>
            <a:r>
              <a:rPr sz="1400">
                <a:latin typeface="Aptos"/>
              </a:rPr>
              <a:t>After that transform, the four views overlap.</a:t>
            </a:r>
          </a:p>
          <a:p>
            <a:endParaRPr sz="1400">
              <a:latin typeface="Aptos"/>
            </a:endParaRPr>
          </a:p>
          <a:p>
            <a:r>
              <a:rPr sz="1400">
                <a:latin typeface="Aptos"/>
              </a:rPr>
              <a:t>The modality gap collapses, and structural resolution is kept: distinct molecules stay apart.</a:t>
            </a:r>
          </a:p>
          <a:p>
            <a:endParaRPr sz="1400">
              <a:latin typeface="Aptos"/>
            </a:endParaRPr>
          </a:p>
          <a:p>
            <a:r>
              <a:rPr sz="1400">
                <a:latin typeface="Aptos"/>
              </a:rPr>
              <a:t>The gap was an affine displacement, not noise.</a:t>
            </a:r>
          </a:p>
          <a:p>
            <a:endParaRPr sz="1400">
              <a:latin typeface="Aptos"/>
            </a:endParaRPr>
          </a:p>
          <a:p>
            <a:r>
              <a:rPr sz="1400">
                <a:latin typeface="Aptos"/>
              </a:rPr>
              <a:t>That is what makes a spectral embedding usable as a continuous condition — not only as a retrieval key.</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11:10–11:50  ·  HORIZON</a:t>
            </a:r>
          </a:p>
          <a:p>
            <a:r>
              <a:rPr sz="1400">
                <a:latin typeface="Aptos"/>
              </a:rPr>
              <a:t>On-slide clock: 12:05–12:55. Keep this under 40 seconds.</a:t>
            </a:r>
          </a:p>
          <a:p>
            <a:endParaRPr sz="1400">
              <a:latin typeface="Aptos"/>
            </a:endParaRPr>
          </a:p>
          <a:p>
            <a:r>
              <a:rPr sz="1400">
                <a:latin typeface="Aptos"/>
              </a:rPr>
              <a:t>SAY</a:t>
            </a:r>
          </a:p>
          <a:p>
            <a:r>
              <a:rPr sz="1400">
                <a:latin typeface="Aptos"/>
              </a:rPr>
              <a:t>Retrieval is today’s result. Generation is the next experiment.</a:t>
            </a:r>
          </a:p>
          <a:p>
            <a:endParaRPr sz="1400">
              <a:latin typeface="Aptos"/>
            </a:endParaRPr>
          </a:p>
          <a:p>
            <a:r>
              <a:rPr sz="1400">
                <a:latin typeface="Aptos"/>
              </a:rPr>
              <a:t>Today: spectrum, to a 512-D embedding, to ranking known candidates.</a:t>
            </a:r>
          </a:p>
          <a:p>
            <a:endParaRPr sz="1400">
              <a:latin typeface="Aptos"/>
            </a:endParaRPr>
          </a:p>
          <a:p>
            <a:r>
              <a:rPr sz="1400">
                <a:latin typeface="Aptos"/>
              </a:rPr>
              <a:t>Next: spectrum, to an aligned embedding, to a valence-aware graph generator.</a:t>
            </a:r>
          </a:p>
          <a:p>
            <a:endParaRPr sz="1400">
              <a:latin typeface="Aptos"/>
            </a:endParaRPr>
          </a:p>
          <a:p>
            <a:r>
              <a:rPr sz="1400">
                <a:latin typeface="Aptos"/>
              </a:rPr>
              <a:t>I am not showing generated molecules. I am showing the space that makes that experiment possible.</a:t>
            </a:r>
          </a:p>
          <a:p>
            <a:endParaRPr sz="1400">
              <a:latin typeface="Aptos"/>
            </a:endParaRPr>
          </a:p>
          <a:p>
            <a:r>
              <a:rPr sz="1400">
                <a:latin typeface="Aptos"/>
              </a:rPr>
              <a:t>The geometric result removes a known obstacle to continuous conditioning.</a:t>
            </a:r>
          </a:p>
          <a:p>
            <a:endParaRPr sz="1400">
              <a:latin typeface="Aptos"/>
            </a:endParaRPr>
          </a:p>
          <a:p>
            <a:r>
              <a:rPr sz="1400">
                <a:latin typeface="Aptos"/>
              </a:rPr>
              <a:t>[Click]</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Aptos"/>
              </a:rPr>
              <a:t>12:15–13:20  ·  CLOSE</a:t>
            </a:r>
          </a:p>
          <a:p>
            <a:r>
              <a:rPr sz="1400">
                <a:latin typeface="Aptos"/>
              </a:rPr>
              <a:t>On-slide clock: 13:20–13:50. Land before 13:30. Extra time is cushion, not more content.</a:t>
            </a:r>
          </a:p>
          <a:p>
            <a:endParaRPr sz="1400">
              <a:latin typeface="Aptos"/>
            </a:endParaRPr>
          </a:p>
          <a:p>
            <a:r>
              <a:rPr sz="1400">
                <a:latin typeface="Aptos"/>
              </a:rPr>
              <a:t>SAY</a:t>
            </a:r>
          </a:p>
          <a:p>
            <a:r>
              <a:rPr sz="1400">
                <a:latin typeface="Aptos"/>
              </a:rPr>
              <a:t>We identify the isomer this way.</a:t>
            </a:r>
          </a:p>
          <a:p>
            <a:endParaRPr sz="1400">
              <a:latin typeface="Aptos"/>
            </a:endParaRPr>
          </a:p>
          <a:p>
            <a:r>
              <a:rPr sz="1400">
                <a:latin typeface="Aptos"/>
              </a:rPr>
              <a:t>Without the precursor formula: m/z tokens. The peaks go in as they are measured.</a:t>
            </a:r>
          </a:p>
          <a:p>
            <a:endParaRPr sz="1400">
              <a:latin typeface="Aptos"/>
            </a:endParaRPr>
          </a:p>
          <a:p>
            <a:r>
              <a:rPr sz="1400">
                <a:latin typeface="Aptos"/>
              </a:rPr>
              <a:t>By fusing four views: graph, fingerprint, merged, single. Align them, then fuse at inference.</a:t>
            </a:r>
          </a:p>
          <a:p>
            <a:endParaRPr sz="1400">
              <a:latin typeface="Aptos"/>
            </a:endParaRPr>
          </a:p>
          <a:p>
            <a:r>
              <a:rPr sz="1400">
                <a:latin typeface="Aptos"/>
              </a:rPr>
              <a:t>With the best published Recall@1 on MassSpecGym: 25.9%, formula-free encoding.</a:t>
            </a:r>
          </a:p>
          <a:p>
            <a:endParaRPr sz="1400">
              <a:latin typeface="Aptos"/>
            </a:endParaRPr>
          </a:p>
          <a:p>
            <a:r>
              <a:rPr sz="1400">
                <a:latin typeface="Aptos"/>
              </a:rPr>
              <a:t>[Pause 2 s]</a:t>
            </a:r>
          </a:p>
          <a:p>
            <a:r>
              <a:rPr sz="1400">
                <a:latin typeface="Aptos"/>
              </a:rPr>
              <a:t>That retrieval still has a ceiling: if the molecule is not in the list, ranking cannot invent it. The aligned embedding is a continuous condition for generating molecules that are not in any library.</a:t>
            </a:r>
          </a:p>
          <a:p>
            <a:endParaRPr sz="1400">
              <a:latin typeface="Aptos"/>
            </a:endParaRPr>
          </a:p>
          <a:p>
            <a:r>
              <a:rPr sz="1400">
                <a:latin typeface="Aptos"/>
              </a:rPr>
              <a:t>[Pause 2 s]</a:t>
            </a:r>
          </a:p>
          <a:p>
            <a:r>
              <a:rPr sz="1400">
                <a:latin typeface="Aptos"/>
              </a:rPr>
              <a:t>So: aligning four views of a metabolite helps to identify the isomer from several candidates.</a:t>
            </a:r>
          </a:p>
          <a:p>
            <a:endParaRPr sz="1400">
              <a:latin typeface="Aptos"/>
            </a:endParaRPr>
          </a:p>
          <a:p>
            <a:r>
              <a:rPr sz="1400">
                <a:latin typeface="Aptos"/>
              </a:rPr>
              <a:t>[Pause 3 s. Do not say “in conclusion”.]</a:t>
            </a:r>
          </a:p>
          <a:p>
            <a:endParaRPr sz="1400">
              <a:latin typeface="Aptos"/>
            </a:endParaRPr>
          </a:p>
          <a:p>
            <a:r>
              <a:rPr sz="1400">
                <a:latin typeface="Aptos"/>
              </a:rPr>
              <a:t>If you work with spectra without a formula, I am happy to talk after this.</a:t>
            </a:r>
          </a:p>
          <a:p>
            <a:endParaRPr sz="1400">
              <a:latin typeface="Aptos"/>
            </a:endParaRPr>
          </a:p>
          <a:p>
            <a:r>
              <a:rPr sz="1400">
                <a:latin typeface="Aptos"/>
              </a:rPr>
              <a:t>Thank you.</a:t>
            </a:r>
          </a:p>
          <a:p>
            <a:endParaRPr sz="1400">
              <a:latin typeface="Aptos"/>
            </a:endParaRPr>
          </a:p>
          <a:p>
            <a:r>
              <a:rPr sz="1400">
                <a:latin typeface="Aptos"/>
              </a:rPr>
              <a:t>[Do not move until the applause.]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39.jp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34440" y="777240"/>
            <a:ext cx="9738360" cy="1874519"/>
          </a:xfrm>
          <a:prstGeom prst="rect">
            <a:avLst/>
          </a:prstGeom>
          <a:noFill/>
        </p:spPr>
        <p:txBody>
          <a:bodyPr wrap="square" lIns="54864" tIns="0" rIns="54864" bIns="0" anchor="ctr">
            <a:spAutoFit/>
          </a:bodyPr>
          <a:lstStyle/>
          <a:p>
            <a:pPr algn="ctr">
              <a:spcAft>
                <a:spcPts val="800"/>
              </a:spcAft>
            </a:pPr>
            <a:r>
              <a:rPr sz="3600" b="1">
                <a:solidFill>
                  <a:srgbClr val="D9873A"/>
                </a:solidFill>
                <a:latin typeface="Calibri"/>
              </a:rPr>
              <a:t>MultiCLIP</a:t>
            </a:r>
            <a:r>
              <a:rPr sz="2800" b="0">
                <a:solidFill>
                  <a:srgbClr val="EAF0F6"/>
                </a:solidFill>
                <a:latin typeface="Calibri"/>
              </a:rPr>
              <a:t>: Four-View Contrastive Learning for</a:t>
            </a:r>
          </a:p>
          <a:p>
            <a:pPr algn="ctr"/>
            <a:r>
              <a:rPr sz="2800">
                <a:solidFill>
                  <a:srgbClr val="EAF0F6"/>
                </a:solidFill>
                <a:latin typeface="Calibri"/>
              </a:rPr>
              <a:t>Metabolite Identification from Tandem Mass Spectra</a:t>
            </a:r>
          </a:p>
        </p:txBody>
      </p:sp>
      <p:cxnSp>
        <p:nvCxnSpPr>
          <p:cNvPr id="5" name="Connector 4"/>
          <p:cNvCxnSpPr/>
          <p:nvPr/>
        </p:nvCxnSpPr>
        <p:spPr>
          <a:xfrm>
            <a:off x="2331720" y="2852928"/>
            <a:ext cx="7525512" cy="0"/>
          </a:xfrm>
          <a:prstGeom prst="line">
            <a:avLst/>
          </a:prstGeom>
          <a:ln w="15875">
            <a:solidFill>
              <a:srgbClr val="F3B36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2999232"/>
            <a:ext cx="9738360" cy="1691640"/>
          </a:xfrm>
          <a:prstGeom prst="rect">
            <a:avLst/>
          </a:prstGeom>
          <a:noFill/>
        </p:spPr>
        <p:txBody>
          <a:bodyPr wrap="square" lIns="54864" tIns="0" rIns="54864" bIns="0">
            <a:spAutoFit/>
          </a:bodyPr>
          <a:lstStyle/>
          <a:p>
            <a:pPr algn="ctr">
              <a:spcAft>
                <a:spcPts val="1000"/>
              </a:spcAft>
            </a:pPr>
            <a:r>
              <a:rPr sz="1800" b="1">
                <a:solidFill>
                  <a:srgbClr val="EAF0F6"/>
                </a:solidFill>
                <a:latin typeface="Calibri"/>
              </a:rPr>
              <a:t>Manuel Ruiz-Botella¹,  Marta Sales-Pardo¹,²,  Roger Guimerà¹,²,³</a:t>
            </a:r>
          </a:p>
          <a:p>
            <a:pPr algn="ctr">
              <a:spcAft>
                <a:spcPts val="400"/>
              </a:spcAft>
            </a:pPr>
            <a:r>
              <a:rPr sz="1400" b="0">
                <a:solidFill>
                  <a:srgbClr val="B9C9D9"/>
                </a:solidFill>
                <a:latin typeface="Calibri"/>
              </a:rPr>
              <a:t>¹ Department of Chemical Engineering, Universitat Rovira i Virgili, Tarragona, Spain</a:t>
            </a:r>
          </a:p>
          <a:p>
            <a:pPr algn="ctr">
              <a:spcAft>
                <a:spcPts val="400"/>
              </a:spcAft>
            </a:pPr>
            <a:r>
              <a:rPr sz="1400" b="0">
                <a:solidFill>
                  <a:srgbClr val="B9C9D9"/>
                </a:solidFill>
                <a:latin typeface="Calibri"/>
              </a:rPr>
              <a:t>² ComSCIAM, Universitat Rovira i Virgili, Tarragona, Spain</a:t>
            </a:r>
          </a:p>
          <a:p>
            <a:pPr algn="ctr">
              <a:spcAft>
                <a:spcPts val="0"/>
              </a:spcAft>
            </a:pPr>
            <a:r>
              <a:rPr sz="1400" b="0">
                <a:solidFill>
                  <a:srgbClr val="B9C9D9"/>
                </a:solidFill>
                <a:latin typeface="Calibri"/>
              </a:rPr>
              <a:t>³ ICREA, Barcelona, Spain</a:t>
            </a:r>
          </a:p>
        </p:txBody>
      </p:sp>
      <p:cxnSp>
        <p:nvCxnSpPr>
          <p:cNvPr id="7" name="Connector 6"/>
          <p:cNvCxnSpPr/>
          <p:nvPr/>
        </p:nvCxnSpPr>
        <p:spPr>
          <a:xfrm>
            <a:off x="2331720" y="4892040"/>
            <a:ext cx="7525512" cy="0"/>
          </a:xfrm>
          <a:prstGeom prst="line">
            <a:avLst/>
          </a:prstGeom>
          <a:ln w="15875">
            <a:solidFill>
              <a:srgbClr val="F3B36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234440" y="5047488"/>
            <a:ext cx="9738360" cy="438912"/>
          </a:xfrm>
          <a:prstGeom prst="rect">
            <a:avLst/>
          </a:prstGeom>
          <a:noFill/>
        </p:spPr>
        <p:txBody>
          <a:bodyPr wrap="square" lIns="36576" tIns="0" rIns="36576" bIns="0" anchor="t">
            <a:spAutoFit/>
          </a:bodyPr>
          <a:lstStyle/>
          <a:p>
            <a:pPr algn="ctr"/>
            <a:r>
              <a:rPr sz="2200" b="0" i="0">
                <a:solidFill>
                  <a:srgbClr val="EAF0F6"/>
                </a:solidFill>
                <a:latin typeface="Calibri"/>
              </a:rPr>
              <a:t>AI4Sci 2026, Mainz  ·  Chemistry &amp; Materials</a:t>
            </a:r>
          </a:p>
        </p:txBody>
      </p:sp>
      <p:sp>
        <p:nvSpPr>
          <p:cNvPr id="9" name="TextBox 8"/>
          <p:cNvSpPr txBox="1"/>
          <p:nvPr/>
        </p:nvSpPr>
        <p:spPr>
          <a:xfrm>
            <a:off x="1234440" y="5989320"/>
            <a:ext cx="9738360" cy="292608"/>
          </a:xfrm>
          <a:prstGeom prst="rect">
            <a:avLst/>
          </a:prstGeom>
          <a:noFill/>
        </p:spPr>
        <p:txBody>
          <a:bodyPr wrap="square" lIns="36576" tIns="0" rIns="36576" bIns="0" anchor="t">
            <a:spAutoFit/>
          </a:bodyPr>
          <a:lstStyle/>
          <a:p>
            <a:pPr algn="ctr"/>
            <a:r>
              <a:rPr sz="1400" b="0" i="0">
                <a:solidFill>
                  <a:srgbClr val="A9D2F5"/>
                </a:solidFill>
                <a:latin typeface="Calibri"/>
              </a:rPr>
              <a:t>Contact: manuel.ruiz@urv.cat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8DAB1-C472-43D2-0AF1-20FF139330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5F3703E-121E-7591-5381-75391B7834A9}"/>
              </a:ext>
            </a:extLst>
          </p:cNvPr>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FE38601-7DBE-2F59-F2F9-8ABAEB8A4A4B}"/>
              </a:ext>
            </a:extLst>
          </p:cNvPr>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PROBLEM</a:t>
            </a:r>
          </a:p>
        </p:txBody>
      </p:sp>
      <p:sp>
        <p:nvSpPr>
          <p:cNvPr id="5" name="Rectangle 4">
            <a:extLst>
              <a:ext uri="{FF2B5EF4-FFF2-40B4-BE49-F238E27FC236}">
                <a16:creationId xmlns:a16="http://schemas.microsoft.com/office/drawing/2014/main" id="{E9A460A7-3E70-77AB-8C4A-3981D458DDA3}"/>
              </a:ext>
            </a:extLst>
          </p:cNvPr>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90AB6F8-7179-D996-CD6A-CEDD971C8263}"/>
              </a:ext>
            </a:extLst>
          </p:cNvPr>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a:extLst>
              <a:ext uri="{FF2B5EF4-FFF2-40B4-BE49-F238E27FC236}">
                <a16:creationId xmlns:a16="http://schemas.microsoft.com/office/drawing/2014/main" id="{DC1C397E-C672-9208-4CDE-8AE005949E2A}"/>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02</a:t>
            </a:r>
          </a:p>
        </p:txBody>
      </p:sp>
      <p:sp>
        <p:nvSpPr>
          <p:cNvPr id="8" name="TextBox 7">
            <a:extLst>
              <a:ext uri="{FF2B5EF4-FFF2-40B4-BE49-F238E27FC236}">
                <a16:creationId xmlns:a16="http://schemas.microsoft.com/office/drawing/2014/main" id="{B7260385-57A3-C604-B970-AAF99578BA26}"/>
              </a:ext>
            </a:extLst>
          </p:cNvPr>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00:35–01:25</a:t>
            </a:r>
          </a:p>
        </p:txBody>
      </p:sp>
      <p:pic>
        <p:nvPicPr>
          <p:cNvPr id="29" name="Imagen 28">
            <a:extLst>
              <a:ext uri="{FF2B5EF4-FFF2-40B4-BE49-F238E27FC236}">
                <a16:creationId xmlns:a16="http://schemas.microsoft.com/office/drawing/2014/main" id="{3C38864E-5FBB-86F8-715A-EF6261ECE79C}"/>
              </a:ext>
            </a:extLst>
          </p:cNvPr>
          <p:cNvPicPr>
            <a:picLocks noChangeAspect="1"/>
          </p:cNvPicPr>
          <p:nvPr/>
        </p:nvPicPr>
        <p:blipFill>
          <a:blip r:embed="rId3"/>
          <a:srcRect t="14966"/>
          <a:stretch>
            <a:fillRect/>
          </a:stretch>
        </p:blipFill>
        <p:spPr>
          <a:xfrm>
            <a:off x="-1" y="438912"/>
            <a:ext cx="12192000" cy="5786389"/>
          </a:xfrm>
          <a:prstGeom prst="rect">
            <a:avLst/>
          </a:prstGeom>
        </p:spPr>
      </p:pic>
    </p:spTree>
    <p:extLst>
      <p:ext uri="{BB962C8B-B14F-4D97-AF65-F5344CB8AC3E}">
        <p14:creationId xmlns:p14="http://schemas.microsoft.com/office/powerpoint/2010/main" val="2499402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lIns="0" tIns="0" rIns="0" bIns="0" anchor="t">
            <a:spAutoFit/>
          </a:bodyPr>
          <a:lstStyle/>
          <a:p>
            <a:pPr algn="l"/>
            <a:r>
              <a:rPr sz="1100" b="1" i="0">
                <a:solidFill>
                  <a:srgbClr val="EAF0F6"/>
                </a:solidFill>
                <a:latin typeface="Calibri"/>
              </a:rPr>
              <a:t>THE PROBLEM</a:t>
            </a:r>
          </a:p>
        </p:txBody>
      </p:sp>
      <p:sp>
        <p:nvSpPr>
          <p:cNvPr id="6" name="TextBox 5"/>
          <p:cNvSpPr txBox="1"/>
          <p:nvPr/>
        </p:nvSpPr>
        <p:spPr>
          <a:xfrm>
            <a:off x="457200" y="457200"/>
            <a:ext cx="11292840" cy="438912"/>
          </a:xfrm>
          <a:prstGeom prst="rect">
            <a:avLst/>
          </a:prstGeom>
          <a:noFill/>
        </p:spPr>
        <p:txBody>
          <a:bodyPr wrap="square" lIns="0" tIns="0" rIns="0" bIns="0" anchor="t">
            <a:spAutoFit/>
          </a:bodyPr>
          <a:lstStyle/>
          <a:p>
            <a:pPr algn="l"/>
            <a:r>
              <a:rPr sz="2400" b="1" i="0">
                <a:solidFill>
                  <a:srgbClr val="EAF0F6"/>
                </a:solidFill>
                <a:latin typeface="Calibri"/>
              </a:rPr>
              <a:t>This spectrum was produced by one of these molecules.</a:t>
            </a:r>
          </a:p>
        </p:txBody>
      </p:sp>
      <p:sp>
        <p:nvSpPr>
          <p:cNvPr id="7" name="TextBox 6"/>
          <p:cNvSpPr txBox="1"/>
          <p:nvPr/>
        </p:nvSpPr>
        <p:spPr>
          <a:xfrm>
            <a:off x="3520440" y="1178270"/>
            <a:ext cx="11292840" cy="215444"/>
          </a:xfrm>
          <a:prstGeom prst="rect">
            <a:avLst/>
          </a:prstGeom>
          <a:noFill/>
        </p:spPr>
        <p:txBody>
          <a:bodyPr wrap="square" lIns="0" tIns="0" rIns="0" bIns="0" anchor="t">
            <a:spAutoFit/>
          </a:bodyPr>
          <a:lstStyle/>
          <a:p>
            <a:pPr algn="l"/>
            <a:r>
              <a:rPr sz="1400" b="0" i="1" dirty="0">
                <a:solidFill>
                  <a:srgbClr val="F3B36E"/>
                </a:solidFill>
                <a:latin typeface="Calibri"/>
              </a:rPr>
              <a:t>They share the same </a:t>
            </a:r>
            <a:r>
              <a:rPr lang="es-ES" sz="1400" b="0" i="1" dirty="0">
                <a:solidFill>
                  <a:srgbClr val="F3B36E"/>
                </a:solidFill>
                <a:latin typeface="Calibri"/>
              </a:rPr>
              <a:t>precursor </a:t>
            </a:r>
            <a:r>
              <a:rPr lang="es-ES" sz="1400" b="0" i="1" dirty="0" err="1">
                <a:solidFill>
                  <a:srgbClr val="F3B36E"/>
                </a:solidFill>
                <a:latin typeface="Calibri"/>
              </a:rPr>
              <a:t>mass</a:t>
            </a:r>
            <a:r>
              <a:rPr lang="es-ES" sz="1400" b="0" i="1" dirty="0">
                <a:solidFill>
                  <a:srgbClr val="F3B36E"/>
                </a:solidFill>
                <a:latin typeface="Calibri"/>
              </a:rPr>
              <a:t> and</a:t>
            </a:r>
            <a:r>
              <a:rPr sz="1400" b="0" i="1" dirty="0">
                <a:solidFill>
                  <a:srgbClr val="F3B36E"/>
                </a:solidFill>
                <a:latin typeface="Calibri"/>
              </a:rPr>
              <a:t> </a:t>
            </a:r>
            <a:r>
              <a:rPr lang="es-ES" sz="1400" i="1" dirty="0">
                <a:solidFill>
                  <a:srgbClr val="F3B36E"/>
                </a:solidFill>
                <a:latin typeface="Calibri"/>
              </a:rPr>
              <a:t>t</a:t>
            </a:r>
            <a:r>
              <a:rPr sz="1400" b="0" i="1" dirty="0">
                <a:solidFill>
                  <a:srgbClr val="F3B36E"/>
                </a:solidFill>
                <a:latin typeface="Calibri"/>
              </a:rPr>
              <a:t>he</a:t>
            </a:r>
            <a:r>
              <a:rPr lang="es-ES" sz="1400" b="0" i="1" dirty="0">
                <a:solidFill>
                  <a:srgbClr val="F3B36E"/>
                </a:solidFill>
                <a:latin typeface="Calibri"/>
              </a:rPr>
              <a:t> molecular formula.</a:t>
            </a:r>
            <a:endParaRPr sz="1400" b="0" i="1" dirty="0">
              <a:solidFill>
                <a:srgbClr val="F3B36E"/>
              </a:solidFill>
              <a:latin typeface="Calibri"/>
            </a:endParaRPr>
          </a:p>
        </p:txBody>
      </p:sp>
      <p:sp>
        <p:nvSpPr>
          <p:cNvPr id="8" name="Rectangle 7"/>
          <p:cNvSpPr/>
          <p:nvPr/>
        </p:nvSpPr>
        <p:spPr>
          <a:xfrm>
            <a:off x="457200" y="822960"/>
            <a:ext cx="11292840" cy="10972"/>
          </a:xfrm>
          <a:prstGeom prst="rect">
            <a:avLst/>
          </a:prstGeom>
          <a:solidFill>
            <a:srgbClr val="D9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roblem_hook.png"/>
          <p:cNvPicPr>
            <a:picLocks noChangeAspect="1"/>
          </p:cNvPicPr>
          <p:nvPr/>
        </p:nvPicPr>
        <p:blipFill>
          <a:blip r:embed="rId3"/>
          <a:stretch>
            <a:fillRect/>
          </a:stretch>
        </p:blipFill>
        <p:spPr>
          <a:xfrm>
            <a:off x="585216" y="1481328"/>
            <a:ext cx="11036808" cy="4754880"/>
          </a:xfrm>
          <a:prstGeom prst="rect">
            <a:avLst/>
          </a:prstGeom>
        </p:spPr>
      </p:pic>
      <p:sp>
        <p:nvSpPr>
          <p:cNvPr id="11" name="Rectangle 10"/>
          <p:cNvSpPr/>
          <p:nvPr/>
        </p:nvSpPr>
        <p:spPr>
          <a:xfrm>
            <a:off x="0" y="6547104"/>
            <a:ext cx="12191695" cy="310896"/>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6583680"/>
            <a:ext cx="10424160" cy="237744"/>
          </a:xfrm>
          <a:prstGeom prst="rect">
            <a:avLst/>
          </a:prstGeom>
          <a:noFill/>
        </p:spPr>
        <p:txBody>
          <a:bodyPr wrap="square" lIns="0" tIns="0" rIns="0" bIns="0" anchor="t">
            <a:spAutoFit/>
          </a:bodyPr>
          <a:lstStyle/>
          <a:p>
            <a:pPr algn="l"/>
            <a:r>
              <a:rPr sz="1000" b="0" i="0">
                <a:solidFill>
                  <a:srgbClr val="EAF0F6"/>
                </a:solidFill>
                <a:latin typeface="Calibri"/>
              </a:rPr>
              <a:t>MultiCLIP   |   Ruiz-Botella, Sales-Pardo &amp; Guimerà   |   URV · ComSCIAM · ICREA</a:t>
            </a:r>
          </a:p>
        </p:txBody>
      </p:sp>
      <p:sp>
        <p:nvSpPr>
          <p:cNvPr id="13" name="TextBox 12"/>
          <p:cNvSpPr txBox="1"/>
          <p:nvPr/>
        </p:nvSpPr>
        <p:spPr>
          <a:xfrm>
            <a:off x="11109960" y="6583680"/>
            <a:ext cx="822960" cy="237744"/>
          </a:xfrm>
          <a:prstGeom prst="rect">
            <a:avLst/>
          </a:prstGeom>
          <a:noFill/>
        </p:spPr>
        <p:txBody>
          <a:bodyPr wrap="square" lIns="0" tIns="0" rIns="0" bIns="0" anchor="t">
            <a:spAutoFit/>
          </a:bodyPr>
          <a:lstStyle/>
          <a:p>
            <a:pPr algn="r"/>
            <a:r>
              <a:rPr sz="1100" b="1" i="0">
                <a:solidFill>
                  <a:srgbClr val="EAF0F6"/>
                </a:solidFill>
                <a:latin typeface="Calibri"/>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033ED-B576-4116-BEE3-7B1EDA09D0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E72CE13-0E75-F62F-61C7-76ABAF68F36A}"/>
              </a:ext>
            </a:extLst>
          </p:cNvPr>
          <p:cNvSpPr/>
          <p:nvPr/>
        </p:nvSpPr>
        <p:spPr>
          <a:xfrm>
            <a:off x="0" y="0"/>
            <a:ext cx="3520440" cy="365760"/>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5EE1F8D-1DAA-9D49-549B-2CF05CA0AB0C}"/>
              </a:ext>
            </a:extLst>
          </p:cNvPr>
          <p:cNvSpPr txBox="1"/>
          <p:nvPr/>
        </p:nvSpPr>
        <p:spPr>
          <a:xfrm>
            <a:off x="164592" y="64008"/>
            <a:ext cx="3246120" cy="256032"/>
          </a:xfrm>
          <a:prstGeom prst="rect">
            <a:avLst/>
          </a:prstGeom>
          <a:noFill/>
        </p:spPr>
        <p:txBody>
          <a:bodyPr wrap="square" lIns="0" tIns="0" rIns="0" bIns="0" anchor="t">
            <a:spAutoFit/>
          </a:bodyPr>
          <a:lstStyle/>
          <a:p>
            <a:pPr algn="l"/>
            <a:r>
              <a:rPr sz="1100" b="1" i="0">
                <a:solidFill>
                  <a:srgbClr val="EAF0F6"/>
                </a:solidFill>
                <a:latin typeface="Calibri"/>
              </a:rPr>
              <a:t>THE PROBLEM</a:t>
            </a:r>
          </a:p>
        </p:txBody>
      </p:sp>
      <p:sp>
        <p:nvSpPr>
          <p:cNvPr id="6" name="TextBox 5">
            <a:extLst>
              <a:ext uri="{FF2B5EF4-FFF2-40B4-BE49-F238E27FC236}">
                <a16:creationId xmlns:a16="http://schemas.microsoft.com/office/drawing/2014/main" id="{D848F80F-36A6-2E01-189E-111B3698C3BB}"/>
              </a:ext>
            </a:extLst>
          </p:cNvPr>
          <p:cNvSpPr txBox="1"/>
          <p:nvPr/>
        </p:nvSpPr>
        <p:spPr>
          <a:xfrm>
            <a:off x="457200" y="446270"/>
            <a:ext cx="11292840" cy="369332"/>
          </a:xfrm>
          <a:prstGeom prst="rect">
            <a:avLst/>
          </a:prstGeom>
          <a:noFill/>
        </p:spPr>
        <p:txBody>
          <a:bodyPr wrap="square" lIns="36576" tIns="0" rIns="36576" bIns="0" anchor="ctr">
            <a:spAutoFit/>
          </a:bodyPr>
          <a:lstStyle/>
          <a:p>
            <a:pPr algn="l">
              <a:spcAft>
                <a:spcPts val="200"/>
              </a:spcAft>
            </a:pPr>
            <a:r>
              <a:rPr lang="es-ES" sz="2400" b="1" dirty="0">
                <a:solidFill>
                  <a:srgbClr val="EAF0F6"/>
                </a:solidFill>
                <a:latin typeface="Calibri"/>
              </a:rPr>
              <a:t>But </a:t>
            </a:r>
            <a:r>
              <a:rPr lang="es-ES" sz="2400" b="1" dirty="0" err="1">
                <a:solidFill>
                  <a:srgbClr val="EAF0F6"/>
                </a:solidFill>
                <a:latin typeface="Calibri"/>
              </a:rPr>
              <a:t>how</a:t>
            </a:r>
            <a:r>
              <a:rPr lang="es-ES" sz="2400" b="1" dirty="0">
                <a:solidFill>
                  <a:srgbClr val="EAF0F6"/>
                </a:solidFill>
                <a:latin typeface="Calibri"/>
              </a:rPr>
              <a:t> </a:t>
            </a:r>
            <a:r>
              <a:rPr lang="es-ES" sz="2400" b="1" dirty="0" err="1">
                <a:solidFill>
                  <a:srgbClr val="EAF0F6"/>
                </a:solidFill>
                <a:latin typeface="Calibri"/>
              </a:rPr>
              <a:t>hard</a:t>
            </a:r>
            <a:r>
              <a:rPr lang="es-ES" sz="2400" b="1" dirty="0">
                <a:solidFill>
                  <a:srgbClr val="EAF0F6"/>
                </a:solidFill>
                <a:latin typeface="Calibri"/>
              </a:rPr>
              <a:t> can </a:t>
            </a:r>
            <a:r>
              <a:rPr lang="es-ES" sz="2400" b="1" dirty="0" err="1">
                <a:solidFill>
                  <a:srgbClr val="EAF0F6"/>
                </a:solidFill>
                <a:latin typeface="Calibri"/>
              </a:rPr>
              <a:t>get</a:t>
            </a:r>
            <a:r>
              <a:rPr lang="es-ES" sz="2400" b="1" dirty="0">
                <a:solidFill>
                  <a:srgbClr val="EAF0F6"/>
                </a:solidFill>
                <a:latin typeface="Calibri"/>
              </a:rPr>
              <a:t> </a:t>
            </a:r>
            <a:r>
              <a:rPr lang="es-ES" sz="2400" b="1" dirty="0" err="1">
                <a:solidFill>
                  <a:srgbClr val="EAF0F6"/>
                </a:solidFill>
                <a:latin typeface="Calibri"/>
              </a:rPr>
              <a:t>this</a:t>
            </a:r>
            <a:r>
              <a:rPr lang="es-ES" sz="2400" b="1" dirty="0">
                <a:solidFill>
                  <a:srgbClr val="EAF0F6"/>
                </a:solidFill>
                <a:latin typeface="Calibri"/>
              </a:rPr>
              <a:t> </a:t>
            </a:r>
            <a:r>
              <a:rPr lang="es-ES" sz="2400" b="1" dirty="0" err="1">
                <a:solidFill>
                  <a:srgbClr val="EAF0F6"/>
                </a:solidFill>
                <a:latin typeface="Calibri"/>
              </a:rPr>
              <a:t>problem</a:t>
            </a:r>
            <a:r>
              <a:rPr lang="es-ES" sz="2400" b="1" dirty="0">
                <a:solidFill>
                  <a:srgbClr val="EAF0F6"/>
                </a:solidFill>
                <a:latin typeface="Calibri"/>
              </a:rPr>
              <a:t>?</a:t>
            </a:r>
            <a:endParaRPr sz="2400" b="1" i="0" dirty="0">
              <a:solidFill>
                <a:srgbClr val="EAF0F6"/>
              </a:solidFill>
              <a:latin typeface="Calibri"/>
            </a:endParaRPr>
          </a:p>
        </p:txBody>
      </p:sp>
      <p:sp>
        <p:nvSpPr>
          <p:cNvPr id="7" name="TextBox 6">
            <a:extLst>
              <a:ext uri="{FF2B5EF4-FFF2-40B4-BE49-F238E27FC236}">
                <a16:creationId xmlns:a16="http://schemas.microsoft.com/office/drawing/2014/main" id="{BA419CDE-FA23-B9EA-2DF0-D7532B27C29D}"/>
              </a:ext>
            </a:extLst>
          </p:cNvPr>
          <p:cNvSpPr txBox="1"/>
          <p:nvPr/>
        </p:nvSpPr>
        <p:spPr>
          <a:xfrm>
            <a:off x="457200" y="914400"/>
            <a:ext cx="11292840" cy="365760"/>
          </a:xfrm>
          <a:prstGeom prst="rect">
            <a:avLst/>
          </a:prstGeom>
          <a:noFill/>
        </p:spPr>
        <p:txBody>
          <a:bodyPr wrap="square" lIns="36576" tIns="0" rIns="36576" bIns="0" anchor="ctr">
            <a:spAutoFit/>
          </a:bodyPr>
          <a:lstStyle/>
          <a:p>
            <a:pPr algn="l">
              <a:spcAft>
                <a:spcPts val="200"/>
              </a:spcAft>
            </a:pPr>
            <a:r>
              <a:rPr sz="1600" b="0" dirty="0">
                <a:solidFill>
                  <a:srgbClr val="F3B36E"/>
                </a:solidFill>
                <a:latin typeface="Calibri"/>
              </a:rPr>
              <a:t>You can write C₁₂H₁₈N₂O₂ from the precursor mass. You still do not know which compound is in the sample.</a:t>
            </a:r>
          </a:p>
        </p:txBody>
      </p:sp>
      <p:sp>
        <p:nvSpPr>
          <p:cNvPr id="17" name="Rectangle 16">
            <a:extLst>
              <a:ext uri="{FF2B5EF4-FFF2-40B4-BE49-F238E27FC236}">
                <a16:creationId xmlns:a16="http://schemas.microsoft.com/office/drawing/2014/main" id="{AE11CA2B-5337-B20B-B247-EA2B7715CE2D}"/>
              </a:ext>
            </a:extLst>
          </p:cNvPr>
          <p:cNvSpPr/>
          <p:nvPr/>
        </p:nvSpPr>
        <p:spPr>
          <a:xfrm>
            <a:off x="0" y="6547104"/>
            <a:ext cx="12191695" cy="310896"/>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54D4748-6F2A-8B09-DEE2-4B10ED068105}"/>
              </a:ext>
            </a:extLst>
          </p:cNvPr>
          <p:cNvSpPr txBox="1"/>
          <p:nvPr/>
        </p:nvSpPr>
        <p:spPr>
          <a:xfrm>
            <a:off x="384048" y="6583680"/>
            <a:ext cx="10424160" cy="237744"/>
          </a:xfrm>
          <a:prstGeom prst="rect">
            <a:avLst/>
          </a:prstGeom>
          <a:noFill/>
        </p:spPr>
        <p:txBody>
          <a:bodyPr wrap="square" lIns="0" tIns="0" rIns="0" bIns="0" anchor="t">
            <a:spAutoFit/>
          </a:bodyPr>
          <a:lstStyle/>
          <a:p>
            <a:pPr algn="l"/>
            <a:r>
              <a:rPr sz="1000" b="0" i="0">
                <a:solidFill>
                  <a:srgbClr val="EAF0F6"/>
                </a:solidFill>
                <a:latin typeface="Calibri"/>
              </a:rPr>
              <a:t>MultiCLIP   |   Ruiz-Botella, Sales-Pardo &amp; Guimerà   |   URV · ComSCIAM · ICREA</a:t>
            </a:r>
          </a:p>
        </p:txBody>
      </p:sp>
      <p:sp>
        <p:nvSpPr>
          <p:cNvPr id="19" name="TextBox 18">
            <a:extLst>
              <a:ext uri="{FF2B5EF4-FFF2-40B4-BE49-F238E27FC236}">
                <a16:creationId xmlns:a16="http://schemas.microsoft.com/office/drawing/2014/main" id="{09AAFD7B-0FB2-3D13-3DB0-5B26FFCAE663}"/>
              </a:ext>
            </a:extLst>
          </p:cNvPr>
          <p:cNvSpPr txBox="1"/>
          <p:nvPr/>
        </p:nvSpPr>
        <p:spPr>
          <a:xfrm>
            <a:off x="11109960" y="6583680"/>
            <a:ext cx="822960" cy="237744"/>
          </a:xfrm>
          <a:prstGeom prst="rect">
            <a:avLst/>
          </a:prstGeom>
          <a:noFill/>
        </p:spPr>
        <p:txBody>
          <a:bodyPr wrap="square" lIns="0" tIns="0" rIns="0" bIns="0" anchor="t">
            <a:spAutoFit/>
          </a:bodyPr>
          <a:lstStyle/>
          <a:p>
            <a:pPr algn="r"/>
            <a:r>
              <a:rPr sz="1100" b="1" i="0">
                <a:solidFill>
                  <a:srgbClr val="EAF0F6"/>
                </a:solidFill>
                <a:latin typeface="Calibri"/>
              </a:rPr>
              <a:t>03</a:t>
            </a:r>
          </a:p>
        </p:txBody>
      </p:sp>
      <p:sp>
        <p:nvSpPr>
          <p:cNvPr id="27" name="Rectangle 7">
            <a:extLst>
              <a:ext uri="{FF2B5EF4-FFF2-40B4-BE49-F238E27FC236}">
                <a16:creationId xmlns:a16="http://schemas.microsoft.com/office/drawing/2014/main" id="{B4C47C14-B5C0-065A-8D88-EF61144D1606}"/>
              </a:ext>
            </a:extLst>
          </p:cNvPr>
          <p:cNvSpPr/>
          <p:nvPr/>
        </p:nvSpPr>
        <p:spPr>
          <a:xfrm>
            <a:off x="457200" y="822960"/>
            <a:ext cx="11292840" cy="10972"/>
          </a:xfrm>
          <a:prstGeom prst="rect">
            <a:avLst/>
          </a:prstGeom>
          <a:solidFill>
            <a:srgbClr val="D9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 name="Grupo 1">
            <a:extLst>
              <a:ext uri="{FF2B5EF4-FFF2-40B4-BE49-F238E27FC236}">
                <a16:creationId xmlns:a16="http://schemas.microsoft.com/office/drawing/2014/main" id="{338ACB7D-391B-23C8-6E92-77CF495844B9}"/>
              </a:ext>
            </a:extLst>
          </p:cNvPr>
          <p:cNvGrpSpPr/>
          <p:nvPr/>
        </p:nvGrpSpPr>
        <p:grpSpPr>
          <a:xfrm>
            <a:off x="3520440" y="1706248"/>
            <a:ext cx="5401491" cy="4511671"/>
            <a:chOff x="1152144" y="2066544"/>
            <a:chExt cx="4809743" cy="3950208"/>
          </a:xfrm>
        </p:grpSpPr>
        <p:sp>
          <p:nvSpPr>
            <p:cNvPr id="11" name="Rounded Rectangle 10">
              <a:extLst>
                <a:ext uri="{FF2B5EF4-FFF2-40B4-BE49-F238E27FC236}">
                  <a16:creationId xmlns:a16="http://schemas.microsoft.com/office/drawing/2014/main" id="{0F83B3B2-3323-63A1-05B9-0A41FCBDBFC8}"/>
                </a:ext>
              </a:extLst>
            </p:cNvPr>
            <p:cNvSpPr/>
            <p:nvPr/>
          </p:nvSpPr>
          <p:spPr>
            <a:xfrm>
              <a:off x="1993392" y="2907792"/>
              <a:ext cx="3127248" cy="2267712"/>
            </a:xfrm>
            <a:prstGeom prst="roundRect">
              <a:avLst/>
            </a:prstGeom>
            <a:solidFill>
              <a:srgbClr val="1C2736"/>
            </a:solidFill>
            <a:ln>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F3EB6B9-126E-8BF9-36C0-4716EA23EA2A}"/>
                </a:ext>
              </a:extLst>
            </p:cNvPr>
            <p:cNvSpPr txBox="1"/>
            <p:nvPr/>
          </p:nvSpPr>
          <p:spPr>
            <a:xfrm>
              <a:off x="2084831" y="4119189"/>
              <a:ext cx="2944368" cy="530352"/>
            </a:xfrm>
            <a:prstGeom prst="rect">
              <a:avLst/>
            </a:prstGeom>
            <a:noFill/>
          </p:spPr>
          <p:txBody>
            <a:bodyPr wrap="square" lIns="36576" tIns="0" rIns="36576" bIns="0" anchor="ctr">
              <a:spAutoFit/>
            </a:bodyPr>
            <a:lstStyle/>
            <a:p>
              <a:pPr algn="ctr">
                <a:spcAft>
                  <a:spcPts val="200"/>
                </a:spcAft>
              </a:pPr>
              <a:r>
                <a:rPr sz="3000" b="1" dirty="0">
                  <a:solidFill>
                    <a:srgbClr val="A9D2F5"/>
                  </a:solidFill>
                  <a:latin typeface="Calibri"/>
                </a:rPr>
                <a:t>44,374</a:t>
              </a:r>
            </a:p>
          </p:txBody>
        </p:sp>
        <p:sp>
          <p:nvSpPr>
            <p:cNvPr id="13" name="TextBox 12">
              <a:extLst>
                <a:ext uri="{FF2B5EF4-FFF2-40B4-BE49-F238E27FC236}">
                  <a16:creationId xmlns:a16="http://schemas.microsoft.com/office/drawing/2014/main" id="{EBB90B90-0C03-B861-B96C-1C437927D1AB}"/>
                </a:ext>
              </a:extLst>
            </p:cNvPr>
            <p:cNvSpPr txBox="1"/>
            <p:nvPr/>
          </p:nvSpPr>
          <p:spPr>
            <a:xfrm>
              <a:off x="2084831" y="3129548"/>
              <a:ext cx="2944368" cy="868680"/>
            </a:xfrm>
            <a:prstGeom prst="rect">
              <a:avLst/>
            </a:prstGeom>
            <a:noFill/>
          </p:spPr>
          <p:txBody>
            <a:bodyPr wrap="square" lIns="36576" tIns="0" rIns="36576" bIns="0" anchor="ctr">
              <a:spAutoFit/>
            </a:bodyPr>
            <a:lstStyle/>
            <a:p>
              <a:pPr algn="ctr">
                <a:spcAft>
                  <a:spcPts val="200"/>
                </a:spcAft>
              </a:pPr>
              <a:r>
                <a:rPr sz="2800" b="1" dirty="0">
                  <a:solidFill>
                    <a:srgbClr val="F3B36E"/>
                  </a:solidFill>
                  <a:latin typeface="Calibri"/>
                </a:rPr>
                <a:t>C₁₂H₁₈N₂O₂</a:t>
              </a:r>
            </a:p>
          </p:txBody>
        </p:sp>
        <p:sp>
          <p:nvSpPr>
            <p:cNvPr id="30" name="TextBox 29">
              <a:extLst>
                <a:ext uri="{FF2B5EF4-FFF2-40B4-BE49-F238E27FC236}">
                  <a16:creationId xmlns:a16="http://schemas.microsoft.com/office/drawing/2014/main" id="{7C05505F-0B17-3250-1FE4-940C306BCCFA}"/>
                </a:ext>
              </a:extLst>
            </p:cNvPr>
            <p:cNvSpPr txBox="1"/>
            <p:nvPr/>
          </p:nvSpPr>
          <p:spPr>
            <a:xfrm>
              <a:off x="2084831" y="4407408"/>
              <a:ext cx="2944368" cy="502920"/>
            </a:xfrm>
            <a:prstGeom prst="rect">
              <a:avLst/>
            </a:prstGeom>
            <a:noFill/>
          </p:spPr>
          <p:txBody>
            <a:bodyPr wrap="square" lIns="0" tIns="0" rIns="0" bIns="0" anchor="ctr">
              <a:spAutoFit/>
            </a:bodyPr>
            <a:lstStyle/>
            <a:p>
              <a:pPr algn="ctr"/>
              <a:r>
                <a:rPr sz="1400" b="0" i="0">
                  <a:solidFill>
                    <a:srgbClr val="EAF0F6"/>
                  </a:solidFill>
                  <a:latin typeface="Calibri"/>
                </a:rPr>
                <a:t>isomers in PubChem</a:t>
              </a:r>
            </a:p>
          </p:txBody>
        </p:sp>
        <p:pic>
          <p:nvPicPr>
            <p:cNvPr id="31" name="Picture 30" descr="iso_00.png">
              <a:extLst>
                <a:ext uri="{FF2B5EF4-FFF2-40B4-BE49-F238E27FC236}">
                  <a16:creationId xmlns:a16="http://schemas.microsoft.com/office/drawing/2014/main" id="{AB6222B2-5BF0-1CD9-93AE-28E088F520CD}"/>
                </a:ext>
              </a:extLst>
            </p:cNvPr>
            <p:cNvPicPr>
              <a:picLocks noChangeAspect="1"/>
            </p:cNvPicPr>
            <p:nvPr/>
          </p:nvPicPr>
          <p:blipFill>
            <a:blip r:embed="rId3"/>
            <a:stretch>
              <a:fillRect/>
            </a:stretch>
          </p:blipFill>
          <p:spPr>
            <a:xfrm>
              <a:off x="2039112" y="2066544"/>
              <a:ext cx="749808" cy="749808"/>
            </a:xfrm>
            <a:prstGeom prst="rect">
              <a:avLst/>
            </a:prstGeom>
          </p:spPr>
        </p:pic>
        <p:pic>
          <p:nvPicPr>
            <p:cNvPr id="32" name="Picture 31" descr="iso_01.png">
              <a:extLst>
                <a:ext uri="{FF2B5EF4-FFF2-40B4-BE49-F238E27FC236}">
                  <a16:creationId xmlns:a16="http://schemas.microsoft.com/office/drawing/2014/main" id="{A4D1BFA8-0E75-1CF9-BCBA-332C2BE5BF20}"/>
                </a:ext>
              </a:extLst>
            </p:cNvPr>
            <p:cNvPicPr>
              <a:picLocks noChangeAspect="1"/>
            </p:cNvPicPr>
            <p:nvPr/>
          </p:nvPicPr>
          <p:blipFill>
            <a:blip r:embed="rId4"/>
            <a:stretch>
              <a:fillRect/>
            </a:stretch>
          </p:blipFill>
          <p:spPr>
            <a:xfrm>
              <a:off x="3182112" y="2066544"/>
              <a:ext cx="749808" cy="749808"/>
            </a:xfrm>
            <a:prstGeom prst="rect">
              <a:avLst/>
            </a:prstGeom>
          </p:spPr>
        </p:pic>
        <p:pic>
          <p:nvPicPr>
            <p:cNvPr id="33" name="Picture 32" descr="iso_02.png">
              <a:extLst>
                <a:ext uri="{FF2B5EF4-FFF2-40B4-BE49-F238E27FC236}">
                  <a16:creationId xmlns:a16="http://schemas.microsoft.com/office/drawing/2014/main" id="{4F476123-F376-53E0-55F5-43D2F308B009}"/>
                </a:ext>
              </a:extLst>
            </p:cNvPr>
            <p:cNvPicPr>
              <a:picLocks noChangeAspect="1"/>
            </p:cNvPicPr>
            <p:nvPr/>
          </p:nvPicPr>
          <p:blipFill>
            <a:blip r:embed="rId5"/>
            <a:stretch>
              <a:fillRect/>
            </a:stretch>
          </p:blipFill>
          <p:spPr>
            <a:xfrm>
              <a:off x="4325112" y="2066544"/>
              <a:ext cx="749808" cy="749808"/>
            </a:xfrm>
            <a:prstGeom prst="rect">
              <a:avLst/>
            </a:prstGeom>
          </p:spPr>
        </p:pic>
        <p:pic>
          <p:nvPicPr>
            <p:cNvPr id="34" name="Picture 33" descr="iso_03.png">
              <a:extLst>
                <a:ext uri="{FF2B5EF4-FFF2-40B4-BE49-F238E27FC236}">
                  <a16:creationId xmlns:a16="http://schemas.microsoft.com/office/drawing/2014/main" id="{04529E6D-52AD-1055-BBF0-44402D33F719}"/>
                </a:ext>
              </a:extLst>
            </p:cNvPr>
            <p:cNvPicPr>
              <a:picLocks noChangeAspect="1"/>
            </p:cNvPicPr>
            <p:nvPr/>
          </p:nvPicPr>
          <p:blipFill>
            <a:blip r:embed="rId6"/>
            <a:stretch>
              <a:fillRect/>
            </a:stretch>
          </p:blipFill>
          <p:spPr>
            <a:xfrm>
              <a:off x="2039112" y="5266944"/>
              <a:ext cx="749808" cy="749808"/>
            </a:xfrm>
            <a:prstGeom prst="rect">
              <a:avLst/>
            </a:prstGeom>
          </p:spPr>
        </p:pic>
        <p:pic>
          <p:nvPicPr>
            <p:cNvPr id="35" name="Picture 34" descr="iso_04.png">
              <a:extLst>
                <a:ext uri="{FF2B5EF4-FFF2-40B4-BE49-F238E27FC236}">
                  <a16:creationId xmlns:a16="http://schemas.microsoft.com/office/drawing/2014/main" id="{ACE32ECD-2273-2A53-8614-AF73ED46FEC5}"/>
                </a:ext>
              </a:extLst>
            </p:cNvPr>
            <p:cNvPicPr>
              <a:picLocks noChangeAspect="1"/>
            </p:cNvPicPr>
            <p:nvPr/>
          </p:nvPicPr>
          <p:blipFill>
            <a:blip r:embed="rId7"/>
            <a:stretch>
              <a:fillRect/>
            </a:stretch>
          </p:blipFill>
          <p:spPr>
            <a:xfrm>
              <a:off x="3182112" y="5266944"/>
              <a:ext cx="749808" cy="749808"/>
            </a:xfrm>
            <a:prstGeom prst="rect">
              <a:avLst/>
            </a:prstGeom>
          </p:spPr>
        </p:pic>
        <p:pic>
          <p:nvPicPr>
            <p:cNvPr id="36" name="Picture 35" descr="iso_05.png">
              <a:extLst>
                <a:ext uri="{FF2B5EF4-FFF2-40B4-BE49-F238E27FC236}">
                  <a16:creationId xmlns:a16="http://schemas.microsoft.com/office/drawing/2014/main" id="{8B7D6E46-011D-BBF3-77D3-42DB6C8C3B0A}"/>
                </a:ext>
              </a:extLst>
            </p:cNvPr>
            <p:cNvPicPr>
              <a:picLocks noChangeAspect="1"/>
            </p:cNvPicPr>
            <p:nvPr/>
          </p:nvPicPr>
          <p:blipFill>
            <a:blip r:embed="rId8"/>
            <a:stretch>
              <a:fillRect/>
            </a:stretch>
          </p:blipFill>
          <p:spPr>
            <a:xfrm>
              <a:off x="4325112" y="5266944"/>
              <a:ext cx="749808" cy="749808"/>
            </a:xfrm>
            <a:prstGeom prst="rect">
              <a:avLst/>
            </a:prstGeom>
          </p:spPr>
        </p:pic>
        <p:pic>
          <p:nvPicPr>
            <p:cNvPr id="37" name="Picture 36" descr="iso_06.png">
              <a:extLst>
                <a:ext uri="{FF2B5EF4-FFF2-40B4-BE49-F238E27FC236}">
                  <a16:creationId xmlns:a16="http://schemas.microsoft.com/office/drawing/2014/main" id="{4BCAFF63-DB4B-C5FF-3FF1-054AF05D63AB}"/>
                </a:ext>
              </a:extLst>
            </p:cNvPr>
            <p:cNvPicPr>
              <a:picLocks noChangeAspect="1"/>
            </p:cNvPicPr>
            <p:nvPr/>
          </p:nvPicPr>
          <p:blipFill>
            <a:blip r:embed="rId9"/>
            <a:stretch>
              <a:fillRect/>
            </a:stretch>
          </p:blipFill>
          <p:spPr>
            <a:xfrm>
              <a:off x="1152144" y="3072384"/>
              <a:ext cx="749808" cy="749808"/>
            </a:xfrm>
            <a:prstGeom prst="rect">
              <a:avLst/>
            </a:prstGeom>
          </p:spPr>
        </p:pic>
        <p:pic>
          <p:nvPicPr>
            <p:cNvPr id="38" name="Picture 37" descr="iso_07.png">
              <a:extLst>
                <a:ext uri="{FF2B5EF4-FFF2-40B4-BE49-F238E27FC236}">
                  <a16:creationId xmlns:a16="http://schemas.microsoft.com/office/drawing/2014/main" id="{71C19183-6E1F-0EA0-3C45-A627C0E91BD3}"/>
                </a:ext>
              </a:extLst>
            </p:cNvPr>
            <p:cNvPicPr>
              <a:picLocks noChangeAspect="1"/>
            </p:cNvPicPr>
            <p:nvPr/>
          </p:nvPicPr>
          <p:blipFill>
            <a:blip r:embed="rId10"/>
            <a:stretch>
              <a:fillRect/>
            </a:stretch>
          </p:blipFill>
          <p:spPr>
            <a:xfrm>
              <a:off x="1152144" y="4261104"/>
              <a:ext cx="749808" cy="749808"/>
            </a:xfrm>
            <a:prstGeom prst="rect">
              <a:avLst/>
            </a:prstGeom>
          </p:spPr>
        </p:pic>
        <p:pic>
          <p:nvPicPr>
            <p:cNvPr id="39" name="Picture 38" descr="iso_08.png">
              <a:extLst>
                <a:ext uri="{FF2B5EF4-FFF2-40B4-BE49-F238E27FC236}">
                  <a16:creationId xmlns:a16="http://schemas.microsoft.com/office/drawing/2014/main" id="{74E501BA-DCBE-725E-63CD-ED46C19724E2}"/>
                </a:ext>
              </a:extLst>
            </p:cNvPr>
            <p:cNvPicPr>
              <a:picLocks noChangeAspect="1"/>
            </p:cNvPicPr>
            <p:nvPr/>
          </p:nvPicPr>
          <p:blipFill>
            <a:blip r:embed="rId11"/>
            <a:stretch>
              <a:fillRect/>
            </a:stretch>
          </p:blipFill>
          <p:spPr>
            <a:xfrm>
              <a:off x="5212079" y="3072384"/>
              <a:ext cx="749808" cy="749808"/>
            </a:xfrm>
            <a:prstGeom prst="rect">
              <a:avLst/>
            </a:prstGeom>
          </p:spPr>
        </p:pic>
        <p:pic>
          <p:nvPicPr>
            <p:cNvPr id="40" name="Picture 39" descr="iso_09.png">
              <a:extLst>
                <a:ext uri="{FF2B5EF4-FFF2-40B4-BE49-F238E27FC236}">
                  <a16:creationId xmlns:a16="http://schemas.microsoft.com/office/drawing/2014/main" id="{DBBB67FC-C12C-35FC-7EA6-70A5DDE24455}"/>
                </a:ext>
              </a:extLst>
            </p:cNvPr>
            <p:cNvPicPr>
              <a:picLocks noChangeAspect="1"/>
            </p:cNvPicPr>
            <p:nvPr/>
          </p:nvPicPr>
          <p:blipFill>
            <a:blip r:embed="rId12"/>
            <a:stretch>
              <a:fillRect/>
            </a:stretch>
          </p:blipFill>
          <p:spPr>
            <a:xfrm>
              <a:off x="5212079" y="4261104"/>
              <a:ext cx="749808" cy="749808"/>
            </a:xfrm>
            <a:prstGeom prst="rect">
              <a:avLst/>
            </a:prstGeom>
          </p:spPr>
        </p:pic>
      </p:grpSp>
    </p:spTree>
    <p:extLst>
      <p:ext uri="{BB962C8B-B14F-4D97-AF65-F5344CB8AC3E}">
        <p14:creationId xmlns:p14="http://schemas.microsoft.com/office/powerpoint/2010/main" val="271918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lIns="0" tIns="0" rIns="0" bIns="0" anchor="t">
            <a:spAutoFit/>
          </a:bodyPr>
          <a:lstStyle/>
          <a:p>
            <a:pPr algn="l"/>
            <a:r>
              <a:rPr sz="1100" b="1" i="0">
                <a:solidFill>
                  <a:srgbClr val="EAF0F6"/>
                </a:solidFill>
                <a:latin typeface="Calibri"/>
              </a:rPr>
              <a:t>THE PROBLEM</a:t>
            </a:r>
          </a:p>
        </p:txBody>
      </p:sp>
      <p:sp>
        <p:nvSpPr>
          <p:cNvPr id="6" name="TextBox 5"/>
          <p:cNvSpPr txBox="1"/>
          <p:nvPr/>
        </p:nvSpPr>
        <p:spPr>
          <a:xfrm>
            <a:off x="457200" y="446270"/>
            <a:ext cx="11292840" cy="369332"/>
          </a:xfrm>
          <a:prstGeom prst="rect">
            <a:avLst/>
          </a:prstGeom>
          <a:noFill/>
        </p:spPr>
        <p:txBody>
          <a:bodyPr wrap="square" lIns="36576" tIns="0" rIns="36576" bIns="0" anchor="ctr">
            <a:spAutoFit/>
          </a:bodyPr>
          <a:lstStyle/>
          <a:p>
            <a:pPr algn="l">
              <a:spcAft>
                <a:spcPts val="200"/>
              </a:spcAft>
            </a:pPr>
            <a:r>
              <a:rPr lang="es-ES" sz="2400" b="1" dirty="0">
                <a:solidFill>
                  <a:srgbClr val="EAF0F6"/>
                </a:solidFill>
                <a:latin typeface="Calibri"/>
              </a:rPr>
              <a:t>But </a:t>
            </a:r>
            <a:r>
              <a:rPr lang="es-ES" sz="2400" b="1" dirty="0" err="1">
                <a:solidFill>
                  <a:srgbClr val="EAF0F6"/>
                </a:solidFill>
                <a:latin typeface="Calibri"/>
              </a:rPr>
              <a:t>how</a:t>
            </a:r>
            <a:r>
              <a:rPr lang="es-ES" sz="2400" b="1" dirty="0">
                <a:solidFill>
                  <a:srgbClr val="EAF0F6"/>
                </a:solidFill>
                <a:latin typeface="Calibri"/>
              </a:rPr>
              <a:t> </a:t>
            </a:r>
            <a:r>
              <a:rPr lang="es-ES" sz="2400" b="1" dirty="0" err="1">
                <a:solidFill>
                  <a:srgbClr val="EAF0F6"/>
                </a:solidFill>
                <a:latin typeface="Calibri"/>
              </a:rPr>
              <a:t>hard</a:t>
            </a:r>
            <a:r>
              <a:rPr lang="es-ES" sz="2400" b="1" dirty="0">
                <a:solidFill>
                  <a:srgbClr val="EAF0F6"/>
                </a:solidFill>
                <a:latin typeface="Calibri"/>
              </a:rPr>
              <a:t> can </a:t>
            </a:r>
            <a:r>
              <a:rPr lang="es-ES" sz="2400" b="1" dirty="0" err="1">
                <a:solidFill>
                  <a:srgbClr val="EAF0F6"/>
                </a:solidFill>
                <a:latin typeface="Calibri"/>
              </a:rPr>
              <a:t>get</a:t>
            </a:r>
            <a:r>
              <a:rPr lang="es-ES" sz="2400" b="1" dirty="0">
                <a:solidFill>
                  <a:srgbClr val="EAF0F6"/>
                </a:solidFill>
                <a:latin typeface="Calibri"/>
              </a:rPr>
              <a:t> </a:t>
            </a:r>
            <a:r>
              <a:rPr lang="es-ES" sz="2400" b="1" dirty="0" err="1">
                <a:solidFill>
                  <a:srgbClr val="EAF0F6"/>
                </a:solidFill>
                <a:latin typeface="Calibri"/>
              </a:rPr>
              <a:t>this</a:t>
            </a:r>
            <a:r>
              <a:rPr lang="es-ES" sz="2400" b="1" dirty="0">
                <a:solidFill>
                  <a:srgbClr val="EAF0F6"/>
                </a:solidFill>
                <a:latin typeface="Calibri"/>
              </a:rPr>
              <a:t> </a:t>
            </a:r>
            <a:r>
              <a:rPr lang="es-ES" sz="2400" b="1" dirty="0" err="1">
                <a:solidFill>
                  <a:srgbClr val="EAF0F6"/>
                </a:solidFill>
                <a:latin typeface="Calibri"/>
              </a:rPr>
              <a:t>problem</a:t>
            </a:r>
            <a:r>
              <a:rPr lang="es-ES" sz="2400" b="1" dirty="0">
                <a:solidFill>
                  <a:srgbClr val="EAF0F6"/>
                </a:solidFill>
                <a:latin typeface="Calibri"/>
              </a:rPr>
              <a:t>?</a:t>
            </a:r>
            <a:endParaRPr sz="2400" b="1" i="0" dirty="0">
              <a:solidFill>
                <a:srgbClr val="EAF0F6"/>
              </a:solidFill>
              <a:latin typeface="Calibri"/>
            </a:endParaRPr>
          </a:p>
        </p:txBody>
      </p:sp>
      <p:sp>
        <p:nvSpPr>
          <p:cNvPr id="7" name="TextBox 6"/>
          <p:cNvSpPr txBox="1"/>
          <p:nvPr/>
        </p:nvSpPr>
        <p:spPr>
          <a:xfrm>
            <a:off x="457200" y="974170"/>
            <a:ext cx="11292840" cy="246221"/>
          </a:xfrm>
          <a:prstGeom prst="rect">
            <a:avLst/>
          </a:prstGeom>
          <a:noFill/>
        </p:spPr>
        <p:txBody>
          <a:bodyPr wrap="square" lIns="36576" tIns="0" rIns="36576" bIns="0" anchor="ctr">
            <a:spAutoFit/>
          </a:bodyPr>
          <a:lstStyle/>
          <a:p>
            <a:pPr>
              <a:spcAft>
                <a:spcPts val="200"/>
              </a:spcAft>
            </a:pPr>
            <a:r>
              <a:rPr lang="en-US" sz="1600" dirty="0">
                <a:solidFill>
                  <a:srgbClr val="F3B36E"/>
                </a:solidFill>
              </a:rPr>
              <a:t>And looking it up in a library barely helps.</a:t>
            </a:r>
            <a:endParaRPr lang="en-US" sz="1600" i="1" dirty="0">
              <a:solidFill>
                <a:srgbClr val="F3B36E"/>
              </a:solidFill>
            </a:endParaRPr>
          </a:p>
        </p:txBody>
      </p:sp>
      <p:sp>
        <p:nvSpPr>
          <p:cNvPr id="14" name="Rounded Rectangle 13"/>
          <p:cNvSpPr/>
          <p:nvPr/>
        </p:nvSpPr>
        <p:spPr>
          <a:xfrm>
            <a:off x="1402080" y="2939956"/>
            <a:ext cx="3246120" cy="1874519"/>
          </a:xfrm>
          <a:prstGeom prst="roundRect">
            <a:avLst/>
          </a:prstGeom>
          <a:solidFill>
            <a:srgbClr val="1C2736"/>
          </a:solidFill>
          <a:ln>
            <a:solidFill>
              <a:srgbClr val="007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93520" y="3031397"/>
            <a:ext cx="3063240" cy="640080"/>
          </a:xfrm>
          <a:prstGeom prst="rect">
            <a:avLst/>
          </a:prstGeom>
          <a:noFill/>
        </p:spPr>
        <p:txBody>
          <a:bodyPr wrap="square" lIns="36576" tIns="0" rIns="36576" bIns="0" anchor="ctr">
            <a:spAutoFit/>
          </a:bodyPr>
          <a:lstStyle/>
          <a:p>
            <a:pPr algn="ctr">
              <a:spcAft>
                <a:spcPts val="200"/>
              </a:spcAft>
            </a:pPr>
            <a:r>
              <a:rPr sz="3200" b="1">
                <a:solidFill>
                  <a:srgbClr val="F3B36E"/>
                </a:solidFill>
                <a:latin typeface="Calibri"/>
              </a:rPr>
              <a:t>2.3%</a:t>
            </a:r>
          </a:p>
        </p:txBody>
      </p:sp>
      <p:sp>
        <p:nvSpPr>
          <p:cNvPr id="16" name="TextBox 15"/>
          <p:cNvSpPr txBox="1"/>
          <p:nvPr/>
        </p:nvSpPr>
        <p:spPr>
          <a:xfrm>
            <a:off x="1493520" y="3644045"/>
            <a:ext cx="3063240" cy="1005840"/>
          </a:xfrm>
          <a:prstGeom prst="rect">
            <a:avLst/>
          </a:prstGeom>
          <a:noFill/>
        </p:spPr>
        <p:txBody>
          <a:bodyPr wrap="square" lIns="36576" tIns="0" rIns="36576" bIns="0" anchor="ctr">
            <a:spAutoFit/>
          </a:bodyPr>
          <a:lstStyle/>
          <a:p>
            <a:pPr algn="ctr">
              <a:spcAft>
                <a:spcPts val="200"/>
              </a:spcAft>
            </a:pPr>
            <a:r>
              <a:rPr sz="1300" b="0">
                <a:solidFill>
                  <a:srgbClr val="EAF0F6"/>
                </a:solidFill>
                <a:latin typeface="Calibri"/>
              </a:rPr>
              <a:t>of experimental MS/MS spectra</a:t>
            </a:r>
          </a:p>
          <a:p>
            <a:pPr algn="ctr">
              <a:spcAft>
                <a:spcPts val="200"/>
              </a:spcAft>
            </a:pPr>
            <a:r>
              <a:rPr sz="1300" b="0">
                <a:solidFill>
                  <a:srgbClr val="EAF0F6"/>
                </a:solidFill>
                <a:latin typeface="Calibri"/>
              </a:rPr>
              <a:t>are named by a GNPS library search</a:t>
            </a:r>
          </a:p>
        </p:txBody>
      </p:sp>
      <p:sp>
        <p:nvSpPr>
          <p:cNvPr id="17" name="Rectangle 16"/>
          <p:cNvSpPr/>
          <p:nvPr/>
        </p:nvSpPr>
        <p:spPr>
          <a:xfrm>
            <a:off x="0" y="6547104"/>
            <a:ext cx="12191695" cy="310896"/>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6583680"/>
            <a:ext cx="10424160" cy="237744"/>
          </a:xfrm>
          <a:prstGeom prst="rect">
            <a:avLst/>
          </a:prstGeom>
          <a:noFill/>
        </p:spPr>
        <p:txBody>
          <a:bodyPr wrap="square" lIns="0" tIns="0" rIns="0" bIns="0" anchor="t">
            <a:spAutoFit/>
          </a:bodyPr>
          <a:lstStyle/>
          <a:p>
            <a:pPr algn="l"/>
            <a:r>
              <a:rPr sz="1000" b="0" i="0">
                <a:solidFill>
                  <a:srgbClr val="EAF0F6"/>
                </a:solidFill>
                <a:latin typeface="Calibri"/>
              </a:rPr>
              <a:t>MultiCLIP   |   Ruiz-Botella, Sales-Pardo &amp; Guimerà   |   URV · ComSCIAM · ICREA</a:t>
            </a:r>
          </a:p>
        </p:txBody>
      </p:sp>
      <p:sp>
        <p:nvSpPr>
          <p:cNvPr id="19" name="TextBox 18"/>
          <p:cNvSpPr txBox="1"/>
          <p:nvPr/>
        </p:nvSpPr>
        <p:spPr>
          <a:xfrm>
            <a:off x="11109960" y="6583680"/>
            <a:ext cx="822960" cy="237744"/>
          </a:xfrm>
          <a:prstGeom prst="rect">
            <a:avLst/>
          </a:prstGeom>
          <a:noFill/>
        </p:spPr>
        <p:txBody>
          <a:bodyPr wrap="square" lIns="0" tIns="0" rIns="0" bIns="0" anchor="t">
            <a:spAutoFit/>
          </a:bodyPr>
          <a:lstStyle/>
          <a:p>
            <a:pPr algn="r"/>
            <a:r>
              <a:rPr sz="1100" b="1" i="0">
                <a:solidFill>
                  <a:srgbClr val="EAF0F6"/>
                </a:solidFill>
                <a:latin typeface="Calibri"/>
              </a:rPr>
              <a:t>03</a:t>
            </a:r>
          </a:p>
        </p:txBody>
      </p:sp>
      <p:sp>
        <p:nvSpPr>
          <p:cNvPr id="27" name="Rectangle 7">
            <a:extLst>
              <a:ext uri="{FF2B5EF4-FFF2-40B4-BE49-F238E27FC236}">
                <a16:creationId xmlns:a16="http://schemas.microsoft.com/office/drawing/2014/main" id="{277AA379-871B-2C9D-58B2-7C9039474426}"/>
              </a:ext>
            </a:extLst>
          </p:cNvPr>
          <p:cNvSpPr/>
          <p:nvPr/>
        </p:nvSpPr>
        <p:spPr>
          <a:xfrm>
            <a:off x="457200" y="822960"/>
            <a:ext cx="11292840" cy="10972"/>
          </a:xfrm>
          <a:prstGeom prst="rect">
            <a:avLst/>
          </a:prstGeom>
          <a:solidFill>
            <a:srgbClr val="D9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 name="Grupo 4">
            <a:extLst>
              <a:ext uri="{FF2B5EF4-FFF2-40B4-BE49-F238E27FC236}">
                <a16:creationId xmlns:a16="http://schemas.microsoft.com/office/drawing/2014/main" id="{017CA79F-EAFE-A063-C305-EFAB9427C577}"/>
              </a:ext>
            </a:extLst>
          </p:cNvPr>
          <p:cNvGrpSpPr/>
          <p:nvPr/>
        </p:nvGrpSpPr>
        <p:grpSpPr>
          <a:xfrm>
            <a:off x="5166359" y="1673352"/>
            <a:ext cx="6224451" cy="4210478"/>
            <a:chOff x="5166360" y="1673352"/>
            <a:chExt cx="3246120" cy="2331720"/>
          </a:xfrm>
        </p:grpSpPr>
        <p:sp>
          <p:nvSpPr>
            <p:cNvPr id="41" name="Rounded Rectangle 40"/>
            <p:cNvSpPr/>
            <p:nvPr/>
          </p:nvSpPr>
          <p:spPr>
            <a:xfrm>
              <a:off x="5166360" y="1673352"/>
              <a:ext cx="3246120" cy="2331720"/>
            </a:xfrm>
            <a:prstGeom prst="roundRect">
              <a:avLst/>
            </a:prstGeom>
            <a:solidFill>
              <a:srgbClr val="1C2736"/>
            </a:solidFill>
            <a:ln w="13970">
              <a:solidFill>
                <a:srgbClr val="007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gnps_library_grid.png"/>
            <p:cNvPicPr>
              <a:picLocks noChangeAspect="1"/>
            </p:cNvPicPr>
            <p:nvPr/>
          </p:nvPicPr>
          <p:blipFill>
            <a:blip r:embed="rId3"/>
            <a:stretch>
              <a:fillRect/>
            </a:stretch>
          </p:blipFill>
          <p:spPr>
            <a:xfrm>
              <a:off x="5440680" y="1792224"/>
              <a:ext cx="2697480" cy="1691640"/>
            </a:xfrm>
            <a:prstGeom prst="rect">
              <a:avLst/>
            </a:prstGeom>
          </p:spPr>
        </p:pic>
        <p:sp>
          <p:nvSpPr>
            <p:cNvPr id="43" name="TextBox 42"/>
            <p:cNvSpPr txBox="1"/>
            <p:nvPr/>
          </p:nvSpPr>
          <p:spPr>
            <a:xfrm>
              <a:off x="5212080" y="3835077"/>
              <a:ext cx="3154680" cy="169277"/>
            </a:xfrm>
            <a:prstGeom prst="rect">
              <a:avLst/>
            </a:prstGeom>
            <a:noFill/>
          </p:spPr>
          <p:txBody>
            <a:bodyPr wrap="square" lIns="0" tIns="0" rIns="0" bIns="0" anchor="ctr">
              <a:spAutoFit/>
            </a:bodyPr>
            <a:lstStyle/>
            <a:p>
              <a:pPr algn="ctr"/>
              <a:r>
                <a:rPr sz="1100" b="0" i="0">
                  <a:solidFill>
                    <a:srgbClr val="B9C9D9"/>
                  </a:solidFill>
                  <a:latin typeface="Calibri"/>
                </a:rPr>
                <a:t>1 in 42 spectra gets a name.  Martin et al., 2024</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IDEA</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03</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01:25–02:00</a:t>
            </a:r>
          </a:p>
        </p:txBody>
      </p:sp>
      <p:sp>
        <p:nvSpPr>
          <p:cNvPr id="12" name="TextBox 11"/>
          <p:cNvSpPr txBox="1"/>
          <p:nvPr/>
        </p:nvSpPr>
        <p:spPr>
          <a:xfrm>
            <a:off x="640080" y="1929616"/>
            <a:ext cx="10652760" cy="1938992"/>
          </a:xfrm>
          <a:prstGeom prst="rect">
            <a:avLst/>
          </a:prstGeom>
          <a:noFill/>
        </p:spPr>
        <p:txBody>
          <a:bodyPr wrap="square" anchor="t">
            <a:spAutoFit/>
          </a:bodyPr>
          <a:lstStyle/>
          <a:p>
            <a:pPr algn="ctr">
              <a:spcBef>
                <a:spcPts val="0"/>
              </a:spcBef>
              <a:spcAft>
                <a:spcPts val="0"/>
              </a:spcAft>
            </a:pPr>
            <a:r>
              <a:rPr sz="4000" b="1" i="0" dirty="0">
                <a:solidFill>
                  <a:srgbClr val="F0F4F8"/>
                </a:solidFill>
                <a:latin typeface="Calibri"/>
              </a:rPr>
              <a:t>Aligning four views of a metabolite</a:t>
            </a:r>
          </a:p>
          <a:p>
            <a:pPr algn="ctr">
              <a:spcBef>
                <a:spcPts val="0"/>
              </a:spcBef>
              <a:spcAft>
                <a:spcPts val="0"/>
              </a:spcAft>
            </a:pPr>
            <a:r>
              <a:rPr lang="es-ES" sz="4000" b="1" dirty="0" err="1">
                <a:solidFill>
                  <a:srgbClr val="F0F4F8"/>
                </a:solidFill>
                <a:latin typeface="Calibri"/>
              </a:rPr>
              <a:t>helps</a:t>
            </a:r>
            <a:r>
              <a:rPr lang="es-ES" sz="4000" b="1" dirty="0">
                <a:solidFill>
                  <a:srgbClr val="F0F4F8"/>
                </a:solidFill>
                <a:latin typeface="Calibri"/>
              </a:rPr>
              <a:t> </a:t>
            </a:r>
            <a:r>
              <a:rPr lang="es-ES" sz="4000" b="1" dirty="0" err="1">
                <a:solidFill>
                  <a:srgbClr val="F0F4F8"/>
                </a:solidFill>
                <a:latin typeface="Calibri"/>
              </a:rPr>
              <a:t>to</a:t>
            </a:r>
            <a:r>
              <a:rPr lang="es-ES" sz="4000" b="1" dirty="0">
                <a:solidFill>
                  <a:srgbClr val="F0F4F8"/>
                </a:solidFill>
                <a:latin typeface="Calibri"/>
              </a:rPr>
              <a:t> </a:t>
            </a:r>
            <a:r>
              <a:rPr lang="es-ES" sz="4000" b="1" dirty="0" err="1">
                <a:solidFill>
                  <a:srgbClr val="F0F4F8"/>
                </a:solidFill>
                <a:latin typeface="Calibri"/>
              </a:rPr>
              <a:t>identify</a:t>
            </a:r>
            <a:r>
              <a:rPr sz="4000" b="1" i="0" dirty="0">
                <a:solidFill>
                  <a:srgbClr val="F0F4F8"/>
                </a:solidFill>
                <a:latin typeface="Calibri"/>
              </a:rPr>
              <a:t> the isomer</a:t>
            </a:r>
            <a:r>
              <a:rPr lang="es-ES" sz="4000" b="1" i="0" dirty="0">
                <a:solidFill>
                  <a:srgbClr val="F0F4F8"/>
                </a:solidFill>
                <a:latin typeface="Calibri"/>
              </a:rPr>
              <a:t> </a:t>
            </a:r>
            <a:r>
              <a:rPr lang="es-ES" sz="4000" b="1" i="0" dirty="0" err="1">
                <a:solidFill>
                  <a:srgbClr val="F0F4F8"/>
                </a:solidFill>
                <a:latin typeface="Calibri"/>
              </a:rPr>
              <a:t>from</a:t>
            </a:r>
            <a:r>
              <a:rPr lang="es-ES" sz="4000" b="1" i="0" dirty="0">
                <a:solidFill>
                  <a:srgbClr val="F0F4F8"/>
                </a:solidFill>
                <a:latin typeface="Calibri"/>
              </a:rPr>
              <a:t> </a:t>
            </a:r>
            <a:r>
              <a:rPr lang="es-ES" sz="4000" b="1" i="0" dirty="0" err="1">
                <a:solidFill>
                  <a:srgbClr val="F0F4F8"/>
                </a:solidFill>
                <a:latin typeface="Calibri"/>
              </a:rPr>
              <a:t>several</a:t>
            </a:r>
            <a:r>
              <a:rPr lang="es-ES" sz="4000" b="1" i="0" dirty="0">
                <a:solidFill>
                  <a:srgbClr val="F0F4F8"/>
                </a:solidFill>
                <a:latin typeface="Calibri"/>
              </a:rPr>
              <a:t> candidates</a:t>
            </a:r>
            <a:r>
              <a:rPr sz="4000" b="1" i="0" dirty="0">
                <a:solidFill>
                  <a:srgbClr val="F0F4F8"/>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67A68-2DA4-F506-3776-C426BE8DD68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67D6D5D-B414-2F54-4313-ADB020393F3A}"/>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03</a:t>
            </a:r>
          </a:p>
        </p:txBody>
      </p:sp>
    </p:spTree>
    <p:extLst>
      <p:ext uri="{BB962C8B-B14F-4D97-AF65-F5344CB8AC3E}">
        <p14:creationId xmlns:p14="http://schemas.microsoft.com/office/powerpoint/2010/main" val="755977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59491-B17C-2660-85EB-342516B236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F5E0A77-4261-CBE2-B316-3544C432C962}"/>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03</a:t>
            </a:r>
          </a:p>
        </p:txBody>
      </p:sp>
      <p:pic>
        <p:nvPicPr>
          <p:cNvPr id="9" name="Picture 8" descr="molecule.png"/>
          <p:cNvPicPr>
            <a:picLocks noChangeAspect="1"/>
          </p:cNvPicPr>
          <p:nvPr/>
        </p:nvPicPr>
        <p:blipFill>
          <a:blip r:embed="rId3"/>
          <a:stretch>
            <a:fillRect/>
          </a:stretch>
        </p:blipFill>
        <p:spPr>
          <a:xfrm>
            <a:off x="2436723" y="106463"/>
            <a:ext cx="1947978" cy="1432995"/>
          </a:xfrm>
          <a:prstGeom prst="rect">
            <a:avLst/>
          </a:prstGeom>
        </p:spPr>
      </p:pic>
      <p:pic>
        <p:nvPicPr>
          <p:cNvPr id="11" name="Picture 10" descr="fingerprint.png"/>
          <p:cNvPicPr>
            <a:picLocks noChangeAspect="1"/>
          </p:cNvPicPr>
          <p:nvPr/>
        </p:nvPicPr>
        <p:blipFill>
          <a:blip r:embed="rId4"/>
          <a:stretch>
            <a:fillRect/>
          </a:stretch>
        </p:blipFill>
        <p:spPr>
          <a:xfrm>
            <a:off x="2591147" y="3346704"/>
            <a:ext cx="2029968" cy="1198414"/>
          </a:xfrm>
          <a:prstGeom prst="rect">
            <a:avLst/>
          </a:prstGeom>
        </p:spPr>
      </p:pic>
      <p:pic>
        <p:nvPicPr>
          <p:cNvPr id="12" name="Picture 11" descr="merged_spectrum.png"/>
          <p:cNvPicPr>
            <a:picLocks noChangeAspect="1"/>
          </p:cNvPicPr>
          <p:nvPr/>
        </p:nvPicPr>
        <p:blipFill>
          <a:blip r:embed="rId5"/>
          <a:stretch>
            <a:fillRect/>
          </a:stretch>
        </p:blipFill>
        <p:spPr>
          <a:xfrm>
            <a:off x="9395127" y="36576"/>
            <a:ext cx="1714833" cy="1012371"/>
          </a:xfrm>
          <a:prstGeom prst="rect">
            <a:avLst/>
          </a:prstGeom>
        </p:spPr>
      </p:pic>
      <p:pic>
        <p:nvPicPr>
          <p:cNvPr id="13" name="Picture 12" descr="single_spectrum.png"/>
          <p:cNvPicPr>
            <a:picLocks noChangeAspect="1"/>
          </p:cNvPicPr>
          <p:nvPr/>
        </p:nvPicPr>
        <p:blipFill>
          <a:blip r:embed="rId6"/>
          <a:stretch>
            <a:fillRect/>
          </a:stretch>
        </p:blipFill>
        <p:spPr>
          <a:xfrm>
            <a:off x="9750552" y="3319495"/>
            <a:ext cx="2029968" cy="1188274"/>
          </a:xfrm>
          <a:prstGeom prst="rect">
            <a:avLst/>
          </a:prstGeom>
        </p:spPr>
      </p:pic>
      <p:sp>
        <p:nvSpPr>
          <p:cNvPr id="14" name="TextBox 13"/>
          <p:cNvSpPr txBox="1"/>
          <p:nvPr/>
        </p:nvSpPr>
        <p:spPr>
          <a:xfrm>
            <a:off x="4160520" y="3063240"/>
            <a:ext cx="3886200" cy="457200"/>
          </a:xfrm>
          <a:prstGeom prst="rect">
            <a:avLst/>
          </a:prstGeom>
          <a:noFill/>
        </p:spPr>
        <p:txBody>
          <a:bodyPr wrap="square" lIns="0" tIns="0" rIns="0" bIns="0" anchor="ctr">
            <a:spAutoFit/>
          </a:bodyPr>
          <a:lstStyle/>
          <a:p>
            <a:pPr algn="ctr"/>
            <a:r>
              <a:rPr sz="1600" b="0" i="1" dirty="0">
                <a:solidFill>
                  <a:srgbClr val="F3B36E"/>
                </a:solidFill>
                <a:latin typeface="Calibri"/>
              </a:rPr>
              <a:t>One metabolite  ·  four views</a:t>
            </a:r>
          </a:p>
        </p:txBody>
      </p:sp>
    </p:spTree>
    <p:extLst>
      <p:ext uri="{BB962C8B-B14F-4D97-AF65-F5344CB8AC3E}">
        <p14:creationId xmlns:p14="http://schemas.microsoft.com/office/powerpoint/2010/main" val="125842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CAE9F-7A27-846F-1E95-9CB9F2EBB13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4C7F9B7-541E-4CFB-219C-56A2C8216977}"/>
              </a:ext>
            </a:extLst>
          </p:cNvPr>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A68F41A-0E90-84E5-A638-16CBBF32BEDA}"/>
              </a:ext>
            </a:extLst>
          </p:cNvPr>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IDEA</a:t>
            </a:r>
          </a:p>
        </p:txBody>
      </p:sp>
      <p:sp>
        <p:nvSpPr>
          <p:cNvPr id="5" name="Rectangle 4">
            <a:extLst>
              <a:ext uri="{FF2B5EF4-FFF2-40B4-BE49-F238E27FC236}">
                <a16:creationId xmlns:a16="http://schemas.microsoft.com/office/drawing/2014/main" id="{01F03282-5628-EA82-E977-309FDCF47BC8}"/>
              </a:ext>
            </a:extLst>
          </p:cNvPr>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1CC6D4E-3311-D52B-EC3F-6311FEED7CF9}"/>
              </a:ext>
            </a:extLst>
          </p:cNvPr>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a:extLst>
              <a:ext uri="{FF2B5EF4-FFF2-40B4-BE49-F238E27FC236}">
                <a16:creationId xmlns:a16="http://schemas.microsoft.com/office/drawing/2014/main" id="{F790E0E4-B957-F102-54C3-F103B1546F62}"/>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03</a:t>
            </a:r>
          </a:p>
        </p:txBody>
      </p:sp>
      <p:sp>
        <p:nvSpPr>
          <p:cNvPr id="8" name="TextBox 7">
            <a:extLst>
              <a:ext uri="{FF2B5EF4-FFF2-40B4-BE49-F238E27FC236}">
                <a16:creationId xmlns:a16="http://schemas.microsoft.com/office/drawing/2014/main" id="{DE337AFE-DA5A-2DB6-16B8-DB76121858EF}"/>
              </a:ext>
            </a:extLst>
          </p:cNvPr>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01:25–02:00</a:t>
            </a:r>
          </a:p>
        </p:txBody>
      </p:sp>
      <p:sp>
        <p:nvSpPr>
          <p:cNvPr id="12" name="TextBox 11">
            <a:extLst>
              <a:ext uri="{FF2B5EF4-FFF2-40B4-BE49-F238E27FC236}">
                <a16:creationId xmlns:a16="http://schemas.microsoft.com/office/drawing/2014/main" id="{9E91C391-8392-10CF-72A7-ED74052CF765}"/>
              </a:ext>
            </a:extLst>
          </p:cNvPr>
          <p:cNvSpPr txBox="1"/>
          <p:nvPr/>
        </p:nvSpPr>
        <p:spPr>
          <a:xfrm>
            <a:off x="640080" y="960120"/>
            <a:ext cx="10652760" cy="1938992"/>
          </a:xfrm>
          <a:prstGeom prst="rect">
            <a:avLst/>
          </a:prstGeom>
          <a:noFill/>
        </p:spPr>
        <p:txBody>
          <a:bodyPr wrap="square" anchor="t">
            <a:spAutoFit/>
          </a:bodyPr>
          <a:lstStyle/>
          <a:p>
            <a:pPr algn="ctr">
              <a:spcBef>
                <a:spcPts val="0"/>
              </a:spcBef>
              <a:spcAft>
                <a:spcPts val="0"/>
              </a:spcAft>
            </a:pPr>
            <a:r>
              <a:rPr sz="4000" b="1" i="0" dirty="0">
                <a:solidFill>
                  <a:srgbClr val="F0F4F8"/>
                </a:solidFill>
                <a:latin typeface="Calibri"/>
              </a:rPr>
              <a:t>Aligning four views of a metabolite</a:t>
            </a:r>
          </a:p>
          <a:p>
            <a:pPr algn="ctr">
              <a:spcBef>
                <a:spcPts val="0"/>
              </a:spcBef>
              <a:spcAft>
                <a:spcPts val="0"/>
              </a:spcAft>
            </a:pPr>
            <a:r>
              <a:rPr lang="es-ES" sz="4000" b="1" dirty="0" err="1">
                <a:solidFill>
                  <a:srgbClr val="F0F4F8"/>
                </a:solidFill>
                <a:latin typeface="Calibri"/>
              </a:rPr>
              <a:t>helps</a:t>
            </a:r>
            <a:r>
              <a:rPr lang="es-ES" sz="4000" b="1" dirty="0">
                <a:solidFill>
                  <a:srgbClr val="F0F4F8"/>
                </a:solidFill>
                <a:latin typeface="Calibri"/>
              </a:rPr>
              <a:t> </a:t>
            </a:r>
            <a:r>
              <a:rPr lang="es-ES" sz="4000" b="1" dirty="0" err="1">
                <a:solidFill>
                  <a:srgbClr val="F0F4F8"/>
                </a:solidFill>
                <a:latin typeface="Calibri"/>
              </a:rPr>
              <a:t>to</a:t>
            </a:r>
            <a:r>
              <a:rPr lang="es-ES" sz="4000" b="1" dirty="0">
                <a:solidFill>
                  <a:srgbClr val="F0F4F8"/>
                </a:solidFill>
                <a:latin typeface="Calibri"/>
              </a:rPr>
              <a:t> </a:t>
            </a:r>
            <a:r>
              <a:rPr lang="es-ES" sz="4000" b="1" dirty="0" err="1">
                <a:solidFill>
                  <a:srgbClr val="F0F4F8"/>
                </a:solidFill>
                <a:latin typeface="Calibri"/>
              </a:rPr>
              <a:t>identify</a:t>
            </a:r>
            <a:r>
              <a:rPr sz="4000" b="1" i="0" dirty="0">
                <a:solidFill>
                  <a:srgbClr val="F0F4F8"/>
                </a:solidFill>
                <a:latin typeface="Calibri"/>
              </a:rPr>
              <a:t> the isomer</a:t>
            </a:r>
            <a:r>
              <a:rPr lang="es-ES" sz="4000" b="1" i="0" dirty="0">
                <a:solidFill>
                  <a:srgbClr val="F0F4F8"/>
                </a:solidFill>
                <a:latin typeface="Calibri"/>
              </a:rPr>
              <a:t> </a:t>
            </a:r>
            <a:r>
              <a:rPr lang="es-ES" sz="4000" b="1" i="0" dirty="0" err="1">
                <a:solidFill>
                  <a:srgbClr val="F0F4F8"/>
                </a:solidFill>
                <a:latin typeface="Calibri"/>
              </a:rPr>
              <a:t>from</a:t>
            </a:r>
            <a:r>
              <a:rPr lang="es-ES" sz="4000" b="1" i="0" dirty="0">
                <a:solidFill>
                  <a:srgbClr val="F0F4F8"/>
                </a:solidFill>
                <a:latin typeface="Calibri"/>
              </a:rPr>
              <a:t> </a:t>
            </a:r>
            <a:r>
              <a:rPr lang="es-ES" sz="4000" b="1" i="0" dirty="0" err="1">
                <a:solidFill>
                  <a:srgbClr val="F0F4F8"/>
                </a:solidFill>
                <a:latin typeface="Calibri"/>
              </a:rPr>
              <a:t>several</a:t>
            </a:r>
            <a:r>
              <a:rPr lang="es-ES" sz="4000" b="1" i="0" dirty="0">
                <a:solidFill>
                  <a:srgbClr val="F0F4F8"/>
                </a:solidFill>
                <a:latin typeface="Calibri"/>
              </a:rPr>
              <a:t> candidates</a:t>
            </a:r>
            <a:r>
              <a:rPr sz="4000" b="1" i="0" dirty="0">
                <a:solidFill>
                  <a:srgbClr val="F0F4F8"/>
                </a:solidFill>
                <a:latin typeface="Calibri"/>
              </a:rPr>
              <a:t>.</a:t>
            </a:r>
          </a:p>
        </p:txBody>
      </p:sp>
      <p:sp>
        <p:nvSpPr>
          <p:cNvPr id="13" name="Rounded Rectangle 12">
            <a:extLst>
              <a:ext uri="{FF2B5EF4-FFF2-40B4-BE49-F238E27FC236}">
                <a16:creationId xmlns:a16="http://schemas.microsoft.com/office/drawing/2014/main" id="{9F7982CC-F0F1-813A-8908-6D4EC0752EC4}"/>
              </a:ext>
            </a:extLst>
          </p:cNvPr>
          <p:cNvSpPr/>
          <p:nvPr/>
        </p:nvSpPr>
        <p:spPr>
          <a:xfrm>
            <a:off x="640080" y="3520440"/>
            <a:ext cx="3429000" cy="2240280"/>
          </a:xfrm>
          <a:prstGeom prst="roundRect">
            <a:avLst>
              <a:gd name="adj" fmla="val 8000"/>
            </a:avLst>
          </a:prstGeom>
          <a:solidFill>
            <a:srgbClr val="141C28">
              <a:alpha val="76000"/>
            </a:srgbClr>
          </a:solidFill>
          <a:ln w="15875">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A21ED7CD-6A5B-99C4-AF3B-238E9EA18432}"/>
              </a:ext>
            </a:extLst>
          </p:cNvPr>
          <p:cNvSpPr txBox="1"/>
          <p:nvPr/>
        </p:nvSpPr>
        <p:spPr>
          <a:xfrm>
            <a:off x="841247" y="3703320"/>
            <a:ext cx="640080" cy="411480"/>
          </a:xfrm>
          <a:prstGeom prst="rect">
            <a:avLst/>
          </a:prstGeom>
          <a:noFill/>
        </p:spPr>
        <p:txBody>
          <a:bodyPr wrap="square" anchor="t">
            <a:spAutoFit/>
          </a:bodyPr>
          <a:lstStyle/>
          <a:p>
            <a:pPr algn="l">
              <a:spcBef>
                <a:spcPts val="0"/>
              </a:spcBef>
              <a:spcAft>
                <a:spcPts val="0"/>
              </a:spcAft>
            </a:pPr>
            <a:r>
              <a:rPr sz="2200" b="1" i="0">
                <a:solidFill>
                  <a:srgbClr val="5A9FDA"/>
                </a:solidFill>
                <a:latin typeface="Calibri"/>
              </a:rPr>
              <a:t>01</a:t>
            </a:r>
          </a:p>
        </p:txBody>
      </p:sp>
      <p:sp>
        <p:nvSpPr>
          <p:cNvPr id="15" name="TextBox 14">
            <a:extLst>
              <a:ext uri="{FF2B5EF4-FFF2-40B4-BE49-F238E27FC236}">
                <a16:creationId xmlns:a16="http://schemas.microsoft.com/office/drawing/2014/main" id="{19DA5854-09E3-9438-3AEB-DAD9E737E5CB}"/>
              </a:ext>
            </a:extLst>
          </p:cNvPr>
          <p:cNvSpPr txBox="1"/>
          <p:nvPr/>
        </p:nvSpPr>
        <p:spPr>
          <a:xfrm>
            <a:off x="1554480" y="3712463"/>
            <a:ext cx="2240280" cy="365760"/>
          </a:xfrm>
          <a:prstGeom prst="rect">
            <a:avLst/>
          </a:prstGeom>
          <a:noFill/>
        </p:spPr>
        <p:txBody>
          <a:bodyPr wrap="square" anchor="t">
            <a:spAutoFit/>
          </a:bodyPr>
          <a:lstStyle/>
          <a:p>
            <a:pPr algn="l">
              <a:spcBef>
                <a:spcPts val="0"/>
              </a:spcBef>
              <a:spcAft>
                <a:spcPts val="0"/>
              </a:spcAft>
            </a:pPr>
            <a:r>
              <a:rPr sz="1600" b="1" i="0">
                <a:solidFill>
                  <a:srgbClr val="F0F4F8"/>
                </a:solidFill>
                <a:latin typeface="Calibri"/>
              </a:rPr>
              <a:t>INPUT</a:t>
            </a:r>
          </a:p>
        </p:txBody>
      </p:sp>
      <p:sp>
        <p:nvSpPr>
          <p:cNvPr id="16" name="TextBox 15">
            <a:extLst>
              <a:ext uri="{FF2B5EF4-FFF2-40B4-BE49-F238E27FC236}">
                <a16:creationId xmlns:a16="http://schemas.microsoft.com/office/drawing/2014/main" id="{1AF243DE-E2A5-8BD1-F9AF-AA23C2895E7F}"/>
              </a:ext>
            </a:extLst>
          </p:cNvPr>
          <p:cNvSpPr txBox="1"/>
          <p:nvPr/>
        </p:nvSpPr>
        <p:spPr>
          <a:xfrm>
            <a:off x="896112" y="4480560"/>
            <a:ext cx="2926080" cy="584775"/>
          </a:xfrm>
          <a:prstGeom prst="rect">
            <a:avLst/>
          </a:prstGeom>
          <a:noFill/>
        </p:spPr>
        <p:txBody>
          <a:bodyPr wrap="square" anchor="t">
            <a:spAutoFit/>
          </a:bodyPr>
          <a:lstStyle/>
          <a:p>
            <a:pPr algn="ctr">
              <a:spcBef>
                <a:spcPts val="0"/>
              </a:spcBef>
              <a:spcAft>
                <a:spcPts val="0"/>
              </a:spcAft>
            </a:pPr>
            <a:r>
              <a:rPr sz="1600" b="0" i="0" dirty="0" err="1">
                <a:solidFill>
                  <a:srgbClr val="B9C9D9"/>
                </a:solidFill>
                <a:latin typeface="Calibri"/>
              </a:rPr>
              <a:t>Tokenise</a:t>
            </a:r>
            <a:r>
              <a:rPr sz="1600" b="0" i="0" dirty="0">
                <a:solidFill>
                  <a:srgbClr val="B9C9D9"/>
                </a:solidFill>
                <a:latin typeface="Calibri"/>
              </a:rPr>
              <a:t> </a:t>
            </a:r>
            <a:r>
              <a:rPr lang="es-ES" sz="1600" b="0" i="0" dirty="0" err="1">
                <a:solidFill>
                  <a:srgbClr val="B9C9D9"/>
                </a:solidFill>
                <a:latin typeface="Calibri"/>
              </a:rPr>
              <a:t>every</a:t>
            </a:r>
            <a:r>
              <a:rPr lang="es-ES" sz="1600" b="0" i="0" dirty="0">
                <a:solidFill>
                  <a:srgbClr val="B9C9D9"/>
                </a:solidFill>
                <a:latin typeface="Calibri"/>
              </a:rPr>
              <a:t> </a:t>
            </a:r>
            <a:r>
              <a:rPr sz="1600" b="0" i="0" dirty="0">
                <a:solidFill>
                  <a:srgbClr val="B9C9D9"/>
                </a:solidFill>
                <a:latin typeface="Calibri"/>
              </a:rPr>
              <a:t>m/z </a:t>
            </a:r>
            <a:r>
              <a:rPr lang="es-ES" sz="1600" b="0" i="0" dirty="0" err="1">
                <a:solidFill>
                  <a:srgbClr val="B9C9D9"/>
                </a:solidFill>
                <a:latin typeface="Calibri"/>
              </a:rPr>
              <a:t>peak</a:t>
            </a:r>
            <a:r>
              <a:rPr lang="es-ES" sz="1600" b="0" i="0" dirty="0">
                <a:solidFill>
                  <a:srgbClr val="B9C9D9"/>
                </a:solidFill>
                <a:latin typeface="Calibri"/>
              </a:rPr>
              <a:t> </a:t>
            </a:r>
            <a:r>
              <a:rPr sz="1600" b="0" i="0" dirty="0">
                <a:solidFill>
                  <a:srgbClr val="B9C9D9"/>
                </a:solidFill>
                <a:latin typeface="Calibri"/>
              </a:rPr>
              <a:t>directly</a:t>
            </a:r>
            <a:r>
              <a:rPr lang="es-ES" sz="1600" dirty="0">
                <a:solidFill>
                  <a:srgbClr val="B9C9D9"/>
                </a:solidFill>
                <a:latin typeface="Calibri"/>
              </a:rPr>
              <a:t>, </a:t>
            </a:r>
            <a:r>
              <a:rPr lang="es-ES" sz="1600" dirty="0" err="1">
                <a:solidFill>
                  <a:srgbClr val="B9C9D9"/>
                </a:solidFill>
                <a:latin typeface="Calibri"/>
              </a:rPr>
              <a:t>instead</a:t>
            </a:r>
            <a:r>
              <a:rPr lang="es-ES" sz="1600" dirty="0">
                <a:solidFill>
                  <a:srgbClr val="B9C9D9"/>
                </a:solidFill>
                <a:latin typeface="Calibri"/>
              </a:rPr>
              <a:t> </a:t>
            </a:r>
            <a:r>
              <a:rPr lang="es-ES" sz="1600" dirty="0" err="1">
                <a:solidFill>
                  <a:srgbClr val="B9C9D9"/>
                </a:solidFill>
                <a:latin typeface="Calibri"/>
              </a:rPr>
              <a:t>of</a:t>
            </a:r>
            <a:r>
              <a:rPr lang="es-ES" sz="1600" dirty="0">
                <a:solidFill>
                  <a:srgbClr val="B9C9D9"/>
                </a:solidFill>
                <a:latin typeface="Calibri"/>
              </a:rPr>
              <a:t> </a:t>
            </a:r>
            <a:r>
              <a:rPr lang="es-ES" sz="1600" dirty="0" err="1">
                <a:solidFill>
                  <a:srgbClr val="B9C9D9"/>
                </a:solidFill>
                <a:latin typeface="Calibri"/>
              </a:rPr>
              <a:t>current</a:t>
            </a:r>
            <a:r>
              <a:rPr lang="es-ES" sz="1600" dirty="0">
                <a:solidFill>
                  <a:srgbClr val="B9C9D9"/>
                </a:solidFill>
                <a:latin typeface="Calibri"/>
              </a:rPr>
              <a:t> </a:t>
            </a:r>
            <a:r>
              <a:rPr lang="es-ES" sz="1600" dirty="0" err="1">
                <a:solidFill>
                  <a:srgbClr val="B9C9D9"/>
                </a:solidFill>
                <a:latin typeface="Calibri"/>
              </a:rPr>
              <a:t>approaches</a:t>
            </a:r>
            <a:endParaRPr sz="1600" b="0" i="0" dirty="0">
              <a:solidFill>
                <a:srgbClr val="B9C9D9"/>
              </a:solidFill>
              <a:latin typeface="Calibri"/>
            </a:endParaRPr>
          </a:p>
        </p:txBody>
      </p:sp>
      <p:sp>
        <p:nvSpPr>
          <p:cNvPr id="17" name="Rounded Rectangle 16">
            <a:extLst>
              <a:ext uri="{FF2B5EF4-FFF2-40B4-BE49-F238E27FC236}">
                <a16:creationId xmlns:a16="http://schemas.microsoft.com/office/drawing/2014/main" id="{D1744FBD-B344-3385-0DD7-BE7FE52EF839}"/>
              </a:ext>
            </a:extLst>
          </p:cNvPr>
          <p:cNvSpPr/>
          <p:nvPr/>
        </p:nvSpPr>
        <p:spPr>
          <a:xfrm>
            <a:off x="4462272" y="3520440"/>
            <a:ext cx="3429000" cy="2240280"/>
          </a:xfrm>
          <a:prstGeom prst="roundRect">
            <a:avLst>
              <a:gd name="adj" fmla="val 8000"/>
            </a:avLst>
          </a:prstGeom>
          <a:solidFill>
            <a:srgbClr val="141C28">
              <a:alpha val="76000"/>
            </a:srgbClr>
          </a:solidFill>
          <a:ln w="15875">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7EA3EFBA-911A-FF1F-D385-185FB496CA43}"/>
              </a:ext>
            </a:extLst>
          </p:cNvPr>
          <p:cNvSpPr txBox="1"/>
          <p:nvPr/>
        </p:nvSpPr>
        <p:spPr>
          <a:xfrm>
            <a:off x="4663440" y="3703320"/>
            <a:ext cx="640080" cy="411480"/>
          </a:xfrm>
          <a:prstGeom prst="rect">
            <a:avLst/>
          </a:prstGeom>
          <a:noFill/>
        </p:spPr>
        <p:txBody>
          <a:bodyPr wrap="square" anchor="t">
            <a:spAutoFit/>
          </a:bodyPr>
          <a:lstStyle/>
          <a:p>
            <a:pPr algn="l">
              <a:spcBef>
                <a:spcPts val="0"/>
              </a:spcBef>
              <a:spcAft>
                <a:spcPts val="0"/>
              </a:spcAft>
            </a:pPr>
            <a:r>
              <a:rPr sz="2200" b="1" i="0">
                <a:solidFill>
                  <a:srgbClr val="D9873A"/>
                </a:solidFill>
                <a:latin typeface="Calibri"/>
              </a:rPr>
              <a:t>02</a:t>
            </a:r>
          </a:p>
        </p:txBody>
      </p:sp>
      <p:sp>
        <p:nvSpPr>
          <p:cNvPr id="19" name="TextBox 18">
            <a:extLst>
              <a:ext uri="{FF2B5EF4-FFF2-40B4-BE49-F238E27FC236}">
                <a16:creationId xmlns:a16="http://schemas.microsoft.com/office/drawing/2014/main" id="{AB8F8488-F403-69AC-11B5-970D1CD20642}"/>
              </a:ext>
            </a:extLst>
          </p:cNvPr>
          <p:cNvSpPr txBox="1"/>
          <p:nvPr/>
        </p:nvSpPr>
        <p:spPr>
          <a:xfrm>
            <a:off x="5376672" y="3712463"/>
            <a:ext cx="2240280" cy="365760"/>
          </a:xfrm>
          <a:prstGeom prst="rect">
            <a:avLst/>
          </a:prstGeom>
          <a:noFill/>
        </p:spPr>
        <p:txBody>
          <a:bodyPr wrap="square" anchor="t">
            <a:spAutoFit/>
          </a:bodyPr>
          <a:lstStyle/>
          <a:p>
            <a:pPr algn="l">
              <a:spcBef>
                <a:spcPts val="0"/>
              </a:spcBef>
              <a:spcAft>
                <a:spcPts val="0"/>
              </a:spcAft>
            </a:pPr>
            <a:r>
              <a:rPr sz="1600" b="1" i="0">
                <a:solidFill>
                  <a:srgbClr val="F0F4F8"/>
                </a:solidFill>
                <a:latin typeface="Calibri"/>
              </a:rPr>
              <a:t>ENGINE</a:t>
            </a:r>
          </a:p>
        </p:txBody>
      </p:sp>
      <p:sp>
        <p:nvSpPr>
          <p:cNvPr id="20" name="TextBox 19">
            <a:extLst>
              <a:ext uri="{FF2B5EF4-FFF2-40B4-BE49-F238E27FC236}">
                <a16:creationId xmlns:a16="http://schemas.microsoft.com/office/drawing/2014/main" id="{43EF9CFA-257E-CF9E-1C4B-4D26F5557E91}"/>
              </a:ext>
            </a:extLst>
          </p:cNvPr>
          <p:cNvSpPr txBox="1"/>
          <p:nvPr/>
        </p:nvSpPr>
        <p:spPr>
          <a:xfrm>
            <a:off x="4718304" y="4480560"/>
            <a:ext cx="2926080" cy="1077218"/>
          </a:xfrm>
          <a:prstGeom prst="rect">
            <a:avLst/>
          </a:prstGeom>
          <a:noFill/>
        </p:spPr>
        <p:txBody>
          <a:bodyPr wrap="square" anchor="t">
            <a:spAutoFit/>
          </a:bodyPr>
          <a:lstStyle/>
          <a:p>
            <a:pPr algn="ctr">
              <a:spcBef>
                <a:spcPts val="0"/>
              </a:spcBef>
              <a:spcAft>
                <a:spcPts val="0"/>
              </a:spcAft>
            </a:pPr>
            <a:r>
              <a:rPr sz="1600" b="0" i="0" dirty="0">
                <a:solidFill>
                  <a:srgbClr val="B9C9D9"/>
                </a:solidFill>
                <a:latin typeface="Calibri"/>
              </a:rPr>
              <a:t>Align and fuse four views</a:t>
            </a:r>
            <a:r>
              <a:rPr lang="es-ES" sz="1600" b="0" i="0" dirty="0">
                <a:solidFill>
                  <a:srgbClr val="B9C9D9"/>
                </a:solidFill>
                <a:latin typeface="Calibri"/>
              </a:rPr>
              <a:t>: </a:t>
            </a:r>
            <a:r>
              <a:rPr lang="es-ES" sz="1600" b="0" i="0" dirty="0" err="1">
                <a:solidFill>
                  <a:srgbClr val="B9C9D9"/>
                </a:solidFill>
                <a:latin typeface="Calibri"/>
              </a:rPr>
              <a:t>graph</a:t>
            </a:r>
            <a:r>
              <a:rPr lang="es-ES" sz="1600" b="0" i="0" dirty="0">
                <a:solidFill>
                  <a:srgbClr val="B9C9D9"/>
                </a:solidFill>
                <a:latin typeface="Calibri"/>
              </a:rPr>
              <a:t> </a:t>
            </a:r>
            <a:r>
              <a:rPr lang="es-ES" sz="1600" b="0" i="0" dirty="0" err="1">
                <a:solidFill>
                  <a:srgbClr val="B9C9D9"/>
                </a:solidFill>
                <a:latin typeface="Calibri"/>
              </a:rPr>
              <a:t>view</a:t>
            </a:r>
            <a:r>
              <a:rPr lang="es-ES" sz="1600" b="0" i="0" dirty="0">
                <a:solidFill>
                  <a:srgbClr val="B9C9D9"/>
                </a:solidFill>
                <a:latin typeface="Calibri"/>
              </a:rPr>
              <a:t> </a:t>
            </a:r>
            <a:r>
              <a:rPr lang="es-ES" sz="1600" b="0" i="0" dirty="0" err="1">
                <a:solidFill>
                  <a:srgbClr val="B9C9D9"/>
                </a:solidFill>
                <a:latin typeface="Calibri"/>
              </a:rPr>
              <a:t>molecule</a:t>
            </a:r>
            <a:r>
              <a:rPr lang="es-ES" sz="1600" b="0" i="0" dirty="0">
                <a:solidFill>
                  <a:srgbClr val="B9C9D9"/>
                </a:solidFill>
                <a:latin typeface="Calibri"/>
              </a:rPr>
              <a:t>, </a:t>
            </a:r>
            <a:r>
              <a:rPr lang="es-ES" sz="1600" b="0" i="0" dirty="0" err="1">
                <a:solidFill>
                  <a:srgbClr val="B9C9D9"/>
                </a:solidFill>
                <a:latin typeface="Calibri"/>
              </a:rPr>
              <a:t>fingerprints</a:t>
            </a:r>
            <a:r>
              <a:rPr lang="es-ES" sz="1600" b="0" i="0" dirty="0">
                <a:solidFill>
                  <a:srgbClr val="B9C9D9"/>
                </a:solidFill>
                <a:latin typeface="Calibri"/>
              </a:rPr>
              <a:t>, </a:t>
            </a:r>
            <a:r>
              <a:rPr lang="es-ES" sz="1600" b="0" i="0" dirty="0" err="1">
                <a:solidFill>
                  <a:srgbClr val="B9C9D9"/>
                </a:solidFill>
                <a:latin typeface="Calibri"/>
              </a:rPr>
              <a:t>merged</a:t>
            </a:r>
            <a:r>
              <a:rPr lang="es-ES" sz="1600" b="0" i="0" dirty="0">
                <a:solidFill>
                  <a:srgbClr val="B9C9D9"/>
                </a:solidFill>
                <a:latin typeface="Calibri"/>
              </a:rPr>
              <a:t> </a:t>
            </a:r>
            <a:r>
              <a:rPr lang="es-ES" sz="1600" b="0" i="0" dirty="0" err="1">
                <a:solidFill>
                  <a:srgbClr val="B9C9D9"/>
                </a:solidFill>
                <a:latin typeface="Calibri"/>
              </a:rPr>
              <a:t>spectra</a:t>
            </a:r>
            <a:r>
              <a:rPr lang="es-ES" sz="1600" b="0" i="0" dirty="0">
                <a:solidFill>
                  <a:srgbClr val="B9C9D9"/>
                </a:solidFill>
                <a:latin typeface="Calibri"/>
              </a:rPr>
              <a:t>, and single </a:t>
            </a:r>
            <a:r>
              <a:rPr lang="es-ES" sz="1600" b="0" i="0" dirty="0" err="1">
                <a:solidFill>
                  <a:srgbClr val="B9C9D9"/>
                </a:solidFill>
                <a:latin typeface="Calibri"/>
              </a:rPr>
              <a:t>spectra</a:t>
            </a:r>
            <a:r>
              <a:rPr lang="es-ES" sz="1600" b="0" i="0" dirty="0">
                <a:solidFill>
                  <a:srgbClr val="B9C9D9"/>
                </a:solidFill>
                <a:latin typeface="Calibri"/>
              </a:rPr>
              <a:t>. </a:t>
            </a:r>
            <a:endParaRPr sz="1600" b="0" i="0" dirty="0">
              <a:solidFill>
                <a:srgbClr val="B9C9D9"/>
              </a:solidFill>
              <a:latin typeface="Calibri"/>
            </a:endParaRPr>
          </a:p>
        </p:txBody>
      </p:sp>
      <p:sp>
        <p:nvSpPr>
          <p:cNvPr id="21" name="Rounded Rectangle 20">
            <a:extLst>
              <a:ext uri="{FF2B5EF4-FFF2-40B4-BE49-F238E27FC236}">
                <a16:creationId xmlns:a16="http://schemas.microsoft.com/office/drawing/2014/main" id="{164EC6A6-3B1C-3AC8-BAD5-8F7DED386724}"/>
              </a:ext>
            </a:extLst>
          </p:cNvPr>
          <p:cNvSpPr/>
          <p:nvPr/>
        </p:nvSpPr>
        <p:spPr>
          <a:xfrm>
            <a:off x="8284463" y="3520440"/>
            <a:ext cx="3429000" cy="2240280"/>
          </a:xfrm>
          <a:prstGeom prst="roundRect">
            <a:avLst>
              <a:gd name="adj" fmla="val 8000"/>
            </a:avLst>
          </a:prstGeom>
          <a:solidFill>
            <a:srgbClr val="141C28">
              <a:alpha val="76000"/>
            </a:srgbClr>
          </a:solidFill>
          <a:ln w="15875">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F78F8712-0F22-AFAA-F728-27419C1F0783}"/>
              </a:ext>
            </a:extLst>
          </p:cNvPr>
          <p:cNvSpPr txBox="1"/>
          <p:nvPr/>
        </p:nvSpPr>
        <p:spPr>
          <a:xfrm>
            <a:off x="8485632" y="3703320"/>
            <a:ext cx="640080" cy="411480"/>
          </a:xfrm>
          <a:prstGeom prst="rect">
            <a:avLst/>
          </a:prstGeom>
          <a:noFill/>
        </p:spPr>
        <p:txBody>
          <a:bodyPr wrap="square" anchor="t">
            <a:spAutoFit/>
          </a:bodyPr>
          <a:lstStyle/>
          <a:p>
            <a:pPr algn="l">
              <a:spcBef>
                <a:spcPts val="0"/>
              </a:spcBef>
              <a:spcAft>
                <a:spcPts val="0"/>
              </a:spcAft>
            </a:pPr>
            <a:r>
              <a:rPr sz="2200" b="1" i="0">
                <a:solidFill>
                  <a:srgbClr val="62C370"/>
                </a:solidFill>
                <a:latin typeface="Calibri"/>
              </a:rPr>
              <a:t>03</a:t>
            </a:r>
          </a:p>
        </p:txBody>
      </p:sp>
      <p:sp>
        <p:nvSpPr>
          <p:cNvPr id="23" name="TextBox 22">
            <a:extLst>
              <a:ext uri="{FF2B5EF4-FFF2-40B4-BE49-F238E27FC236}">
                <a16:creationId xmlns:a16="http://schemas.microsoft.com/office/drawing/2014/main" id="{D4E02F24-F676-8562-3D39-9489FB6D4A65}"/>
              </a:ext>
            </a:extLst>
          </p:cNvPr>
          <p:cNvSpPr txBox="1"/>
          <p:nvPr/>
        </p:nvSpPr>
        <p:spPr>
          <a:xfrm>
            <a:off x="9198863" y="3712463"/>
            <a:ext cx="2240280" cy="365760"/>
          </a:xfrm>
          <a:prstGeom prst="rect">
            <a:avLst/>
          </a:prstGeom>
          <a:noFill/>
        </p:spPr>
        <p:txBody>
          <a:bodyPr wrap="square" anchor="t">
            <a:spAutoFit/>
          </a:bodyPr>
          <a:lstStyle/>
          <a:p>
            <a:pPr algn="l">
              <a:spcBef>
                <a:spcPts val="0"/>
              </a:spcBef>
              <a:spcAft>
                <a:spcPts val="0"/>
              </a:spcAft>
            </a:pPr>
            <a:r>
              <a:rPr sz="1600" b="1" i="0">
                <a:solidFill>
                  <a:srgbClr val="F0F4F8"/>
                </a:solidFill>
                <a:latin typeface="Calibri"/>
              </a:rPr>
              <a:t>HORIZON</a:t>
            </a:r>
          </a:p>
        </p:txBody>
      </p:sp>
      <p:sp>
        <p:nvSpPr>
          <p:cNvPr id="24" name="TextBox 23">
            <a:extLst>
              <a:ext uri="{FF2B5EF4-FFF2-40B4-BE49-F238E27FC236}">
                <a16:creationId xmlns:a16="http://schemas.microsoft.com/office/drawing/2014/main" id="{50111C4E-6FD0-BD77-3292-CBB4CEDB6027}"/>
              </a:ext>
            </a:extLst>
          </p:cNvPr>
          <p:cNvSpPr txBox="1"/>
          <p:nvPr/>
        </p:nvSpPr>
        <p:spPr>
          <a:xfrm>
            <a:off x="8540495" y="4480560"/>
            <a:ext cx="2926080" cy="1077218"/>
          </a:xfrm>
          <a:prstGeom prst="rect">
            <a:avLst/>
          </a:prstGeom>
          <a:noFill/>
        </p:spPr>
        <p:txBody>
          <a:bodyPr wrap="square" anchor="t">
            <a:spAutoFit/>
          </a:bodyPr>
          <a:lstStyle/>
          <a:p>
            <a:pPr algn="ctr">
              <a:spcBef>
                <a:spcPts val="0"/>
              </a:spcBef>
              <a:spcAft>
                <a:spcPts val="0"/>
              </a:spcAft>
            </a:pPr>
            <a:r>
              <a:rPr sz="1600" b="0" i="0" dirty="0">
                <a:solidFill>
                  <a:srgbClr val="B9C9D9"/>
                </a:solidFill>
                <a:latin typeface="Calibri"/>
              </a:rPr>
              <a:t>Understand the latent geometry</a:t>
            </a:r>
            <a:r>
              <a:rPr lang="es-ES" sz="1600" b="0" i="0" dirty="0">
                <a:solidFill>
                  <a:srgbClr val="B9C9D9"/>
                </a:solidFill>
                <a:latin typeface="Calibri"/>
              </a:rPr>
              <a:t> </a:t>
            </a:r>
            <a:r>
              <a:rPr lang="es-ES" sz="1600" b="0" i="0" dirty="0" err="1">
                <a:solidFill>
                  <a:srgbClr val="B9C9D9"/>
                </a:solidFill>
                <a:latin typeface="Calibri"/>
              </a:rPr>
              <a:t>of</a:t>
            </a:r>
            <a:r>
              <a:rPr lang="es-ES" sz="1600" b="0" i="0" dirty="0">
                <a:solidFill>
                  <a:srgbClr val="B9C9D9"/>
                </a:solidFill>
                <a:latin typeface="Calibri"/>
              </a:rPr>
              <a:t> </a:t>
            </a:r>
            <a:r>
              <a:rPr lang="es-ES" sz="1600" b="0" i="0" dirty="0" err="1">
                <a:solidFill>
                  <a:srgbClr val="B9C9D9"/>
                </a:solidFill>
                <a:latin typeface="Calibri"/>
              </a:rPr>
              <a:t>the</a:t>
            </a:r>
            <a:r>
              <a:rPr lang="es-ES" sz="1600" b="0" i="0" dirty="0">
                <a:solidFill>
                  <a:srgbClr val="B9C9D9"/>
                </a:solidFill>
                <a:latin typeface="Calibri"/>
              </a:rPr>
              <a:t> </a:t>
            </a:r>
            <a:r>
              <a:rPr lang="es-ES" sz="1600" b="0" i="0" dirty="0" err="1">
                <a:solidFill>
                  <a:srgbClr val="B9C9D9"/>
                </a:solidFill>
                <a:latin typeface="Calibri"/>
              </a:rPr>
              <a:t>four</a:t>
            </a:r>
            <a:r>
              <a:rPr lang="es-ES" sz="1600" b="0" i="0" dirty="0">
                <a:solidFill>
                  <a:srgbClr val="B9C9D9"/>
                </a:solidFill>
                <a:latin typeface="Calibri"/>
              </a:rPr>
              <a:t> </a:t>
            </a:r>
            <a:r>
              <a:rPr lang="es-ES" sz="1600" b="0" i="0" dirty="0" err="1">
                <a:solidFill>
                  <a:srgbClr val="B9C9D9"/>
                </a:solidFill>
                <a:latin typeface="Calibri"/>
              </a:rPr>
              <a:t>views</a:t>
            </a:r>
            <a:r>
              <a:rPr lang="es-ES" sz="1600" b="0" i="0" dirty="0">
                <a:solidFill>
                  <a:srgbClr val="B9C9D9"/>
                </a:solidFill>
                <a:latin typeface="Calibri"/>
              </a:rPr>
              <a:t>, </a:t>
            </a:r>
            <a:r>
              <a:rPr lang="es-ES" sz="1600" b="0" i="0" dirty="0" err="1">
                <a:solidFill>
                  <a:srgbClr val="B9C9D9"/>
                </a:solidFill>
                <a:latin typeface="Calibri"/>
              </a:rPr>
              <a:t>to</a:t>
            </a:r>
            <a:r>
              <a:rPr lang="es-ES" sz="1600" b="0" i="0" dirty="0">
                <a:solidFill>
                  <a:srgbClr val="B9C9D9"/>
                </a:solidFill>
                <a:latin typeface="Calibri"/>
              </a:rPr>
              <a:t> </a:t>
            </a:r>
            <a:r>
              <a:rPr lang="es-ES" sz="1600" b="0" i="0" dirty="0" err="1">
                <a:solidFill>
                  <a:srgbClr val="B9C9D9"/>
                </a:solidFill>
                <a:latin typeface="Calibri"/>
              </a:rPr>
              <a:t>understand</a:t>
            </a:r>
            <a:r>
              <a:rPr lang="es-ES" sz="1600" b="0" i="0" dirty="0">
                <a:solidFill>
                  <a:srgbClr val="B9C9D9"/>
                </a:solidFill>
                <a:latin typeface="Calibri"/>
              </a:rPr>
              <a:t> </a:t>
            </a:r>
            <a:r>
              <a:rPr lang="es-ES" sz="1600" b="0" i="0" dirty="0" err="1">
                <a:solidFill>
                  <a:srgbClr val="B9C9D9"/>
                </a:solidFill>
                <a:latin typeface="Calibri"/>
              </a:rPr>
              <a:t>how</a:t>
            </a:r>
            <a:r>
              <a:rPr lang="es-ES" sz="1600" b="0" i="0" dirty="0">
                <a:solidFill>
                  <a:srgbClr val="B9C9D9"/>
                </a:solidFill>
                <a:latin typeface="Calibri"/>
              </a:rPr>
              <a:t> </a:t>
            </a:r>
            <a:r>
              <a:rPr lang="es-ES" sz="1600" b="0" i="0" dirty="0" err="1">
                <a:solidFill>
                  <a:srgbClr val="B9C9D9"/>
                </a:solidFill>
                <a:latin typeface="Calibri"/>
              </a:rPr>
              <a:t>to</a:t>
            </a:r>
            <a:r>
              <a:rPr lang="es-ES" sz="1600" b="0" i="0" dirty="0">
                <a:solidFill>
                  <a:srgbClr val="B9C9D9"/>
                </a:solidFill>
                <a:latin typeface="Calibri"/>
              </a:rPr>
              <a:t> </a:t>
            </a:r>
            <a:r>
              <a:rPr lang="es-ES" sz="1600" b="0" i="0" dirty="0" err="1">
                <a:solidFill>
                  <a:srgbClr val="B9C9D9"/>
                </a:solidFill>
                <a:latin typeface="Calibri"/>
              </a:rPr>
              <a:t>reconstruct</a:t>
            </a:r>
            <a:r>
              <a:rPr lang="es-ES" sz="1600" b="0" i="0" dirty="0">
                <a:solidFill>
                  <a:srgbClr val="B9C9D9"/>
                </a:solidFill>
                <a:latin typeface="Calibri"/>
              </a:rPr>
              <a:t> new </a:t>
            </a:r>
            <a:r>
              <a:rPr lang="es-ES" sz="1600" b="0" i="0" dirty="0" err="1">
                <a:solidFill>
                  <a:srgbClr val="B9C9D9"/>
                </a:solidFill>
                <a:latin typeface="Calibri"/>
              </a:rPr>
              <a:t>molecules</a:t>
            </a:r>
            <a:r>
              <a:rPr lang="es-ES" sz="1600" b="0" i="0" dirty="0">
                <a:solidFill>
                  <a:srgbClr val="B9C9D9"/>
                </a:solidFill>
                <a:latin typeface="Calibri"/>
              </a:rPr>
              <a:t>.</a:t>
            </a:r>
            <a:endParaRPr sz="1600" b="0" i="0" dirty="0">
              <a:solidFill>
                <a:srgbClr val="B9C9D9"/>
              </a:solidFill>
              <a:latin typeface="Calibri"/>
            </a:endParaRPr>
          </a:p>
        </p:txBody>
      </p:sp>
    </p:spTree>
    <p:extLst>
      <p:ext uri="{BB962C8B-B14F-4D97-AF65-F5344CB8AC3E}">
        <p14:creationId xmlns:p14="http://schemas.microsoft.com/office/powerpoint/2010/main" val="843258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IDEA</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02:00–02:15</a:t>
            </a:r>
          </a:p>
        </p:txBody>
      </p:sp>
      <p:sp>
        <p:nvSpPr>
          <p:cNvPr id="9" name="TextBox 8"/>
          <p:cNvSpPr txBox="1"/>
          <p:nvPr/>
        </p:nvSpPr>
        <p:spPr>
          <a:xfrm>
            <a:off x="640080" y="1564624"/>
            <a:ext cx="10881360" cy="738664"/>
          </a:xfrm>
          <a:prstGeom prst="rect">
            <a:avLst/>
          </a:prstGeom>
          <a:noFill/>
        </p:spPr>
        <p:txBody>
          <a:bodyPr wrap="square" lIns="36576" tIns="0" rIns="36576" bIns="0" anchor="ctr">
            <a:spAutoFit/>
          </a:bodyPr>
          <a:lstStyle/>
          <a:p>
            <a:pPr algn="ctr">
              <a:spcBef>
                <a:spcPts val="0"/>
              </a:spcBef>
              <a:spcAft>
                <a:spcPts val="0"/>
              </a:spcAft>
            </a:pPr>
            <a:r>
              <a:rPr sz="4800" b="1" i="0" dirty="0">
                <a:solidFill>
                  <a:srgbClr val="F0F4F8"/>
                </a:solidFill>
                <a:latin typeface="Calibri"/>
              </a:rPr>
              <a:t>How do you encode a spectrum</a:t>
            </a:r>
            <a:r>
              <a:rPr lang="es-ES" sz="4800" dirty="0">
                <a:solidFill>
                  <a:srgbClr val="F0F4F8"/>
                </a:solidFill>
                <a:latin typeface="Calibri"/>
              </a:rPr>
              <a:t>?</a:t>
            </a:r>
            <a:endParaRPr sz="4800" b="0" i="0" dirty="0">
              <a:solidFill>
                <a:srgbClr val="F0F4F8"/>
              </a:solidFill>
              <a:latin typeface="Calibri"/>
            </a:endParaRPr>
          </a:p>
        </p:txBody>
      </p:sp>
      <p:sp>
        <p:nvSpPr>
          <p:cNvPr id="11" name="Rounded Rectangle 10"/>
          <p:cNvSpPr/>
          <p:nvPr/>
        </p:nvSpPr>
        <p:spPr>
          <a:xfrm>
            <a:off x="640080" y="3520440"/>
            <a:ext cx="3429000" cy="2240280"/>
          </a:xfrm>
          <a:prstGeom prst="roundRect">
            <a:avLst>
              <a:gd name="adj" fmla="val 8000"/>
            </a:avLst>
          </a:prstGeom>
          <a:solidFill>
            <a:srgbClr val="141C28"/>
          </a:solidFill>
          <a:ln w="2032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5A9FDA"/>
                </a:solidFill>
                <a:latin typeface="Calibri"/>
              </a:rPr>
              <a:t>01</a:t>
            </a:r>
          </a:p>
        </p:txBody>
      </p:sp>
      <p:sp>
        <p:nvSpPr>
          <p:cNvPr id="13" name="TextBox 12"/>
          <p:cNvSpPr txBox="1"/>
          <p:nvPr/>
        </p:nvSpPr>
        <p:spPr>
          <a:xfrm>
            <a:off x="1554480"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F0F4F8"/>
                </a:solidFill>
                <a:latin typeface="Calibri"/>
              </a:rPr>
              <a:t>INPUT</a:t>
            </a:r>
          </a:p>
        </p:txBody>
      </p:sp>
      <p:sp>
        <p:nvSpPr>
          <p:cNvPr id="14" name="TextBox 13"/>
          <p:cNvSpPr txBox="1"/>
          <p:nvPr/>
        </p:nvSpPr>
        <p:spPr>
          <a:xfrm>
            <a:off x="896112"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B9C9D9"/>
                </a:solidFill>
                <a:latin typeface="Calibri"/>
              </a:rPr>
              <a:t>Tokenise m/z directly</a:t>
            </a:r>
          </a:p>
        </p:txBody>
      </p:sp>
      <p:sp>
        <p:nvSpPr>
          <p:cNvPr id="15" name="Rounded Rectangle 14"/>
          <p:cNvSpPr/>
          <p:nvPr/>
        </p:nvSpPr>
        <p:spPr>
          <a:xfrm>
            <a:off x="4462272"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02</a:t>
            </a:r>
          </a:p>
        </p:txBody>
      </p:sp>
      <p:sp>
        <p:nvSpPr>
          <p:cNvPr id="17" name="TextBox 16"/>
          <p:cNvSpPr txBox="1"/>
          <p:nvPr/>
        </p:nvSpPr>
        <p:spPr>
          <a:xfrm>
            <a:off x="5376672"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ENGINE</a:t>
            </a:r>
          </a:p>
        </p:txBody>
      </p:sp>
      <p:sp>
        <p:nvSpPr>
          <p:cNvPr id="18" name="TextBox 17"/>
          <p:cNvSpPr txBox="1"/>
          <p:nvPr/>
        </p:nvSpPr>
        <p:spPr>
          <a:xfrm>
            <a:off x="4718304"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Align and fuse four views</a:t>
            </a:r>
          </a:p>
        </p:txBody>
      </p:sp>
      <p:sp>
        <p:nvSpPr>
          <p:cNvPr id="19" name="Rounded Rectangle 18"/>
          <p:cNvSpPr/>
          <p:nvPr/>
        </p:nvSpPr>
        <p:spPr>
          <a:xfrm>
            <a:off x="8284464"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85632"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03</a:t>
            </a:r>
          </a:p>
        </p:txBody>
      </p:sp>
      <p:sp>
        <p:nvSpPr>
          <p:cNvPr id="21" name="TextBox 20"/>
          <p:cNvSpPr txBox="1"/>
          <p:nvPr/>
        </p:nvSpPr>
        <p:spPr>
          <a:xfrm>
            <a:off x="9198864"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HORIZON</a:t>
            </a:r>
          </a:p>
        </p:txBody>
      </p:sp>
      <p:sp>
        <p:nvSpPr>
          <p:cNvPr id="22" name="TextBox 21"/>
          <p:cNvSpPr txBox="1"/>
          <p:nvPr/>
        </p:nvSpPr>
        <p:spPr>
          <a:xfrm>
            <a:off x="8540496"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Understand the latent geometry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1  ·  INPUT</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04</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02:15–03:00</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Current methods encode spectra in three different ways</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The chemically richest tokens assume a precursor formula. The formula-free ones pay another price.</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600200"/>
            <a:ext cx="3657600" cy="4343400"/>
          </a:xfrm>
          <a:prstGeom prst="roundRect">
            <a:avLst>
              <a:gd name="adj" fmla="val 8000"/>
            </a:avLst>
          </a:prstGeom>
          <a:solidFill>
            <a:srgbClr val="141C28"/>
          </a:solidFill>
          <a:ln w="1651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1682496"/>
            <a:ext cx="3438144" cy="256032"/>
          </a:xfrm>
          <a:prstGeom prst="rect">
            <a:avLst/>
          </a:prstGeom>
          <a:noFill/>
        </p:spPr>
        <p:txBody>
          <a:bodyPr wrap="square" lIns="0" tIns="0" rIns="0" bIns="0" anchor="t">
            <a:spAutoFit/>
          </a:bodyPr>
          <a:lstStyle/>
          <a:p>
            <a:pPr algn="ctr">
              <a:spcBef>
                <a:spcPts val="0"/>
              </a:spcBef>
              <a:spcAft>
                <a:spcPts val="0"/>
              </a:spcAft>
            </a:pPr>
            <a:r>
              <a:rPr sz="1500" b="1">
                <a:solidFill>
                  <a:srgbClr val="F3B36E"/>
                </a:solidFill>
                <a:latin typeface="Calibri"/>
              </a:rPr>
              <a:t>1 Da histogram</a:t>
            </a:r>
          </a:p>
        </p:txBody>
      </p:sp>
      <p:sp>
        <p:nvSpPr>
          <p:cNvPr id="14" name="TextBox 13"/>
          <p:cNvSpPr txBox="1"/>
          <p:nvPr/>
        </p:nvSpPr>
        <p:spPr>
          <a:xfrm>
            <a:off x="566928" y="1938528"/>
            <a:ext cx="3438144" cy="219456"/>
          </a:xfrm>
          <a:prstGeom prst="rect">
            <a:avLst/>
          </a:prstGeom>
          <a:noFill/>
        </p:spPr>
        <p:txBody>
          <a:bodyPr wrap="square" lIns="0" tIns="0" rIns="0" bIns="0" anchor="t">
            <a:spAutoFit/>
          </a:bodyPr>
          <a:lstStyle/>
          <a:p>
            <a:pPr algn="ctr">
              <a:spcBef>
                <a:spcPts val="0"/>
              </a:spcBef>
              <a:spcAft>
                <a:spcPts val="0"/>
              </a:spcAft>
            </a:pPr>
            <a:r>
              <a:rPr sz="1300" b="1">
                <a:solidFill>
                  <a:srgbClr val="F0F4F8"/>
                </a:solidFill>
                <a:latin typeface="Calibri"/>
              </a:rPr>
              <a:t>JESTR</a:t>
            </a:r>
          </a:p>
        </p:txBody>
      </p:sp>
      <p:sp>
        <p:nvSpPr>
          <p:cNvPr id="15" name="Rounded Rectangle 14"/>
          <p:cNvSpPr/>
          <p:nvPr/>
        </p:nvSpPr>
        <p:spPr>
          <a:xfrm>
            <a:off x="1211580" y="2194560"/>
            <a:ext cx="2148840" cy="274320"/>
          </a:xfrm>
          <a:prstGeom prst="roundRect">
            <a:avLst>
              <a:gd name="adj" fmla="val 50000"/>
            </a:avLst>
          </a:prstGeom>
          <a:solidFill>
            <a:srgbClr val="1B2838"/>
          </a:solidFill>
          <a:ln w="13335">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11580" y="2231136"/>
            <a:ext cx="2148840" cy="201168"/>
          </a:xfrm>
          <a:prstGeom prst="rect">
            <a:avLst/>
          </a:prstGeom>
          <a:noFill/>
        </p:spPr>
        <p:txBody>
          <a:bodyPr wrap="square" lIns="0" tIns="0" rIns="0" bIns="0" anchor="ctr">
            <a:spAutoFit/>
          </a:bodyPr>
          <a:lstStyle/>
          <a:p>
            <a:pPr algn="ctr">
              <a:spcBef>
                <a:spcPts val="0"/>
              </a:spcBef>
              <a:spcAft>
                <a:spcPts val="0"/>
              </a:spcAft>
            </a:pPr>
            <a:r>
              <a:rPr sz="1100" b="1">
                <a:solidFill>
                  <a:srgbClr val="F0F4F8"/>
                </a:solidFill>
                <a:latin typeface="Calibri"/>
              </a:rPr>
              <a:t>Formula-free</a:t>
            </a:r>
          </a:p>
        </p:txBody>
      </p:sp>
      <p:sp>
        <p:nvSpPr>
          <p:cNvPr id="17" name="Rounded Rectangle 16"/>
          <p:cNvSpPr/>
          <p:nvPr/>
        </p:nvSpPr>
        <p:spPr>
          <a:xfrm>
            <a:off x="566928" y="2560320"/>
            <a:ext cx="3438144" cy="2029968"/>
          </a:xfrm>
          <a:prstGeom prst="roundRect">
            <a:avLst>
              <a:gd name="adj" fmla="val 4000"/>
            </a:avLst>
          </a:prstGeom>
          <a:solidFill>
            <a:srgbClr val="EAF0F6"/>
          </a:solidFill>
          <a:ln w="1143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3"/>
          <a:stretch>
            <a:fillRect/>
          </a:stretch>
        </p:blipFill>
        <p:spPr>
          <a:xfrm>
            <a:off x="603504" y="2596896"/>
            <a:ext cx="3364992" cy="1956816"/>
          </a:xfrm>
          <a:prstGeom prst="rect">
            <a:avLst/>
          </a:prstGeom>
        </p:spPr>
      </p:pic>
      <p:sp>
        <p:nvSpPr>
          <p:cNvPr id="19" name="TextBox 18"/>
          <p:cNvSpPr txBox="1"/>
          <p:nvPr/>
        </p:nvSpPr>
        <p:spPr>
          <a:xfrm>
            <a:off x="603504" y="4681728"/>
            <a:ext cx="3364992" cy="868680"/>
          </a:xfrm>
          <a:prstGeom prst="rect">
            <a:avLst/>
          </a:prstGeom>
          <a:noFill/>
        </p:spPr>
        <p:txBody>
          <a:bodyPr wrap="square" lIns="0" tIns="0" rIns="0" bIns="0" anchor="t">
            <a:spAutoFit/>
          </a:bodyPr>
          <a:lstStyle/>
          <a:p>
            <a:pPr algn="ctr">
              <a:spcBef>
                <a:spcPts val="0"/>
              </a:spcBef>
              <a:spcAft>
                <a:spcPts val="0"/>
              </a:spcAft>
            </a:pPr>
            <a:r>
              <a:rPr sz="1300" b="0">
                <a:solidFill>
                  <a:srgbClr val="F0F4F8"/>
                </a:solidFill>
                <a:latin typeface="Calibri"/>
              </a:rPr>
              <a:t>Exact mass is collapsed into 1,000 bins.</a:t>
            </a:r>
          </a:p>
          <a:p>
            <a:pPr algn="ctr">
              <a:spcBef>
                <a:spcPts val="0"/>
              </a:spcBef>
              <a:spcAft>
                <a:spcPts val="0"/>
              </a:spcAft>
            </a:pPr>
            <a:r>
              <a:rPr sz="1300" b="0">
                <a:solidFill>
                  <a:srgbClr val="F0F4F8"/>
                </a:solidFill>
                <a:latin typeface="Calibri"/>
              </a:rPr>
              <a:t>Isomer resolution is what you lose.</a:t>
            </a:r>
          </a:p>
        </p:txBody>
      </p:sp>
      <p:sp>
        <p:nvSpPr>
          <p:cNvPr id="20" name="Rounded Rectangle 19"/>
          <p:cNvSpPr/>
          <p:nvPr/>
        </p:nvSpPr>
        <p:spPr>
          <a:xfrm>
            <a:off x="4274820" y="1600200"/>
            <a:ext cx="3657600" cy="4343400"/>
          </a:xfrm>
          <a:prstGeom prst="roundRect">
            <a:avLst>
              <a:gd name="adj" fmla="val 8000"/>
            </a:avLst>
          </a:prstGeom>
          <a:solidFill>
            <a:srgbClr val="141C28"/>
          </a:solidFill>
          <a:ln w="1651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84548" y="1682496"/>
            <a:ext cx="3438144" cy="256032"/>
          </a:xfrm>
          <a:prstGeom prst="rect">
            <a:avLst/>
          </a:prstGeom>
          <a:noFill/>
        </p:spPr>
        <p:txBody>
          <a:bodyPr wrap="square" lIns="0" tIns="0" rIns="0" bIns="0" anchor="t">
            <a:spAutoFit/>
          </a:bodyPr>
          <a:lstStyle/>
          <a:p>
            <a:pPr algn="ctr">
              <a:spcBef>
                <a:spcPts val="0"/>
              </a:spcBef>
              <a:spcAft>
                <a:spcPts val="0"/>
              </a:spcAft>
            </a:pPr>
            <a:r>
              <a:rPr sz="1500" b="1">
                <a:solidFill>
                  <a:srgbClr val="F3B36E"/>
                </a:solidFill>
                <a:latin typeface="Calibri"/>
              </a:rPr>
              <a:t>Subformula peak tokens</a:t>
            </a:r>
          </a:p>
        </p:txBody>
      </p:sp>
      <p:sp>
        <p:nvSpPr>
          <p:cNvPr id="22" name="TextBox 21"/>
          <p:cNvSpPr txBox="1"/>
          <p:nvPr/>
        </p:nvSpPr>
        <p:spPr>
          <a:xfrm>
            <a:off x="4384548" y="1938528"/>
            <a:ext cx="3438144" cy="219456"/>
          </a:xfrm>
          <a:prstGeom prst="rect">
            <a:avLst/>
          </a:prstGeom>
          <a:noFill/>
        </p:spPr>
        <p:txBody>
          <a:bodyPr wrap="square" lIns="0" tIns="0" rIns="0" bIns="0" anchor="t">
            <a:spAutoFit/>
          </a:bodyPr>
          <a:lstStyle/>
          <a:p>
            <a:pPr algn="ctr">
              <a:spcBef>
                <a:spcPts val="0"/>
              </a:spcBef>
              <a:spcAft>
                <a:spcPts val="0"/>
              </a:spcAft>
            </a:pPr>
            <a:r>
              <a:rPr sz="1300" b="1">
                <a:solidFill>
                  <a:srgbClr val="F0F4F8"/>
                </a:solidFill>
                <a:latin typeface="Calibri"/>
              </a:rPr>
              <a:t>MIST   ·   MVP   ·   FLARE</a:t>
            </a:r>
          </a:p>
        </p:txBody>
      </p:sp>
      <p:sp>
        <p:nvSpPr>
          <p:cNvPr id="23" name="Rounded Rectangle 22"/>
          <p:cNvSpPr/>
          <p:nvPr/>
        </p:nvSpPr>
        <p:spPr>
          <a:xfrm>
            <a:off x="5029200" y="2194560"/>
            <a:ext cx="2148840" cy="274320"/>
          </a:xfrm>
          <a:prstGeom prst="roundRect">
            <a:avLst>
              <a:gd name="adj" fmla="val 50000"/>
            </a:avLst>
          </a:prstGeom>
          <a:solidFill>
            <a:srgbClr val="1B2838"/>
          </a:solidFill>
          <a:ln w="13335">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0" y="2231136"/>
            <a:ext cx="2148840" cy="201168"/>
          </a:xfrm>
          <a:prstGeom prst="rect">
            <a:avLst/>
          </a:prstGeom>
          <a:noFill/>
        </p:spPr>
        <p:txBody>
          <a:bodyPr wrap="square" lIns="0" tIns="0" rIns="0" bIns="0" anchor="ctr">
            <a:spAutoFit/>
          </a:bodyPr>
          <a:lstStyle/>
          <a:p>
            <a:pPr algn="ctr">
              <a:spcBef>
                <a:spcPts val="0"/>
              </a:spcBef>
              <a:spcAft>
                <a:spcPts val="0"/>
              </a:spcAft>
            </a:pPr>
            <a:r>
              <a:rPr sz="1100" b="1">
                <a:solidFill>
                  <a:srgbClr val="F0F4F8"/>
                </a:solidFill>
                <a:latin typeface="Calibri"/>
              </a:rPr>
              <a:t>Needs precursor formula</a:t>
            </a:r>
          </a:p>
        </p:txBody>
      </p:sp>
      <p:sp>
        <p:nvSpPr>
          <p:cNvPr id="25" name="Rounded Rectangle 24"/>
          <p:cNvSpPr/>
          <p:nvPr/>
        </p:nvSpPr>
        <p:spPr>
          <a:xfrm>
            <a:off x="4384548" y="2560320"/>
            <a:ext cx="3438144" cy="2029968"/>
          </a:xfrm>
          <a:prstGeom prst="roundRect">
            <a:avLst>
              <a:gd name="adj" fmla="val 4000"/>
            </a:avLst>
          </a:prstGeom>
          <a:solidFill>
            <a:srgbClr val="EAF0F6"/>
          </a:solidFill>
          <a:ln w="1143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png"/>
          <p:cNvPicPr>
            <a:picLocks noChangeAspect="1"/>
          </p:cNvPicPr>
          <p:nvPr/>
        </p:nvPicPr>
        <p:blipFill>
          <a:blip r:embed="rId4"/>
          <a:stretch>
            <a:fillRect/>
          </a:stretch>
        </p:blipFill>
        <p:spPr>
          <a:xfrm>
            <a:off x="4421124" y="2596896"/>
            <a:ext cx="3364992" cy="1956816"/>
          </a:xfrm>
          <a:prstGeom prst="rect">
            <a:avLst/>
          </a:prstGeom>
        </p:spPr>
      </p:pic>
      <p:sp>
        <p:nvSpPr>
          <p:cNvPr id="27" name="TextBox 26"/>
          <p:cNvSpPr txBox="1"/>
          <p:nvPr/>
        </p:nvSpPr>
        <p:spPr>
          <a:xfrm>
            <a:off x="4421124" y="4681728"/>
            <a:ext cx="3364992" cy="868680"/>
          </a:xfrm>
          <a:prstGeom prst="rect">
            <a:avLst/>
          </a:prstGeom>
          <a:noFill/>
        </p:spPr>
        <p:txBody>
          <a:bodyPr wrap="square" lIns="0" tIns="0" rIns="0" bIns="0" anchor="t">
            <a:spAutoFit/>
          </a:bodyPr>
          <a:lstStyle/>
          <a:p>
            <a:pPr algn="ctr">
              <a:spcBef>
                <a:spcPts val="0"/>
              </a:spcBef>
              <a:spcAft>
                <a:spcPts val="0"/>
              </a:spcAft>
            </a:pPr>
            <a:r>
              <a:rPr sz="1300" b="0">
                <a:solidFill>
                  <a:srgbClr val="F0F4F8"/>
                </a:solidFill>
                <a:latin typeface="Calibri"/>
              </a:rPr>
              <a:t>Each peak is labeled from the precursor formula.</a:t>
            </a:r>
          </a:p>
          <a:p>
            <a:pPr algn="ctr">
              <a:spcBef>
                <a:spcPts val="0"/>
              </a:spcBef>
              <a:spcAft>
                <a:spcPts val="0"/>
              </a:spcAft>
            </a:pPr>
            <a:r>
              <a:rPr sz="1300" b="0">
                <a:solidFill>
                  <a:srgbClr val="F0F4F8"/>
                </a:solidFill>
                <a:latin typeface="Calibri"/>
              </a:rPr>
              <a:t>A wrong formula poisons every token.</a:t>
            </a:r>
          </a:p>
        </p:txBody>
      </p:sp>
      <p:sp>
        <p:nvSpPr>
          <p:cNvPr id="28" name="Rounded Rectangle 27"/>
          <p:cNvSpPr/>
          <p:nvPr/>
        </p:nvSpPr>
        <p:spPr>
          <a:xfrm>
            <a:off x="8092440" y="1600200"/>
            <a:ext cx="3657600" cy="4343400"/>
          </a:xfrm>
          <a:prstGeom prst="roundRect">
            <a:avLst>
              <a:gd name="adj" fmla="val 8000"/>
            </a:avLst>
          </a:prstGeom>
          <a:solidFill>
            <a:srgbClr val="141C28"/>
          </a:solidFill>
          <a:ln w="16510">
            <a:solidFill>
              <a:srgbClr val="3E8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2167" y="1682496"/>
            <a:ext cx="3438144" cy="256032"/>
          </a:xfrm>
          <a:prstGeom prst="rect">
            <a:avLst/>
          </a:prstGeom>
          <a:noFill/>
        </p:spPr>
        <p:txBody>
          <a:bodyPr wrap="square" lIns="0" tIns="0" rIns="0" bIns="0" anchor="t">
            <a:spAutoFit/>
          </a:bodyPr>
          <a:lstStyle/>
          <a:p>
            <a:pPr algn="ctr">
              <a:spcBef>
                <a:spcPts val="0"/>
              </a:spcBef>
              <a:spcAft>
                <a:spcPts val="0"/>
              </a:spcAft>
            </a:pPr>
            <a:r>
              <a:rPr sz="1500" b="1">
                <a:solidFill>
                  <a:srgbClr val="F3B36E"/>
                </a:solidFill>
                <a:latin typeface="Calibri"/>
              </a:rPr>
              <a:t>Foundation embeddings</a:t>
            </a:r>
          </a:p>
        </p:txBody>
      </p:sp>
      <p:sp>
        <p:nvSpPr>
          <p:cNvPr id="30" name="TextBox 29"/>
          <p:cNvSpPr txBox="1"/>
          <p:nvPr/>
        </p:nvSpPr>
        <p:spPr>
          <a:xfrm>
            <a:off x="8202167" y="1938528"/>
            <a:ext cx="3438144" cy="219456"/>
          </a:xfrm>
          <a:prstGeom prst="rect">
            <a:avLst/>
          </a:prstGeom>
          <a:noFill/>
        </p:spPr>
        <p:txBody>
          <a:bodyPr wrap="square" lIns="0" tIns="0" rIns="0" bIns="0" anchor="t">
            <a:spAutoFit/>
          </a:bodyPr>
          <a:lstStyle/>
          <a:p>
            <a:pPr algn="ctr">
              <a:spcBef>
                <a:spcPts val="0"/>
              </a:spcBef>
              <a:spcAft>
                <a:spcPts val="0"/>
              </a:spcAft>
            </a:pPr>
            <a:r>
              <a:rPr sz="1300" b="1">
                <a:solidFill>
                  <a:srgbClr val="F0F4F8"/>
                </a:solidFill>
                <a:latin typeface="Calibri"/>
              </a:rPr>
              <a:t>MSAlign</a:t>
            </a:r>
          </a:p>
        </p:txBody>
      </p:sp>
      <p:sp>
        <p:nvSpPr>
          <p:cNvPr id="31" name="Rounded Rectangle 30"/>
          <p:cNvSpPr/>
          <p:nvPr/>
        </p:nvSpPr>
        <p:spPr>
          <a:xfrm>
            <a:off x="8846819" y="2194560"/>
            <a:ext cx="2148840" cy="274320"/>
          </a:xfrm>
          <a:prstGeom prst="roundRect">
            <a:avLst>
              <a:gd name="adj" fmla="val 50000"/>
            </a:avLst>
          </a:prstGeom>
          <a:solidFill>
            <a:srgbClr val="1B2838"/>
          </a:solidFill>
          <a:ln w="13335">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46819" y="2231136"/>
            <a:ext cx="2148840" cy="201168"/>
          </a:xfrm>
          <a:prstGeom prst="rect">
            <a:avLst/>
          </a:prstGeom>
          <a:noFill/>
        </p:spPr>
        <p:txBody>
          <a:bodyPr wrap="square" lIns="0" tIns="0" rIns="0" bIns="0" anchor="ctr">
            <a:spAutoFit/>
          </a:bodyPr>
          <a:lstStyle/>
          <a:p>
            <a:pPr algn="ctr">
              <a:spcBef>
                <a:spcPts val="0"/>
              </a:spcBef>
              <a:spcAft>
                <a:spcPts val="0"/>
              </a:spcAft>
            </a:pPr>
            <a:r>
              <a:rPr sz="1100" b="1">
                <a:solidFill>
                  <a:srgbClr val="F0F4F8"/>
                </a:solidFill>
                <a:latin typeface="Calibri"/>
              </a:rPr>
              <a:t>Formula-free</a:t>
            </a:r>
          </a:p>
        </p:txBody>
      </p:sp>
      <p:sp>
        <p:nvSpPr>
          <p:cNvPr id="33" name="Rounded Rectangle 32"/>
          <p:cNvSpPr/>
          <p:nvPr/>
        </p:nvSpPr>
        <p:spPr>
          <a:xfrm>
            <a:off x="8202167" y="2560320"/>
            <a:ext cx="3438144" cy="2029968"/>
          </a:xfrm>
          <a:prstGeom prst="roundRect">
            <a:avLst>
              <a:gd name="adj" fmla="val 4000"/>
            </a:avLst>
          </a:prstGeom>
          <a:solidFill>
            <a:srgbClr val="EAF0F6"/>
          </a:solidFill>
          <a:ln w="11430">
            <a:solidFill>
              <a:srgbClr val="3E8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msalign_foundations.png"/>
          <p:cNvPicPr>
            <a:picLocks noChangeAspect="1"/>
          </p:cNvPicPr>
          <p:nvPr/>
        </p:nvPicPr>
        <p:blipFill>
          <a:blip r:embed="rId5"/>
          <a:stretch>
            <a:fillRect/>
          </a:stretch>
        </p:blipFill>
        <p:spPr>
          <a:xfrm>
            <a:off x="8238744" y="2596896"/>
            <a:ext cx="3364992" cy="1956816"/>
          </a:xfrm>
          <a:prstGeom prst="rect">
            <a:avLst/>
          </a:prstGeom>
        </p:spPr>
      </p:pic>
      <p:sp>
        <p:nvSpPr>
          <p:cNvPr id="35" name="TextBox 34"/>
          <p:cNvSpPr txBox="1"/>
          <p:nvPr/>
        </p:nvSpPr>
        <p:spPr>
          <a:xfrm>
            <a:off x="8238744" y="4681728"/>
            <a:ext cx="3364992" cy="868680"/>
          </a:xfrm>
          <a:prstGeom prst="rect">
            <a:avLst/>
          </a:prstGeom>
          <a:noFill/>
        </p:spPr>
        <p:txBody>
          <a:bodyPr wrap="square" lIns="0" tIns="0" rIns="0" bIns="0" anchor="t">
            <a:spAutoFit/>
          </a:bodyPr>
          <a:lstStyle/>
          <a:p>
            <a:pPr algn="ctr">
              <a:spcBef>
                <a:spcPts val="0"/>
              </a:spcBef>
              <a:spcAft>
                <a:spcPts val="0"/>
              </a:spcAft>
            </a:pPr>
            <a:r>
              <a:rPr sz="1300" b="0">
                <a:solidFill>
                  <a:srgbClr val="F0F4F8"/>
                </a:solidFill>
                <a:latin typeface="Calibri"/>
              </a:rPr>
              <a:t>Frozen DreaMS + ChemBERTa, then MLPs.</a:t>
            </a:r>
          </a:p>
          <a:p>
            <a:pPr algn="ctr">
              <a:spcBef>
                <a:spcPts val="0"/>
              </a:spcBef>
              <a:spcAft>
                <a:spcPts val="0"/>
              </a:spcAft>
            </a:pPr>
            <a:r>
              <a:rPr sz="1300" b="0">
                <a:solidFill>
                  <a:srgbClr val="F0F4F8"/>
                </a:solidFill>
                <a:latin typeface="Calibri"/>
              </a:rPr>
              <a:t>No peak chemistry. No formula.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1  ·  TOKENIZER</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05</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03:00–03:45</a:t>
            </a:r>
          </a:p>
        </p:txBody>
      </p:sp>
      <p:sp>
        <p:nvSpPr>
          <p:cNvPr id="9" name="TextBox 8"/>
          <p:cNvSpPr txBox="1"/>
          <p:nvPr/>
        </p:nvSpPr>
        <p:spPr>
          <a:xfrm>
            <a:off x="457200" y="475488"/>
            <a:ext cx="11292840" cy="492443"/>
          </a:xfrm>
          <a:prstGeom prst="rect">
            <a:avLst/>
          </a:prstGeom>
          <a:noFill/>
        </p:spPr>
        <p:txBody>
          <a:bodyPr wrap="square" anchor="t">
            <a:spAutoFit/>
          </a:bodyPr>
          <a:lstStyle/>
          <a:p>
            <a:pPr algn="l">
              <a:spcBef>
                <a:spcPts val="0"/>
              </a:spcBef>
              <a:spcAft>
                <a:spcPts val="0"/>
              </a:spcAft>
            </a:pPr>
            <a:r>
              <a:rPr sz="2600" b="1" i="0" dirty="0">
                <a:solidFill>
                  <a:srgbClr val="F0F4F8"/>
                </a:solidFill>
                <a:latin typeface="Calibri"/>
              </a:rPr>
              <a:t>Build the vocabulary from recurrent</a:t>
            </a:r>
            <a:r>
              <a:rPr lang="es-ES" sz="2600" b="1" i="0" dirty="0">
                <a:solidFill>
                  <a:srgbClr val="F0F4F8"/>
                </a:solidFill>
                <a:latin typeface="Calibri"/>
              </a:rPr>
              <a:t> and informative</a:t>
            </a:r>
            <a:r>
              <a:rPr sz="2600" b="1" i="0" dirty="0">
                <a:solidFill>
                  <a:srgbClr val="F0F4F8"/>
                </a:solidFill>
                <a:latin typeface="Calibri"/>
              </a:rPr>
              <a:t> m/z peaks</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Frequency on the training corpus decides which peaks become tokens.</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84048" y="1481328"/>
            <a:ext cx="11430000" cy="4315968"/>
          </a:xfrm>
          <a:prstGeom prst="roundRect">
            <a:avLst>
              <a:gd name="adj" fmla="val 3500"/>
            </a:avLst>
          </a:prstGeom>
          <a:solidFill>
            <a:srgbClr val="EAF0F6"/>
          </a:solidFill>
          <a:ln w="11430">
            <a:solidFill>
              <a:srgbClr val="C5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okenizer_pipeline.png"/>
          <p:cNvPicPr>
            <a:picLocks noChangeAspect="1"/>
          </p:cNvPicPr>
          <p:nvPr/>
        </p:nvPicPr>
        <p:blipFill>
          <a:blip r:embed="rId3"/>
          <a:stretch>
            <a:fillRect/>
          </a:stretch>
        </p:blipFill>
        <p:spPr>
          <a:xfrm>
            <a:off x="589787" y="1687068"/>
            <a:ext cx="11018520" cy="3904487"/>
          </a:xfrm>
          <a:prstGeom prst="rect">
            <a:avLst/>
          </a:prstGeom>
        </p:spPr>
      </p:pic>
      <p:sp>
        <p:nvSpPr>
          <p:cNvPr id="14" name="TextBox 13"/>
          <p:cNvSpPr txBox="1"/>
          <p:nvPr/>
        </p:nvSpPr>
        <p:spPr>
          <a:xfrm>
            <a:off x="457200" y="5870448"/>
            <a:ext cx="11292840" cy="347472"/>
          </a:xfrm>
          <a:prstGeom prst="rect">
            <a:avLst/>
          </a:prstGeom>
          <a:noFill/>
        </p:spPr>
        <p:txBody>
          <a:bodyPr wrap="square" lIns="0" tIns="0" rIns="0" bIns="0" anchor="ctr">
            <a:spAutoFit/>
          </a:bodyPr>
          <a:lstStyle/>
          <a:p>
            <a:pPr algn="ctr"/>
            <a:r>
              <a:rPr sz="1600" b="0" i="1">
                <a:solidFill>
                  <a:srgbClr val="F3B36E"/>
                </a:solidFill>
                <a:latin typeface="Calibri"/>
              </a:rPr>
              <a:t>No precursor formula.  Training corpus 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1  ·  EVIDENCE</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06</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03:45–04:10</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The vocabulary concentrates on recurrent low-mass fragments</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Paper evidence: occupancy thresholds select compact, data-driven token sets.</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72768"/>
            <a:ext cx="7406640" cy="4663440"/>
          </a:xfrm>
          <a:prstGeom prst="roundRect">
            <a:avLst>
              <a:gd name="adj" fmla="val 8000"/>
            </a:avLst>
          </a:prstGeom>
          <a:solidFill>
            <a:srgbClr val="FFFFFF">
              <a:alpha val="97000"/>
            </a:srgbClr>
          </a:solidFill>
          <a:ln w="12700">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okenizer_evidence.png"/>
          <p:cNvPicPr>
            <a:picLocks noChangeAspect="1"/>
          </p:cNvPicPr>
          <p:nvPr/>
        </p:nvPicPr>
        <p:blipFill>
          <a:blip r:embed="rId3"/>
          <a:srcRect b="11158"/>
          <a:stretch>
            <a:fillRect/>
          </a:stretch>
        </p:blipFill>
        <p:spPr>
          <a:xfrm>
            <a:off x="579120" y="1958122"/>
            <a:ext cx="7040880" cy="3858768"/>
          </a:xfrm>
          <a:prstGeom prst="rect">
            <a:avLst/>
          </a:prstGeom>
        </p:spPr>
      </p:pic>
      <p:sp>
        <p:nvSpPr>
          <p:cNvPr id="14" name="Rounded Rectangle 13"/>
          <p:cNvSpPr/>
          <p:nvPr/>
        </p:nvSpPr>
        <p:spPr>
          <a:xfrm>
            <a:off x="8046720" y="1572768"/>
            <a:ext cx="3657600" cy="1234440"/>
          </a:xfrm>
          <a:prstGeom prst="roundRect">
            <a:avLst>
              <a:gd name="adj" fmla="val 8000"/>
            </a:avLst>
          </a:prstGeom>
          <a:solidFill>
            <a:srgbClr val="141C28">
              <a:alpha val="80000"/>
            </a:srgbClr>
          </a:solidFill>
          <a:ln w="14604">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7888" y="1682495"/>
            <a:ext cx="3246120" cy="256032"/>
          </a:xfrm>
          <a:prstGeom prst="rect">
            <a:avLst/>
          </a:prstGeom>
          <a:noFill/>
        </p:spPr>
        <p:txBody>
          <a:bodyPr wrap="square" anchor="t">
            <a:spAutoFit/>
          </a:bodyPr>
          <a:lstStyle/>
          <a:p>
            <a:pPr algn="ctr">
              <a:spcBef>
                <a:spcPts val="0"/>
              </a:spcBef>
              <a:spcAft>
                <a:spcPts val="0"/>
              </a:spcAft>
            </a:pPr>
            <a:r>
              <a:rPr sz="1200" b="1" i="0">
                <a:solidFill>
                  <a:srgbClr val="5A9FDA"/>
                </a:solidFill>
                <a:latin typeface="Calibri"/>
              </a:rPr>
              <a:t>Merged</a:t>
            </a:r>
          </a:p>
        </p:txBody>
      </p:sp>
      <p:sp>
        <p:nvSpPr>
          <p:cNvPr id="16" name="TextBox 15"/>
          <p:cNvSpPr txBox="1"/>
          <p:nvPr/>
        </p:nvSpPr>
        <p:spPr>
          <a:xfrm>
            <a:off x="8247888" y="1920240"/>
            <a:ext cx="3246120" cy="502920"/>
          </a:xfrm>
          <a:prstGeom prst="rect">
            <a:avLst/>
          </a:prstGeom>
          <a:noFill/>
        </p:spPr>
        <p:txBody>
          <a:bodyPr wrap="square" anchor="t">
            <a:spAutoFit/>
          </a:bodyPr>
          <a:lstStyle/>
          <a:p>
            <a:pPr algn="ctr">
              <a:spcBef>
                <a:spcPts val="0"/>
              </a:spcBef>
              <a:spcAft>
                <a:spcPts val="0"/>
              </a:spcAft>
            </a:pPr>
            <a:r>
              <a:rPr sz="2800" b="1" i="0">
                <a:solidFill>
                  <a:srgbClr val="F0F4F8"/>
                </a:solidFill>
                <a:latin typeface="Calibri"/>
              </a:rPr>
              <a:t>939</a:t>
            </a:r>
          </a:p>
        </p:txBody>
      </p:sp>
      <p:sp>
        <p:nvSpPr>
          <p:cNvPr id="17" name="TextBox 16"/>
          <p:cNvSpPr txBox="1"/>
          <p:nvPr/>
        </p:nvSpPr>
        <p:spPr>
          <a:xfrm>
            <a:off x="8247888" y="2441448"/>
            <a:ext cx="3246120" cy="256032"/>
          </a:xfrm>
          <a:prstGeom prst="rect">
            <a:avLst/>
          </a:prstGeom>
          <a:noFill/>
        </p:spPr>
        <p:txBody>
          <a:bodyPr wrap="square" anchor="t">
            <a:spAutoFit/>
          </a:bodyPr>
          <a:lstStyle/>
          <a:p>
            <a:pPr algn="ctr">
              <a:spcBef>
                <a:spcPts val="0"/>
              </a:spcBef>
              <a:spcAft>
                <a:spcPts val="0"/>
              </a:spcAft>
            </a:pPr>
            <a:r>
              <a:rPr sz="1200" b="0" i="0">
                <a:solidFill>
                  <a:srgbClr val="B9C9D9"/>
                </a:solidFill>
                <a:latin typeface="Calibri"/>
              </a:rPr>
              <a:t>tokens  ·  ≥ 2.5%</a:t>
            </a:r>
          </a:p>
        </p:txBody>
      </p:sp>
      <p:sp>
        <p:nvSpPr>
          <p:cNvPr id="18" name="Rounded Rectangle 17"/>
          <p:cNvSpPr/>
          <p:nvPr/>
        </p:nvSpPr>
        <p:spPr>
          <a:xfrm>
            <a:off x="8046720" y="2990088"/>
            <a:ext cx="3657600" cy="1234440"/>
          </a:xfrm>
          <a:prstGeom prst="roundRect">
            <a:avLst>
              <a:gd name="adj" fmla="val 8000"/>
            </a:avLst>
          </a:prstGeom>
          <a:solidFill>
            <a:srgbClr val="141C28">
              <a:alpha val="80000"/>
            </a:srgbClr>
          </a:solidFill>
          <a:ln w="14604">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7888" y="3099816"/>
            <a:ext cx="3246120" cy="256032"/>
          </a:xfrm>
          <a:prstGeom prst="rect">
            <a:avLst/>
          </a:prstGeom>
          <a:noFill/>
        </p:spPr>
        <p:txBody>
          <a:bodyPr wrap="square" anchor="t">
            <a:spAutoFit/>
          </a:bodyPr>
          <a:lstStyle/>
          <a:p>
            <a:pPr algn="ctr">
              <a:spcBef>
                <a:spcPts val="0"/>
              </a:spcBef>
              <a:spcAft>
                <a:spcPts val="0"/>
              </a:spcAft>
            </a:pPr>
            <a:r>
              <a:rPr sz="1200" b="1" i="0">
                <a:solidFill>
                  <a:srgbClr val="D9873A"/>
                </a:solidFill>
                <a:latin typeface="Calibri"/>
              </a:rPr>
              <a:t>Single</a:t>
            </a:r>
          </a:p>
        </p:txBody>
      </p:sp>
      <p:sp>
        <p:nvSpPr>
          <p:cNvPr id="20" name="TextBox 19"/>
          <p:cNvSpPr txBox="1"/>
          <p:nvPr/>
        </p:nvSpPr>
        <p:spPr>
          <a:xfrm>
            <a:off x="8247888" y="3337560"/>
            <a:ext cx="3246120" cy="502920"/>
          </a:xfrm>
          <a:prstGeom prst="rect">
            <a:avLst/>
          </a:prstGeom>
          <a:noFill/>
        </p:spPr>
        <p:txBody>
          <a:bodyPr wrap="square" anchor="t">
            <a:spAutoFit/>
          </a:bodyPr>
          <a:lstStyle/>
          <a:p>
            <a:pPr algn="ctr">
              <a:spcBef>
                <a:spcPts val="0"/>
              </a:spcBef>
              <a:spcAft>
                <a:spcPts val="0"/>
              </a:spcAft>
            </a:pPr>
            <a:r>
              <a:rPr sz="2800" b="1" i="0">
                <a:solidFill>
                  <a:srgbClr val="F0F4F8"/>
                </a:solidFill>
                <a:latin typeface="Calibri"/>
              </a:rPr>
              <a:t>780</a:t>
            </a:r>
          </a:p>
        </p:txBody>
      </p:sp>
      <p:sp>
        <p:nvSpPr>
          <p:cNvPr id="21" name="TextBox 20"/>
          <p:cNvSpPr txBox="1"/>
          <p:nvPr/>
        </p:nvSpPr>
        <p:spPr>
          <a:xfrm>
            <a:off x="8247888" y="3858768"/>
            <a:ext cx="3246120" cy="256032"/>
          </a:xfrm>
          <a:prstGeom prst="rect">
            <a:avLst/>
          </a:prstGeom>
          <a:noFill/>
        </p:spPr>
        <p:txBody>
          <a:bodyPr wrap="square" anchor="t">
            <a:spAutoFit/>
          </a:bodyPr>
          <a:lstStyle/>
          <a:p>
            <a:pPr algn="ctr">
              <a:spcBef>
                <a:spcPts val="0"/>
              </a:spcBef>
              <a:spcAft>
                <a:spcPts val="0"/>
              </a:spcAft>
            </a:pPr>
            <a:r>
              <a:rPr sz="1200" b="0" i="0">
                <a:solidFill>
                  <a:srgbClr val="B9C9D9"/>
                </a:solidFill>
                <a:latin typeface="Calibri"/>
              </a:rPr>
              <a:t>tokens  ·  ≥ 1.0%</a:t>
            </a:r>
          </a:p>
        </p:txBody>
      </p:sp>
      <p:sp>
        <p:nvSpPr>
          <p:cNvPr id="22" name="Rounded Rectangle 21"/>
          <p:cNvSpPr/>
          <p:nvPr/>
        </p:nvSpPr>
        <p:spPr>
          <a:xfrm>
            <a:off x="8046720" y="4407408"/>
            <a:ext cx="3657600" cy="1234440"/>
          </a:xfrm>
          <a:prstGeom prst="roundRect">
            <a:avLst>
              <a:gd name="adj" fmla="val 8000"/>
            </a:avLst>
          </a:prstGeom>
          <a:solidFill>
            <a:srgbClr val="141C28">
              <a:alpha val="80000"/>
            </a:srgbClr>
          </a:solidFill>
          <a:ln w="14604">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47888" y="4517136"/>
            <a:ext cx="3246120" cy="256032"/>
          </a:xfrm>
          <a:prstGeom prst="rect">
            <a:avLst/>
          </a:prstGeom>
          <a:noFill/>
        </p:spPr>
        <p:txBody>
          <a:bodyPr wrap="square" anchor="t">
            <a:spAutoFit/>
          </a:bodyPr>
          <a:lstStyle/>
          <a:p>
            <a:pPr algn="ctr">
              <a:spcBef>
                <a:spcPts val="0"/>
              </a:spcBef>
              <a:spcAft>
                <a:spcPts val="0"/>
              </a:spcAft>
            </a:pPr>
            <a:r>
              <a:rPr sz="1200" b="1" i="0">
                <a:solidFill>
                  <a:srgbClr val="62C370"/>
                </a:solidFill>
                <a:latin typeface="Calibri"/>
              </a:rPr>
              <a:t>Coverage</a:t>
            </a:r>
          </a:p>
        </p:txBody>
      </p:sp>
      <p:sp>
        <p:nvSpPr>
          <p:cNvPr id="24" name="TextBox 23"/>
          <p:cNvSpPr txBox="1"/>
          <p:nvPr/>
        </p:nvSpPr>
        <p:spPr>
          <a:xfrm>
            <a:off x="8247888" y="4754880"/>
            <a:ext cx="3246120" cy="502920"/>
          </a:xfrm>
          <a:prstGeom prst="rect">
            <a:avLst/>
          </a:prstGeom>
          <a:noFill/>
        </p:spPr>
        <p:txBody>
          <a:bodyPr wrap="square" anchor="t">
            <a:spAutoFit/>
          </a:bodyPr>
          <a:lstStyle/>
          <a:p>
            <a:pPr algn="ctr">
              <a:spcBef>
                <a:spcPts val="0"/>
              </a:spcBef>
              <a:spcAft>
                <a:spcPts val="0"/>
              </a:spcAft>
            </a:pPr>
            <a:r>
              <a:rPr sz="2800" b="1" i="0">
                <a:solidFill>
                  <a:srgbClr val="F0F4F8"/>
                </a:solidFill>
                <a:latin typeface="Calibri"/>
              </a:rPr>
              <a:t>33%</a:t>
            </a:r>
          </a:p>
        </p:txBody>
      </p:sp>
      <p:sp>
        <p:nvSpPr>
          <p:cNvPr id="25" name="TextBox 24"/>
          <p:cNvSpPr txBox="1"/>
          <p:nvPr/>
        </p:nvSpPr>
        <p:spPr>
          <a:xfrm>
            <a:off x="8247888" y="5276088"/>
            <a:ext cx="3246120" cy="256032"/>
          </a:xfrm>
          <a:prstGeom prst="rect">
            <a:avLst/>
          </a:prstGeom>
          <a:noFill/>
        </p:spPr>
        <p:txBody>
          <a:bodyPr wrap="square" anchor="t">
            <a:spAutoFit/>
          </a:bodyPr>
          <a:lstStyle/>
          <a:p>
            <a:pPr algn="ctr">
              <a:spcBef>
                <a:spcPts val="0"/>
              </a:spcBef>
              <a:spcAft>
                <a:spcPts val="0"/>
              </a:spcAft>
            </a:pPr>
            <a:r>
              <a:rPr sz="1200" b="0" i="0">
                <a:solidFill>
                  <a:srgbClr val="B9C9D9"/>
                </a:solidFill>
                <a:latin typeface="Calibri"/>
              </a:rPr>
              <a:t>of peak occurrences</a:t>
            </a:r>
          </a:p>
        </p:txBody>
      </p:sp>
      <p:sp>
        <p:nvSpPr>
          <p:cNvPr id="26" name="TextBox 25"/>
          <p:cNvSpPr txBox="1"/>
          <p:nvPr/>
        </p:nvSpPr>
        <p:spPr>
          <a:xfrm>
            <a:off x="8138160" y="5760720"/>
            <a:ext cx="3794760" cy="292388"/>
          </a:xfrm>
          <a:prstGeom prst="rect">
            <a:avLst/>
          </a:prstGeom>
          <a:noFill/>
        </p:spPr>
        <p:txBody>
          <a:bodyPr wrap="square" anchor="t">
            <a:spAutoFit/>
          </a:bodyPr>
          <a:lstStyle/>
          <a:p>
            <a:pPr algn="ctr">
              <a:spcBef>
                <a:spcPts val="0"/>
              </a:spcBef>
              <a:spcAft>
                <a:spcPts val="0"/>
              </a:spcAft>
            </a:pPr>
            <a:r>
              <a:rPr sz="1300" b="1" i="0" dirty="0">
                <a:solidFill>
                  <a:srgbClr val="F3B36E"/>
                </a:solidFill>
                <a:latin typeface="Calibri"/>
              </a:rPr>
              <a:t>No precursor-dependent </a:t>
            </a:r>
            <a:r>
              <a:rPr sz="1300" b="1" i="0" dirty="0" err="1">
                <a:solidFill>
                  <a:srgbClr val="F3B36E"/>
                </a:solidFill>
                <a:latin typeface="Calibri"/>
              </a:rPr>
              <a:t>subformulae</a:t>
            </a:r>
            <a:r>
              <a:rPr sz="1300" b="1" i="0" dirty="0">
                <a:solidFill>
                  <a:srgbClr val="F3B36E"/>
                </a:solidFill>
                <a:latin typeface="Calibr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1  ·  EXAMPLE</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06</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04:10–04:25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Vocabulary filtering on one molecule</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In-vocabulary peaks stay as tokens — rare peaks, and the precursor, drop out.</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72768"/>
            <a:ext cx="3246120" cy="4663440"/>
          </a:xfrm>
          <a:prstGeom prst="roundRect">
            <a:avLst>
              <a:gd name="adj" fmla="val 8000"/>
            </a:avLst>
          </a:prstGeom>
          <a:solidFill>
            <a:srgbClr val="141C28"/>
          </a:solidFill>
          <a:ln w="1524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66928" y="1755648"/>
            <a:ext cx="2935224" cy="1212074"/>
          </a:xfrm>
          <a:prstGeom prst="roundRect">
            <a:avLst>
              <a:gd name="adj" fmla="val 8000"/>
            </a:avLst>
          </a:prstGeom>
          <a:solidFill>
            <a:srgbClr val="EAF0F6"/>
          </a:solidFill>
          <a:ln w="10160">
            <a:solidFill>
              <a:srgbClr val="C5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oljw_molecule.png"/>
          <p:cNvPicPr>
            <a:picLocks noChangeAspect="1"/>
          </p:cNvPicPr>
          <p:nvPr/>
        </p:nvPicPr>
        <p:blipFill>
          <a:blip r:embed="rId3"/>
          <a:stretch>
            <a:fillRect/>
          </a:stretch>
        </p:blipFill>
        <p:spPr>
          <a:xfrm>
            <a:off x="658368" y="1883664"/>
            <a:ext cx="2752344" cy="956042"/>
          </a:xfrm>
          <a:prstGeom prst="rect">
            <a:avLst/>
          </a:prstGeom>
        </p:spPr>
      </p:pic>
      <p:sp>
        <p:nvSpPr>
          <p:cNvPr id="15" name="TextBox 14"/>
          <p:cNvSpPr txBox="1"/>
          <p:nvPr/>
        </p:nvSpPr>
        <p:spPr>
          <a:xfrm>
            <a:off x="566928" y="3273552"/>
            <a:ext cx="2935224" cy="329184"/>
          </a:xfrm>
          <a:prstGeom prst="rect">
            <a:avLst/>
          </a:prstGeom>
          <a:noFill/>
        </p:spPr>
        <p:txBody>
          <a:bodyPr wrap="square" lIns="36576" tIns="0" rIns="36576" bIns="0" anchor="t">
            <a:spAutoFit/>
          </a:bodyPr>
          <a:lstStyle/>
          <a:p>
            <a:pPr algn="ctr">
              <a:spcAft>
                <a:spcPts val="200"/>
              </a:spcAft>
            </a:pPr>
            <a:r>
              <a:rPr sz="1800" b="1" i="0">
                <a:solidFill>
                  <a:srgbClr val="F0F4F8"/>
                </a:solidFill>
                <a:latin typeface="Calibri"/>
              </a:rPr>
              <a:t>C₁₉H₂₁N₅S</a:t>
            </a:r>
          </a:p>
        </p:txBody>
      </p:sp>
      <p:sp>
        <p:nvSpPr>
          <p:cNvPr id="19" name="Rounded Rectangle 18"/>
          <p:cNvSpPr/>
          <p:nvPr/>
        </p:nvSpPr>
        <p:spPr>
          <a:xfrm>
            <a:off x="3822191" y="1572768"/>
            <a:ext cx="7927848" cy="4663440"/>
          </a:xfrm>
          <a:prstGeom prst="roundRect">
            <a:avLst>
              <a:gd name="adj" fmla="val 8000"/>
            </a:avLst>
          </a:prstGeom>
          <a:solidFill>
            <a:srgbClr val="EAF0F6"/>
          </a:solidFill>
          <a:ln w="11430">
            <a:solidFill>
              <a:srgbClr val="C5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panel_d_spectra.png"/>
          <p:cNvPicPr>
            <a:picLocks noChangeAspect="1"/>
          </p:cNvPicPr>
          <p:nvPr/>
        </p:nvPicPr>
        <p:blipFill>
          <a:blip r:embed="rId4"/>
          <a:stretch>
            <a:fillRect/>
          </a:stretch>
        </p:blipFill>
        <p:spPr>
          <a:xfrm>
            <a:off x="3968496" y="1719072"/>
            <a:ext cx="7635240" cy="3904487"/>
          </a:xfrm>
          <a:prstGeom prst="rect">
            <a:avLst/>
          </a:prstGeom>
        </p:spPr>
      </p:pic>
      <p:sp>
        <p:nvSpPr>
          <p:cNvPr id="21" name="TextBox 20"/>
          <p:cNvSpPr txBox="1"/>
          <p:nvPr/>
        </p:nvSpPr>
        <p:spPr>
          <a:xfrm>
            <a:off x="3931920" y="5687568"/>
            <a:ext cx="7680960" cy="384048"/>
          </a:xfrm>
          <a:prstGeom prst="rect">
            <a:avLst/>
          </a:prstGeom>
          <a:noFill/>
        </p:spPr>
        <p:txBody>
          <a:bodyPr wrap="square" lIns="36576" tIns="0" rIns="36576" bIns="0" anchor="ctr">
            <a:spAutoFit/>
          </a:bodyPr>
          <a:lstStyle/>
          <a:p>
            <a:pPr algn="ctr">
              <a:spcAft>
                <a:spcPts val="200"/>
              </a:spcAft>
            </a:pPr>
            <a:r>
              <a:rPr sz="1500" b="0" i="1">
                <a:solidFill>
                  <a:srgbClr val="4A5568"/>
                </a:solidFill>
                <a:latin typeface="Calibri"/>
              </a:rPr>
              <a:t>The grey peak near m/z 352 is the precursor ion — discarded as out of vocabulary.</a:t>
            </a:r>
          </a:p>
        </p:txBody>
      </p:sp>
      <p:sp>
        <p:nvSpPr>
          <p:cNvPr id="22" name="Rounded Rectangle 21"/>
          <p:cNvSpPr/>
          <p:nvPr/>
        </p:nvSpPr>
        <p:spPr>
          <a:xfrm>
            <a:off x="566928" y="3767328"/>
            <a:ext cx="2935224" cy="841248"/>
          </a:xfrm>
          <a:prstGeom prst="roundRect">
            <a:avLst>
              <a:gd name="adj" fmla="val 12000"/>
            </a:avLst>
          </a:prstGeom>
          <a:solidFill>
            <a:srgbClr val="1C2736"/>
          </a:solidFill>
          <a:ln w="1143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6656" y="3822191"/>
            <a:ext cx="2743200" cy="256032"/>
          </a:xfrm>
          <a:prstGeom prst="rect">
            <a:avLst/>
          </a:prstGeom>
          <a:noFill/>
        </p:spPr>
        <p:txBody>
          <a:bodyPr wrap="square" lIns="36576" tIns="0" rIns="36576" bIns="0" anchor="ctr">
            <a:spAutoFit/>
          </a:bodyPr>
          <a:lstStyle/>
          <a:p>
            <a:pPr algn="ctr"/>
            <a:r>
              <a:rPr sz="1300" b="0" i="0">
                <a:solidFill>
                  <a:srgbClr val="B9C9D9"/>
                </a:solidFill>
                <a:latin typeface="Calibri"/>
              </a:rPr>
              <a:t>Merged</a:t>
            </a:r>
          </a:p>
        </p:txBody>
      </p:sp>
      <p:sp>
        <p:nvSpPr>
          <p:cNvPr id="24" name="TextBox 23"/>
          <p:cNvSpPr txBox="1"/>
          <p:nvPr/>
        </p:nvSpPr>
        <p:spPr>
          <a:xfrm>
            <a:off x="676656" y="4059936"/>
            <a:ext cx="2743200" cy="438912"/>
          </a:xfrm>
          <a:prstGeom prst="rect">
            <a:avLst/>
          </a:prstGeom>
          <a:noFill/>
        </p:spPr>
        <p:txBody>
          <a:bodyPr wrap="square" lIns="36576" tIns="0" rIns="36576" bIns="0" anchor="ctr">
            <a:spAutoFit/>
          </a:bodyPr>
          <a:lstStyle/>
          <a:p>
            <a:pPr algn="ctr"/>
            <a:r>
              <a:rPr sz="2200" b="1" i="0">
                <a:solidFill>
                  <a:srgbClr val="F3B36E"/>
                </a:solidFill>
                <a:latin typeface="Calibri"/>
              </a:rPr>
              <a:t>23 tokens</a:t>
            </a:r>
          </a:p>
        </p:txBody>
      </p:sp>
      <p:sp>
        <p:nvSpPr>
          <p:cNvPr id="25" name="Rounded Rectangle 24"/>
          <p:cNvSpPr/>
          <p:nvPr/>
        </p:nvSpPr>
        <p:spPr>
          <a:xfrm>
            <a:off x="566928" y="4718304"/>
            <a:ext cx="2935224" cy="841248"/>
          </a:xfrm>
          <a:prstGeom prst="roundRect">
            <a:avLst>
              <a:gd name="adj" fmla="val 12000"/>
            </a:avLst>
          </a:prstGeom>
          <a:solidFill>
            <a:srgbClr val="1C2736"/>
          </a:solidFill>
          <a:ln w="1143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6656" y="4773168"/>
            <a:ext cx="2743200" cy="256032"/>
          </a:xfrm>
          <a:prstGeom prst="rect">
            <a:avLst/>
          </a:prstGeom>
          <a:noFill/>
        </p:spPr>
        <p:txBody>
          <a:bodyPr wrap="square" lIns="36576" tIns="0" rIns="36576" bIns="0" anchor="ctr">
            <a:spAutoFit/>
          </a:bodyPr>
          <a:lstStyle/>
          <a:p>
            <a:pPr algn="ctr"/>
            <a:r>
              <a:rPr sz="1300" b="0" i="0">
                <a:solidFill>
                  <a:srgbClr val="B9C9D9"/>
                </a:solidFill>
                <a:latin typeface="Calibri"/>
              </a:rPr>
              <a:t>Single</a:t>
            </a:r>
          </a:p>
        </p:txBody>
      </p:sp>
      <p:sp>
        <p:nvSpPr>
          <p:cNvPr id="27" name="TextBox 26"/>
          <p:cNvSpPr txBox="1"/>
          <p:nvPr/>
        </p:nvSpPr>
        <p:spPr>
          <a:xfrm>
            <a:off x="676656" y="5010912"/>
            <a:ext cx="2743200" cy="438912"/>
          </a:xfrm>
          <a:prstGeom prst="rect">
            <a:avLst/>
          </a:prstGeom>
          <a:noFill/>
        </p:spPr>
        <p:txBody>
          <a:bodyPr wrap="square" lIns="36576" tIns="0" rIns="36576" bIns="0" anchor="ctr">
            <a:spAutoFit/>
          </a:bodyPr>
          <a:lstStyle/>
          <a:p>
            <a:pPr algn="ctr"/>
            <a:r>
              <a:rPr sz="2200" b="1" i="0">
                <a:solidFill>
                  <a:srgbClr val="F3B36E"/>
                </a:solidFill>
                <a:latin typeface="Calibri"/>
              </a:rPr>
              <a:t>17 tokens</a:t>
            </a:r>
          </a:p>
        </p:txBody>
      </p:sp>
      <p:sp>
        <p:nvSpPr>
          <p:cNvPr id="28" name="TextBox 27"/>
          <p:cNvSpPr txBox="1"/>
          <p:nvPr/>
        </p:nvSpPr>
        <p:spPr>
          <a:xfrm>
            <a:off x="566928" y="5650992"/>
            <a:ext cx="2935224" cy="347472"/>
          </a:xfrm>
          <a:prstGeom prst="rect">
            <a:avLst/>
          </a:prstGeom>
          <a:noFill/>
        </p:spPr>
        <p:txBody>
          <a:bodyPr wrap="square" lIns="36576" tIns="0" rIns="36576" bIns="0" anchor="ctr">
            <a:spAutoFit/>
          </a:bodyPr>
          <a:lstStyle/>
          <a:p>
            <a:pPr algn="ctr"/>
            <a:r>
              <a:rPr sz="1200" b="0" i="1">
                <a:solidFill>
                  <a:srgbClr val="B9C9D9"/>
                </a:solidFill>
                <a:latin typeface="Calibri"/>
              </a:rPr>
              <a:t>Grey peaks = out of vocabulary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IDEA</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04:25–04:40</a:t>
            </a:r>
          </a:p>
        </p:txBody>
      </p:sp>
      <p:sp>
        <p:nvSpPr>
          <p:cNvPr id="9" name="TextBox 8"/>
          <p:cNvSpPr txBox="1"/>
          <p:nvPr/>
        </p:nvSpPr>
        <p:spPr>
          <a:xfrm>
            <a:off x="640080" y="960120"/>
            <a:ext cx="10881360" cy="960120"/>
          </a:xfrm>
          <a:prstGeom prst="rect">
            <a:avLst/>
          </a:prstGeom>
          <a:noFill/>
        </p:spPr>
        <p:txBody>
          <a:bodyPr wrap="square" lIns="36576" tIns="0" rIns="36576" bIns="0" anchor="ctr">
            <a:spAutoFit/>
          </a:bodyPr>
          <a:lstStyle/>
          <a:p>
            <a:pPr algn="ctr">
              <a:spcBef>
                <a:spcPts val="0"/>
              </a:spcBef>
              <a:spcAft>
                <a:spcPts val="0"/>
              </a:spcAft>
            </a:pPr>
            <a:r>
              <a:rPr sz="4800" b="1" i="0" dirty="0">
                <a:solidFill>
                  <a:srgbClr val="F0F4F8"/>
                </a:solidFill>
                <a:latin typeface="Calibri"/>
              </a:rPr>
              <a:t>How do four views of a molecule get aligned?</a:t>
            </a:r>
          </a:p>
        </p:txBody>
      </p:sp>
      <p:sp>
        <p:nvSpPr>
          <p:cNvPr id="11" name="Rounded Rectangle 10"/>
          <p:cNvSpPr/>
          <p:nvPr/>
        </p:nvSpPr>
        <p:spPr>
          <a:xfrm>
            <a:off x="640080"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01</a:t>
            </a:r>
          </a:p>
        </p:txBody>
      </p:sp>
      <p:sp>
        <p:nvSpPr>
          <p:cNvPr id="13" name="TextBox 12"/>
          <p:cNvSpPr txBox="1"/>
          <p:nvPr/>
        </p:nvSpPr>
        <p:spPr>
          <a:xfrm>
            <a:off x="1554480"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INPUT</a:t>
            </a:r>
          </a:p>
        </p:txBody>
      </p:sp>
      <p:sp>
        <p:nvSpPr>
          <p:cNvPr id="14" name="TextBox 13"/>
          <p:cNvSpPr txBox="1"/>
          <p:nvPr/>
        </p:nvSpPr>
        <p:spPr>
          <a:xfrm>
            <a:off x="896112"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Tokenise m/z directly</a:t>
            </a:r>
          </a:p>
        </p:txBody>
      </p:sp>
      <p:sp>
        <p:nvSpPr>
          <p:cNvPr id="15" name="Rounded Rectangle 14"/>
          <p:cNvSpPr/>
          <p:nvPr/>
        </p:nvSpPr>
        <p:spPr>
          <a:xfrm>
            <a:off x="4462272" y="3520440"/>
            <a:ext cx="3429000" cy="2240280"/>
          </a:xfrm>
          <a:prstGeom prst="roundRect">
            <a:avLst>
              <a:gd name="adj" fmla="val 8000"/>
            </a:avLst>
          </a:prstGeom>
          <a:solidFill>
            <a:srgbClr val="141C28"/>
          </a:solidFill>
          <a:ln w="2032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D9873A"/>
                </a:solidFill>
                <a:latin typeface="Calibri"/>
              </a:rPr>
              <a:t>02</a:t>
            </a:r>
          </a:p>
        </p:txBody>
      </p:sp>
      <p:sp>
        <p:nvSpPr>
          <p:cNvPr id="17" name="TextBox 16"/>
          <p:cNvSpPr txBox="1"/>
          <p:nvPr/>
        </p:nvSpPr>
        <p:spPr>
          <a:xfrm>
            <a:off x="5376672"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F0F4F8"/>
                </a:solidFill>
                <a:latin typeface="Calibri"/>
              </a:rPr>
              <a:t>ENGINE</a:t>
            </a:r>
          </a:p>
        </p:txBody>
      </p:sp>
      <p:sp>
        <p:nvSpPr>
          <p:cNvPr id="18" name="TextBox 17"/>
          <p:cNvSpPr txBox="1"/>
          <p:nvPr/>
        </p:nvSpPr>
        <p:spPr>
          <a:xfrm>
            <a:off x="4718304"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B9C9D9"/>
                </a:solidFill>
                <a:latin typeface="Calibri"/>
              </a:rPr>
              <a:t>Align and fuse four views</a:t>
            </a:r>
          </a:p>
        </p:txBody>
      </p:sp>
      <p:sp>
        <p:nvSpPr>
          <p:cNvPr id="19" name="Rounded Rectangle 18"/>
          <p:cNvSpPr/>
          <p:nvPr/>
        </p:nvSpPr>
        <p:spPr>
          <a:xfrm>
            <a:off x="8284464"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85632"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03</a:t>
            </a:r>
          </a:p>
        </p:txBody>
      </p:sp>
      <p:sp>
        <p:nvSpPr>
          <p:cNvPr id="21" name="TextBox 20"/>
          <p:cNvSpPr txBox="1"/>
          <p:nvPr/>
        </p:nvSpPr>
        <p:spPr>
          <a:xfrm>
            <a:off x="9198864"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HORIZON</a:t>
            </a:r>
          </a:p>
        </p:txBody>
      </p:sp>
      <p:sp>
        <p:nvSpPr>
          <p:cNvPr id="22" name="TextBox 21"/>
          <p:cNvSpPr txBox="1"/>
          <p:nvPr/>
        </p:nvSpPr>
        <p:spPr>
          <a:xfrm>
            <a:off x="8540496"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Understand the latent geometry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FOUR VIEWS</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07</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04:40–05:30</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The molecule and the experiment each have two complementary views</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Connectivity + substructure. Stability + measurement-specific detail.</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1600200"/>
            <a:ext cx="3063240" cy="1874519"/>
          </a:xfrm>
          <a:prstGeom prst="roundRect">
            <a:avLst>
              <a:gd name="adj" fmla="val 8000"/>
            </a:avLst>
          </a:prstGeom>
          <a:solidFill>
            <a:srgbClr val="141C28">
              <a:alpha val="80000"/>
            </a:srgbClr>
          </a:solidFill>
          <a:ln w="17145">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1737360"/>
            <a:ext cx="2743200" cy="228600"/>
          </a:xfrm>
          <a:prstGeom prst="rect">
            <a:avLst/>
          </a:prstGeom>
          <a:noFill/>
        </p:spPr>
        <p:txBody>
          <a:bodyPr wrap="square" anchor="t">
            <a:spAutoFit/>
          </a:bodyPr>
          <a:lstStyle/>
          <a:p>
            <a:pPr algn="l">
              <a:spcBef>
                <a:spcPts val="0"/>
              </a:spcBef>
              <a:spcAft>
                <a:spcPts val="0"/>
              </a:spcAft>
            </a:pPr>
            <a:r>
              <a:rPr sz="1100" b="1" i="0">
                <a:solidFill>
                  <a:srgbClr val="5A9FDA"/>
                </a:solidFill>
                <a:latin typeface="Calibri"/>
              </a:rPr>
              <a:t>MOLECULE</a:t>
            </a:r>
          </a:p>
        </p:txBody>
      </p:sp>
      <p:sp>
        <p:nvSpPr>
          <p:cNvPr id="14" name="TextBox 13"/>
          <p:cNvSpPr txBox="1"/>
          <p:nvPr/>
        </p:nvSpPr>
        <p:spPr>
          <a:xfrm>
            <a:off x="667512" y="2039112"/>
            <a:ext cx="2743200" cy="384048"/>
          </a:xfrm>
          <a:prstGeom prst="rect">
            <a:avLst/>
          </a:prstGeom>
          <a:noFill/>
        </p:spPr>
        <p:txBody>
          <a:bodyPr wrap="square" anchor="t">
            <a:spAutoFit/>
          </a:bodyPr>
          <a:lstStyle/>
          <a:p>
            <a:pPr algn="l">
              <a:spcBef>
                <a:spcPts val="0"/>
              </a:spcBef>
              <a:spcAft>
                <a:spcPts val="0"/>
              </a:spcAft>
            </a:pPr>
            <a:r>
              <a:rPr sz="1900" b="1" i="0">
                <a:solidFill>
                  <a:srgbClr val="F0F4F8"/>
                </a:solidFill>
                <a:latin typeface="Calibri"/>
              </a:rPr>
              <a:t>2D graph</a:t>
            </a:r>
          </a:p>
        </p:txBody>
      </p:sp>
      <p:sp>
        <p:nvSpPr>
          <p:cNvPr id="15" name="TextBox 14"/>
          <p:cNvSpPr txBox="1"/>
          <p:nvPr/>
        </p:nvSpPr>
        <p:spPr>
          <a:xfrm>
            <a:off x="667512" y="2560320"/>
            <a:ext cx="2743200" cy="320040"/>
          </a:xfrm>
          <a:prstGeom prst="rect">
            <a:avLst/>
          </a:prstGeom>
          <a:noFill/>
        </p:spPr>
        <p:txBody>
          <a:bodyPr wrap="square" anchor="t">
            <a:spAutoFit/>
          </a:bodyPr>
          <a:lstStyle/>
          <a:p>
            <a:pPr algn="l">
              <a:spcBef>
                <a:spcPts val="0"/>
              </a:spcBef>
              <a:spcAft>
                <a:spcPts val="0"/>
              </a:spcAft>
            </a:pPr>
            <a:r>
              <a:rPr sz="1300" b="0" i="0">
                <a:solidFill>
                  <a:srgbClr val="B9C9D9"/>
                </a:solidFill>
                <a:latin typeface="Calibri"/>
              </a:rPr>
              <a:t>atom connectivity</a:t>
            </a:r>
          </a:p>
        </p:txBody>
      </p:sp>
      <p:sp>
        <p:nvSpPr>
          <p:cNvPr id="16" name="Rounded Rectangle 15"/>
          <p:cNvSpPr/>
          <p:nvPr/>
        </p:nvSpPr>
        <p:spPr>
          <a:xfrm>
            <a:off x="2258568" y="2953512"/>
            <a:ext cx="1078992" cy="320040"/>
          </a:xfrm>
          <a:prstGeom prst="roundRect">
            <a:avLst>
              <a:gd name="adj" fmla="val 25000"/>
            </a:avLst>
          </a:prstGeom>
          <a:solidFill>
            <a:srgbClr val="5A9FD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58568" y="2990088"/>
            <a:ext cx="1078992" cy="256032"/>
          </a:xfrm>
          <a:prstGeom prst="rect">
            <a:avLst/>
          </a:prstGeom>
          <a:noFill/>
        </p:spPr>
        <p:txBody>
          <a:bodyPr wrap="square" anchor="t">
            <a:spAutoFit/>
          </a:bodyPr>
          <a:lstStyle/>
          <a:p>
            <a:pPr algn="ctr">
              <a:spcBef>
                <a:spcPts val="0"/>
              </a:spcBef>
              <a:spcAft>
                <a:spcPts val="0"/>
              </a:spcAft>
            </a:pPr>
            <a:r>
              <a:rPr sz="1000" b="1" i="0">
                <a:solidFill>
                  <a:srgbClr val="FFFFFF"/>
                </a:solidFill>
                <a:latin typeface="Calibri"/>
              </a:rPr>
              <a:t>GNN</a:t>
            </a:r>
          </a:p>
        </p:txBody>
      </p:sp>
      <p:sp>
        <p:nvSpPr>
          <p:cNvPr id="18" name="Rounded Rectangle 17"/>
          <p:cNvSpPr/>
          <p:nvPr/>
        </p:nvSpPr>
        <p:spPr>
          <a:xfrm>
            <a:off x="502920" y="4023360"/>
            <a:ext cx="3063240" cy="1874519"/>
          </a:xfrm>
          <a:prstGeom prst="roundRect">
            <a:avLst>
              <a:gd name="adj" fmla="val 8000"/>
            </a:avLst>
          </a:prstGeom>
          <a:solidFill>
            <a:srgbClr val="141C28">
              <a:alpha val="80000"/>
            </a:srgbClr>
          </a:solidFill>
          <a:ln w="17145">
            <a:solidFill>
              <a:srgbClr val="A9D2F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4160520"/>
            <a:ext cx="2743200" cy="228600"/>
          </a:xfrm>
          <a:prstGeom prst="rect">
            <a:avLst/>
          </a:prstGeom>
          <a:noFill/>
        </p:spPr>
        <p:txBody>
          <a:bodyPr wrap="square" anchor="t">
            <a:spAutoFit/>
          </a:bodyPr>
          <a:lstStyle/>
          <a:p>
            <a:pPr algn="l">
              <a:spcBef>
                <a:spcPts val="0"/>
              </a:spcBef>
              <a:spcAft>
                <a:spcPts val="0"/>
              </a:spcAft>
            </a:pPr>
            <a:r>
              <a:rPr sz="1100" b="1" i="0">
                <a:solidFill>
                  <a:srgbClr val="A9D2F5"/>
                </a:solidFill>
                <a:latin typeface="Calibri"/>
              </a:rPr>
              <a:t>MOLECULE</a:t>
            </a:r>
          </a:p>
        </p:txBody>
      </p:sp>
      <p:sp>
        <p:nvSpPr>
          <p:cNvPr id="20" name="TextBox 19"/>
          <p:cNvSpPr txBox="1"/>
          <p:nvPr/>
        </p:nvSpPr>
        <p:spPr>
          <a:xfrm>
            <a:off x="667512" y="4462272"/>
            <a:ext cx="2743200" cy="384048"/>
          </a:xfrm>
          <a:prstGeom prst="rect">
            <a:avLst/>
          </a:prstGeom>
          <a:noFill/>
        </p:spPr>
        <p:txBody>
          <a:bodyPr wrap="square" anchor="t">
            <a:spAutoFit/>
          </a:bodyPr>
          <a:lstStyle/>
          <a:p>
            <a:pPr algn="l">
              <a:spcBef>
                <a:spcPts val="0"/>
              </a:spcBef>
              <a:spcAft>
                <a:spcPts val="0"/>
              </a:spcAft>
            </a:pPr>
            <a:r>
              <a:rPr sz="1900" b="1" i="0">
                <a:solidFill>
                  <a:srgbClr val="F0F4F8"/>
                </a:solidFill>
                <a:latin typeface="Calibri"/>
              </a:rPr>
              <a:t>Morgan fingerprint</a:t>
            </a:r>
          </a:p>
        </p:txBody>
      </p:sp>
      <p:sp>
        <p:nvSpPr>
          <p:cNvPr id="21" name="TextBox 20"/>
          <p:cNvSpPr txBox="1"/>
          <p:nvPr/>
        </p:nvSpPr>
        <p:spPr>
          <a:xfrm>
            <a:off x="667512" y="4983480"/>
            <a:ext cx="2743200" cy="320040"/>
          </a:xfrm>
          <a:prstGeom prst="rect">
            <a:avLst/>
          </a:prstGeom>
          <a:noFill/>
        </p:spPr>
        <p:txBody>
          <a:bodyPr wrap="square" anchor="t">
            <a:spAutoFit/>
          </a:bodyPr>
          <a:lstStyle/>
          <a:p>
            <a:pPr algn="l">
              <a:spcBef>
                <a:spcPts val="0"/>
              </a:spcBef>
              <a:spcAft>
                <a:spcPts val="0"/>
              </a:spcAft>
            </a:pPr>
            <a:r>
              <a:rPr sz="1300" b="0" i="0">
                <a:solidFill>
                  <a:srgbClr val="B9C9D9"/>
                </a:solidFill>
                <a:latin typeface="Calibri"/>
              </a:rPr>
              <a:t>substructure pattern</a:t>
            </a:r>
          </a:p>
        </p:txBody>
      </p:sp>
      <p:sp>
        <p:nvSpPr>
          <p:cNvPr id="22" name="Rounded Rectangle 21"/>
          <p:cNvSpPr/>
          <p:nvPr/>
        </p:nvSpPr>
        <p:spPr>
          <a:xfrm>
            <a:off x="2258568" y="5376672"/>
            <a:ext cx="1078992" cy="320040"/>
          </a:xfrm>
          <a:prstGeom prst="roundRect">
            <a:avLst>
              <a:gd name="adj" fmla="val 25000"/>
            </a:avLst>
          </a:prstGeom>
          <a:solidFill>
            <a:srgbClr val="A9D2F5">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58568" y="5413248"/>
            <a:ext cx="1078992" cy="256032"/>
          </a:xfrm>
          <a:prstGeom prst="rect">
            <a:avLst/>
          </a:prstGeom>
          <a:noFill/>
        </p:spPr>
        <p:txBody>
          <a:bodyPr wrap="square" anchor="t">
            <a:spAutoFit/>
          </a:bodyPr>
          <a:lstStyle/>
          <a:p>
            <a:pPr algn="ctr">
              <a:spcBef>
                <a:spcPts val="0"/>
              </a:spcBef>
              <a:spcAft>
                <a:spcPts val="0"/>
              </a:spcAft>
            </a:pPr>
            <a:r>
              <a:rPr sz="1000" b="1" i="0">
                <a:solidFill>
                  <a:srgbClr val="FFFFFF"/>
                </a:solidFill>
                <a:latin typeface="Calibri"/>
              </a:rPr>
              <a:t>MLP</a:t>
            </a:r>
          </a:p>
        </p:txBody>
      </p:sp>
      <p:sp>
        <p:nvSpPr>
          <p:cNvPr id="24" name="Rounded Rectangle 23"/>
          <p:cNvSpPr/>
          <p:nvPr/>
        </p:nvSpPr>
        <p:spPr>
          <a:xfrm>
            <a:off x="8641080" y="1600200"/>
            <a:ext cx="3063240" cy="1874519"/>
          </a:xfrm>
          <a:prstGeom prst="roundRect">
            <a:avLst>
              <a:gd name="adj" fmla="val 8000"/>
            </a:avLst>
          </a:prstGeom>
          <a:solidFill>
            <a:srgbClr val="141C28">
              <a:alpha val="80000"/>
            </a:srgbClr>
          </a:solidFill>
          <a:ln w="17145">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05672" y="1737360"/>
            <a:ext cx="2743200" cy="228600"/>
          </a:xfrm>
          <a:prstGeom prst="rect">
            <a:avLst/>
          </a:prstGeom>
          <a:noFill/>
        </p:spPr>
        <p:txBody>
          <a:bodyPr wrap="square" anchor="t">
            <a:spAutoFit/>
          </a:bodyPr>
          <a:lstStyle/>
          <a:p>
            <a:pPr algn="l">
              <a:spcBef>
                <a:spcPts val="0"/>
              </a:spcBef>
              <a:spcAft>
                <a:spcPts val="0"/>
              </a:spcAft>
            </a:pPr>
            <a:r>
              <a:rPr sz="1100" b="1" i="0">
                <a:solidFill>
                  <a:srgbClr val="D9873A"/>
                </a:solidFill>
                <a:latin typeface="Calibri"/>
              </a:rPr>
              <a:t>SPECTRUM</a:t>
            </a:r>
          </a:p>
        </p:txBody>
      </p:sp>
      <p:sp>
        <p:nvSpPr>
          <p:cNvPr id="26" name="TextBox 25"/>
          <p:cNvSpPr txBox="1"/>
          <p:nvPr/>
        </p:nvSpPr>
        <p:spPr>
          <a:xfrm>
            <a:off x="8805672" y="2039112"/>
            <a:ext cx="2743200" cy="384048"/>
          </a:xfrm>
          <a:prstGeom prst="rect">
            <a:avLst/>
          </a:prstGeom>
          <a:noFill/>
        </p:spPr>
        <p:txBody>
          <a:bodyPr wrap="square" anchor="t">
            <a:spAutoFit/>
          </a:bodyPr>
          <a:lstStyle/>
          <a:p>
            <a:pPr algn="l">
              <a:spcBef>
                <a:spcPts val="0"/>
              </a:spcBef>
              <a:spcAft>
                <a:spcPts val="0"/>
              </a:spcAft>
            </a:pPr>
            <a:r>
              <a:rPr sz="1900" b="1" i="0">
                <a:solidFill>
                  <a:srgbClr val="F0F4F8"/>
                </a:solidFill>
                <a:latin typeface="Calibri"/>
              </a:rPr>
              <a:t>Merged consensus</a:t>
            </a:r>
          </a:p>
        </p:txBody>
      </p:sp>
      <p:sp>
        <p:nvSpPr>
          <p:cNvPr id="27" name="TextBox 26"/>
          <p:cNvSpPr txBox="1"/>
          <p:nvPr/>
        </p:nvSpPr>
        <p:spPr>
          <a:xfrm>
            <a:off x="8805672" y="2560320"/>
            <a:ext cx="2743200" cy="320040"/>
          </a:xfrm>
          <a:prstGeom prst="rect">
            <a:avLst/>
          </a:prstGeom>
          <a:noFill/>
        </p:spPr>
        <p:txBody>
          <a:bodyPr wrap="square" anchor="t">
            <a:spAutoFit/>
          </a:bodyPr>
          <a:lstStyle/>
          <a:p>
            <a:pPr algn="l">
              <a:spcBef>
                <a:spcPts val="0"/>
              </a:spcBef>
              <a:spcAft>
                <a:spcPts val="0"/>
              </a:spcAft>
            </a:pPr>
            <a:r>
              <a:rPr sz="1300" b="0" i="0">
                <a:solidFill>
                  <a:srgbClr val="B9C9D9"/>
                </a:solidFill>
                <a:latin typeface="Calibri"/>
              </a:rPr>
              <a:t>stable signature</a:t>
            </a:r>
          </a:p>
        </p:txBody>
      </p:sp>
      <p:sp>
        <p:nvSpPr>
          <p:cNvPr id="28" name="Rounded Rectangle 27"/>
          <p:cNvSpPr/>
          <p:nvPr/>
        </p:nvSpPr>
        <p:spPr>
          <a:xfrm>
            <a:off x="10396728" y="2953512"/>
            <a:ext cx="1078992" cy="320040"/>
          </a:xfrm>
          <a:prstGeom prst="roundRect">
            <a:avLst>
              <a:gd name="adj" fmla="val 25000"/>
            </a:avLst>
          </a:prstGeom>
          <a:solidFill>
            <a:srgbClr val="D9873A">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96728" y="2990088"/>
            <a:ext cx="1078992" cy="256032"/>
          </a:xfrm>
          <a:prstGeom prst="rect">
            <a:avLst/>
          </a:prstGeom>
          <a:noFill/>
        </p:spPr>
        <p:txBody>
          <a:bodyPr wrap="square" anchor="t">
            <a:spAutoFit/>
          </a:bodyPr>
          <a:lstStyle/>
          <a:p>
            <a:pPr algn="ctr">
              <a:spcBef>
                <a:spcPts val="0"/>
              </a:spcBef>
              <a:spcAft>
                <a:spcPts val="0"/>
              </a:spcAft>
            </a:pPr>
            <a:r>
              <a:rPr sz="1000" b="1" i="0">
                <a:solidFill>
                  <a:srgbClr val="FFFFFF"/>
                </a:solidFill>
                <a:latin typeface="Calibri"/>
              </a:rPr>
              <a:t>Transformer</a:t>
            </a:r>
          </a:p>
        </p:txBody>
      </p:sp>
      <p:sp>
        <p:nvSpPr>
          <p:cNvPr id="30" name="Rounded Rectangle 29"/>
          <p:cNvSpPr/>
          <p:nvPr/>
        </p:nvSpPr>
        <p:spPr>
          <a:xfrm>
            <a:off x="8641080" y="4023360"/>
            <a:ext cx="3063240" cy="1874519"/>
          </a:xfrm>
          <a:prstGeom prst="roundRect">
            <a:avLst>
              <a:gd name="adj" fmla="val 8000"/>
            </a:avLst>
          </a:prstGeom>
          <a:solidFill>
            <a:srgbClr val="141C28">
              <a:alpha val="80000"/>
            </a:srgbClr>
          </a:solidFill>
          <a:ln w="17145">
            <a:solidFill>
              <a:srgbClr val="F3B36E">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805672" y="4160520"/>
            <a:ext cx="2743200" cy="228600"/>
          </a:xfrm>
          <a:prstGeom prst="rect">
            <a:avLst/>
          </a:prstGeom>
          <a:noFill/>
        </p:spPr>
        <p:txBody>
          <a:bodyPr wrap="square" anchor="t">
            <a:spAutoFit/>
          </a:bodyPr>
          <a:lstStyle/>
          <a:p>
            <a:pPr algn="l">
              <a:spcBef>
                <a:spcPts val="0"/>
              </a:spcBef>
              <a:spcAft>
                <a:spcPts val="0"/>
              </a:spcAft>
            </a:pPr>
            <a:r>
              <a:rPr sz="1100" b="1" i="0">
                <a:solidFill>
                  <a:srgbClr val="F3B36E"/>
                </a:solidFill>
                <a:latin typeface="Calibri"/>
              </a:rPr>
              <a:t>SPECTRUM</a:t>
            </a:r>
          </a:p>
        </p:txBody>
      </p:sp>
      <p:sp>
        <p:nvSpPr>
          <p:cNvPr id="32" name="TextBox 31"/>
          <p:cNvSpPr txBox="1"/>
          <p:nvPr/>
        </p:nvSpPr>
        <p:spPr>
          <a:xfrm>
            <a:off x="8805672" y="4462272"/>
            <a:ext cx="2743200" cy="384048"/>
          </a:xfrm>
          <a:prstGeom prst="rect">
            <a:avLst/>
          </a:prstGeom>
          <a:noFill/>
        </p:spPr>
        <p:txBody>
          <a:bodyPr wrap="square" anchor="t">
            <a:spAutoFit/>
          </a:bodyPr>
          <a:lstStyle/>
          <a:p>
            <a:pPr algn="l">
              <a:spcBef>
                <a:spcPts val="0"/>
              </a:spcBef>
              <a:spcAft>
                <a:spcPts val="0"/>
              </a:spcAft>
            </a:pPr>
            <a:r>
              <a:rPr sz="1900" b="1" i="0">
                <a:solidFill>
                  <a:srgbClr val="F0F4F8"/>
                </a:solidFill>
                <a:latin typeface="Calibri"/>
              </a:rPr>
              <a:t>Single spectrum</a:t>
            </a:r>
          </a:p>
        </p:txBody>
      </p:sp>
      <p:sp>
        <p:nvSpPr>
          <p:cNvPr id="33" name="TextBox 32"/>
          <p:cNvSpPr txBox="1"/>
          <p:nvPr/>
        </p:nvSpPr>
        <p:spPr>
          <a:xfrm>
            <a:off x="8805672" y="4983480"/>
            <a:ext cx="2743200" cy="320040"/>
          </a:xfrm>
          <a:prstGeom prst="rect">
            <a:avLst/>
          </a:prstGeom>
          <a:noFill/>
        </p:spPr>
        <p:txBody>
          <a:bodyPr wrap="square" anchor="t">
            <a:spAutoFit/>
          </a:bodyPr>
          <a:lstStyle/>
          <a:p>
            <a:pPr algn="l">
              <a:spcBef>
                <a:spcPts val="0"/>
              </a:spcBef>
              <a:spcAft>
                <a:spcPts val="0"/>
              </a:spcAft>
            </a:pPr>
            <a:r>
              <a:rPr sz="1300" b="0" i="0">
                <a:solidFill>
                  <a:srgbClr val="B9C9D9"/>
                </a:solidFill>
                <a:latin typeface="Calibri"/>
              </a:rPr>
              <a:t>intensity + losses</a:t>
            </a:r>
          </a:p>
        </p:txBody>
      </p:sp>
      <p:sp>
        <p:nvSpPr>
          <p:cNvPr id="34" name="Rounded Rectangle 33"/>
          <p:cNvSpPr/>
          <p:nvPr/>
        </p:nvSpPr>
        <p:spPr>
          <a:xfrm>
            <a:off x="10396728" y="5376672"/>
            <a:ext cx="1078992" cy="320040"/>
          </a:xfrm>
          <a:prstGeom prst="roundRect">
            <a:avLst>
              <a:gd name="adj" fmla="val 25000"/>
            </a:avLst>
          </a:prstGeom>
          <a:solidFill>
            <a:srgbClr val="F3B36E">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396728" y="5413248"/>
            <a:ext cx="1078992" cy="256032"/>
          </a:xfrm>
          <a:prstGeom prst="rect">
            <a:avLst/>
          </a:prstGeom>
          <a:noFill/>
        </p:spPr>
        <p:txBody>
          <a:bodyPr wrap="square" anchor="t">
            <a:spAutoFit/>
          </a:bodyPr>
          <a:lstStyle/>
          <a:p>
            <a:pPr algn="ctr">
              <a:spcBef>
                <a:spcPts val="0"/>
              </a:spcBef>
              <a:spcAft>
                <a:spcPts val="0"/>
              </a:spcAft>
            </a:pPr>
            <a:r>
              <a:rPr sz="1000" b="1" i="0">
                <a:solidFill>
                  <a:srgbClr val="FFFFFF"/>
                </a:solidFill>
                <a:latin typeface="Calibri"/>
              </a:rPr>
              <a:t>Transformer</a:t>
            </a:r>
          </a:p>
        </p:txBody>
      </p:sp>
      <p:sp>
        <p:nvSpPr>
          <p:cNvPr id="36" name="Oval 35"/>
          <p:cNvSpPr/>
          <p:nvPr/>
        </p:nvSpPr>
        <p:spPr>
          <a:xfrm>
            <a:off x="4617720" y="2468880"/>
            <a:ext cx="2926080" cy="2377440"/>
          </a:xfrm>
          <a:prstGeom prst="ellipse">
            <a:avLst/>
          </a:prstGeom>
          <a:solidFill>
            <a:srgbClr val="1D3A2E">
              <a:alpha val="94000"/>
            </a:srgbClr>
          </a:solidFill>
          <a:ln w="25400">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46320" y="2971800"/>
            <a:ext cx="2468880" cy="502920"/>
          </a:xfrm>
          <a:prstGeom prst="rect">
            <a:avLst/>
          </a:prstGeom>
          <a:noFill/>
        </p:spPr>
        <p:txBody>
          <a:bodyPr wrap="square" anchor="t">
            <a:spAutoFit/>
          </a:bodyPr>
          <a:lstStyle/>
          <a:p>
            <a:pPr algn="ctr">
              <a:spcBef>
                <a:spcPts val="0"/>
              </a:spcBef>
              <a:spcAft>
                <a:spcPts val="0"/>
              </a:spcAft>
            </a:pPr>
            <a:r>
              <a:rPr sz="3000" b="1" i="0">
                <a:solidFill>
                  <a:srgbClr val="62C370"/>
                </a:solidFill>
                <a:latin typeface="Calibri"/>
              </a:rPr>
              <a:t>512-D</a:t>
            </a:r>
          </a:p>
        </p:txBody>
      </p:sp>
      <p:sp>
        <p:nvSpPr>
          <p:cNvPr id="38" name="TextBox 37"/>
          <p:cNvSpPr txBox="1"/>
          <p:nvPr/>
        </p:nvSpPr>
        <p:spPr>
          <a:xfrm>
            <a:off x="4846320" y="3547872"/>
            <a:ext cx="2468880" cy="594360"/>
          </a:xfrm>
          <a:prstGeom prst="rect">
            <a:avLst/>
          </a:prstGeom>
          <a:noFill/>
        </p:spPr>
        <p:txBody>
          <a:bodyPr wrap="square" anchor="t">
            <a:spAutoFit/>
          </a:bodyPr>
          <a:lstStyle/>
          <a:p>
            <a:pPr algn="ctr">
              <a:spcBef>
                <a:spcPts val="0"/>
              </a:spcBef>
              <a:spcAft>
                <a:spcPts val="0"/>
              </a:spcAft>
            </a:pPr>
            <a:r>
              <a:rPr sz="1400" b="0" i="0">
                <a:solidFill>
                  <a:srgbClr val="F0F4F8"/>
                </a:solidFill>
                <a:latin typeface="Calibri"/>
              </a:rPr>
              <a:t>shared</a:t>
            </a:r>
          </a:p>
          <a:p>
            <a:pPr algn="ctr">
              <a:spcBef>
                <a:spcPts val="0"/>
              </a:spcBef>
              <a:spcAft>
                <a:spcPts val="0"/>
              </a:spcAft>
            </a:pPr>
            <a:r>
              <a:rPr sz="1400" b="0" i="0">
                <a:solidFill>
                  <a:srgbClr val="F0F4F8"/>
                </a:solidFill>
                <a:latin typeface="Calibri"/>
              </a:rPr>
              <a:t>embedding space</a:t>
            </a:r>
          </a:p>
        </p:txBody>
      </p:sp>
      <p:sp>
        <p:nvSpPr>
          <p:cNvPr id="39" name="TextBox 38"/>
          <p:cNvSpPr txBox="1"/>
          <p:nvPr/>
        </p:nvSpPr>
        <p:spPr>
          <a:xfrm>
            <a:off x="4069080" y="5650992"/>
            <a:ext cx="4023360" cy="365760"/>
          </a:xfrm>
          <a:prstGeom prst="rect">
            <a:avLst/>
          </a:prstGeom>
          <a:noFill/>
        </p:spPr>
        <p:txBody>
          <a:bodyPr wrap="square" anchor="t">
            <a:spAutoFit/>
          </a:bodyPr>
          <a:lstStyle/>
          <a:p>
            <a:pPr algn="ctr">
              <a:spcBef>
                <a:spcPts val="0"/>
              </a:spcBef>
              <a:spcAft>
                <a:spcPts val="0"/>
              </a:spcAft>
            </a:pPr>
            <a:r>
              <a:rPr sz="1400" b="1" i="0">
                <a:solidFill>
                  <a:srgbClr val="A9D2F5"/>
                </a:solidFill>
                <a:latin typeface="Calibri"/>
              </a:rPr>
              <a:t>Same compound  →  four compatible embeddings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OBJECTIVE</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08</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05:30–06:05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Every view is aligned with every other view</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Four branches create six positive pairings per compound.</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72768"/>
            <a:ext cx="7498079" cy="4526280"/>
          </a:xfrm>
          <a:prstGeom prst="roundRect">
            <a:avLst>
              <a:gd name="adj" fmla="val 8000"/>
            </a:avLst>
          </a:prstGeom>
          <a:solidFill>
            <a:srgbClr val="FFFFFF">
              <a:alpha val="97000"/>
            </a:srgbClr>
          </a:solidFill>
          <a:ln w="12700">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nfonce_top.png"/>
          <p:cNvPicPr>
            <a:picLocks noChangeAspect="1"/>
          </p:cNvPicPr>
          <p:nvPr/>
        </p:nvPicPr>
        <p:blipFill>
          <a:blip r:embed="rId3"/>
          <a:stretch>
            <a:fillRect/>
          </a:stretch>
        </p:blipFill>
        <p:spPr>
          <a:xfrm>
            <a:off x="594360" y="1783080"/>
            <a:ext cx="7132320" cy="3474720"/>
          </a:xfrm>
          <a:prstGeom prst="rect">
            <a:avLst/>
          </a:prstGeom>
        </p:spPr>
      </p:pic>
      <p:sp>
        <p:nvSpPr>
          <p:cNvPr id="14" name="Rounded Rectangle 13"/>
          <p:cNvSpPr/>
          <p:nvPr/>
        </p:nvSpPr>
        <p:spPr>
          <a:xfrm>
            <a:off x="8138160" y="1572768"/>
            <a:ext cx="3566160" cy="4526280"/>
          </a:xfrm>
          <a:prstGeom prst="roundRect">
            <a:avLst>
              <a:gd name="adj" fmla="val 8000"/>
            </a:avLst>
          </a:prstGeom>
          <a:solidFill>
            <a:srgbClr val="141C28">
              <a:alpha val="80000"/>
            </a:srgbClr>
          </a:solidFill>
          <a:ln w="16510">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1828800"/>
            <a:ext cx="3108960" cy="457200"/>
          </a:xfrm>
          <a:prstGeom prst="rect">
            <a:avLst/>
          </a:prstGeom>
          <a:noFill/>
        </p:spPr>
        <p:txBody>
          <a:bodyPr wrap="square" anchor="t">
            <a:spAutoFit/>
          </a:bodyPr>
          <a:lstStyle/>
          <a:p>
            <a:pPr algn="ctr">
              <a:spcBef>
                <a:spcPts val="0"/>
              </a:spcBef>
              <a:spcAft>
                <a:spcPts val="0"/>
              </a:spcAft>
            </a:pPr>
            <a:r>
              <a:rPr sz="3000" b="1" i="0">
                <a:solidFill>
                  <a:srgbClr val="62C370"/>
                </a:solidFill>
                <a:latin typeface="Calibri"/>
              </a:rPr>
              <a:t>6 terms</a:t>
            </a:r>
          </a:p>
        </p:txBody>
      </p:sp>
      <p:sp>
        <p:nvSpPr>
          <p:cNvPr id="16" name="TextBox 15"/>
          <p:cNvSpPr txBox="1"/>
          <p:nvPr/>
        </p:nvSpPr>
        <p:spPr>
          <a:xfrm>
            <a:off x="8366760" y="2395728"/>
            <a:ext cx="3108960" cy="1097280"/>
          </a:xfrm>
          <a:prstGeom prst="rect">
            <a:avLst/>
          </a:prstGeom>
          <a:noFill/>
        </p:spPr>
        <p:txBody>
          <a:bodyPr wrap="square" anchor="t">
            <a:spAutoFit/>
          </a:bodyPr>
          <a:lstStyle/>
          <a:p>
            <a:pPr algn="ctr">
              <a:spcBef>
                <a:spcPts val="0"/>
              </a:spcBef>
              <a:spcAft>
                <a:spcPts val="0"/>
              </a:spcAft>
            </a:pPr>
            <a:r>
              <a:rPr sz="1600" b="0" i="0">
                <a:solidFill>
                  <a:srgbClr val="F0F4F8"/>
                </a:solidFill>
                <a:latin typeface="Calibri"/>
              </a:rPr>
              <a:t>Each pair pulls</a:t>
            </a:r>
          </a:p>
          <a:p>
            <a:pPr algn="ctr">
              <a:spcBef>
                <a:spcPts val="0"/>
              </a:spcBef>
              <a:spcAft>
                <a:spcPts val="0"/>
              </a:spcAft>
            </a:pPr>
            <a:r>
              <a:rPr sz="1600" b="0" i="0">
                <a:solidFill>
                  <a:srgbClr val="F0F4F8"/>
                </a:solidFill>
                <a:latin typeface="Calibri"/>
              </a:rPr>
              <a:t>the same compound together</a:t>
            </a:r>
          </a:p>
          <a:p>
            <a:pPr algn="ctr">
              <a:spcBef>
                <a:spcPts val="0"/>
              </a:spcBef>
              <a:spcAft>
                <a:spcPts val="0"/>
              </a:spcAft>
            </a:pPr>
            <a:r>
              <a:rPr sz="1600" b="0" i="0">
                <a:solidFill>
                  <a:srgbClr val="F0F4F8"/>
                </a:solidFill>
                <a:latin typeface="Calibri"/>
              </a:rPr>
              <a:t>and pushes others apart.</a:t>
            </a:r>
          </a:p>
        </p:txBody>
      </p:sp>
      <p:sp>
        <p:nvSpPr>
          <p:cNvPr id="17" name="TextBox 16"/>
          <p:cNvSpPr txBox="1"/>
          <p:nvPr/>
        </p:nvSpPr>
        <p:spPr>
          <a:xfrm>
            <a:off x="8366760" y="3840480"/>
            <a:ext cx="3108960" cy="365760"/>
          </a:xfrm>
          <a:prstGeom prst="rect">
            <a:avLst/>
          </a:prstGeom>
          <a:noFill/>
        </p:spPr>
        <p:txBody>
          <a:bodyPr wrap="square" anchor="t">
            <a:spAutoFit/>
          </a:bodyPr>
          <a:lstStyle/>
          <a:p>
            <a:pPr algn="ctr">
              <a:spcBef>
                <a:spcPts val="0"/>
              </a:spcBef>
              <a:spcAft>
                <a:spcPts val="0"/>
              </a:spcAft>
            </a:pPr>
            <a:r>
              <a:rPr sz="1300" b="1" i="0">
                <a:solidFill>
                  <a:srgbClr val="F3B36E"/>
                </a:solidFill>
                <a:latin typeface="Calibri"/>
              </a:rPr>
              <a:t>Why this matters</a:t>
            </a:r>
          </a:p>
        </p:txBody>
      </p:sp>
      <p:sp>
        <p:nvSpPr>
          <p:cNvPr id="18" name="TextBox 17"/>
          <p:cNvSpPr txBox="1"/>
          <p:nvPr/>
        </p:nvSpPr>
        <p:spPr>
          <a:xfrm>
            <a:off x="8366760" y="4297680"/>
            <a:ext cx="3108960" cy="1143000"/>
          </a:xfrm>
          <a:prstGeom prst="rect">
            <a:avLst/>
          </a:prstGeom>
          <a:noFill/>
        </p:spPr>
        <p:txBody>
          <a:bodyPr wrap="square" anchor="t">
            <a:spAutoFit/>
          </a:bodyPr>
          <a:lstStyle/>
          <a:p>
            <a:pPr algn="ctr">
              <a:spcBef>
                <a:spcPts val="0"/>
              </a:spcBef>
              <a:spcAft>
                <a:spcPts val="0"/>
              </a:spcAft>
            </a:pPr>
            <a:r>
              <a:rPr sz="1500" b="0" i="0">
                <a:solidFill>
                  <a:srgbClr val="B9C9D9"/>
                </a:solidFill>
                <a:latin typeface="Calibri"/>
              </a:rPr>
              <a:t>No branch can specialise</a:t>
            </a:r>
          </a:p>
          <a:p>
            <a:pPr algn="ctr">
              <a:spcBef>
                <a:spcPts val="0"/>
              </a:spcBef>
              <a:spcAft>
                <a:spcPts val="0"/>
              </a:spcAft>
            </a:pPr>
            <a:r>
              <a:rPr sz="1500" b="0" i="0">
                <a:solidFill>
                  <a:srgbClr val="B9C9D9"/>
                </a:solidFill>
                <a:latin typeface="Calibri"/>
              </a:rPr>
              <a:t>in evidence invisible</a:t>
            </a:r>
          </a:p>
          <a:p>
            <a:pPr algn="ctr">
              <a:spcBef>
                <a:spcPts val="0"/>
              </a:spcBef>
              <a:spcAft>
                <a:spcPts val="0"/>
              </a:spcAft>
            </a:pPr>
            <a:r>
              <a:rPr sz="1500" b="0" i="0">
                <a:solidFill>
                  <a:srgbClr val="B9C9D9"/>
                </a:solidFill>
                <a:latin typeface="Calibri"/>
              </a:rPr>
              <a:t>to the other three.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ALIGNMENT</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08</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06:05–06:25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This is where the four views come together</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Same-compound embeddings cluster. Other compounds are pushed apart.</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737861" y="1536191"/>
            <a:ext cx="8722372" cy="4626864"/>
          </a:xfrm>
          <a:prstGeom prst="roundRect">
            <a:avLst>
              <a:gd name="adj" fmla="val 6000"/>
            </a:avLst>
          </a:prstGeom>
          <a:solidFill>
            <a:srgbClr val="EAF0F6"/>
          </a:solidFill>
          <a:ln w="11430">
            <a:solidFill>
              <a:srgbClr val="C5C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nel_b_slide.png"/>
          <p:cNvPicPr>
            <a:picLocks noChangeAspect="1"/>
          </p:cNvPicPr>
          <p:nvPr/>
        </p:nvPicPr>
        <p:blipFill>
          <a:blip r:embed="rId3"/>
          <a:stretch>
            <a:fillRect/>
          </a:stretch>
        </p:blipFill>
        <p:spPr>
          <a:xfrm>
            <a:off x="1884165" y="1645919"/>
            <a:ext cx="8429764" cy="4160520"/>
          </a:xfrm>
          <a:prstGeom prst="rect">
            <a:avLst/>
          </a:prstGeom>
        </p:spPr>
      </p:pic>
      <p:sp>
        <p:nvSpPr>
          <p:cNvPr id="14" name="TextBox 13"/>
          <p:cNvSpPr txBox="1"/>
          <p:nvPr/>
        </p:nvSpPr>
        <p:spPr>
          <a:xfrm>
            <a:off x="1737861" y="5760718"/>
            <a:ext cx="8722372" cy="347472"/>
          </a:xfrm>
          <a:prstGeom prst="rect">
            <a:avLst/>
          </a:prstGeom>
          <a:noFill/>
        </p:spPr>
        <p:txBody>
          <a:bodyPr wrap="square" lIns="36576" tIns="0" rIns="36576" bIns="0" anchor="ctr">
            <a:spAutoFit/>
          </a:bodyPr>
          <a:lstStyle/>
          <a:p>
            <a:pPr algn="ctr">
              <a:spcAft>
                <a:spcPts val="100"/>
              </a:spcAft>
            </a:pPr>
            <a:r>
              <a:rPr sz="1400" b="0" i="1">
                <a:solidFill>
                  <a:srgbClr val="4A5568"/>
                </a:solidFill>
                <a:latin typeface="Calibri"/>
              </a:rPr>
              <a:t>Each coloured cluster is one compound. The red arrow is the InfoNCE push between compounds.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46E52-156B-A0D9-44D2-44558C26E2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42B9504-F3F9-49D7-4401-9070109EFEC4}"/>
              </a:ext>
            </a:extLst>
          </p:cNvPr>
          <p:cNvSpPr/>
          <p:nvPr/>
        </p:nvSpPr>
        <p:spPr>
          <a:xfrm>
            <a:off x="0" y="0"/>
            <a:ext cx="3520440" cy="365760"/>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FAF082D-803B-7152-3DB4-E2D46285AF90}"/>
              </a:ext>
            </a:extLst>
          </p:cNvPr>
          <p:cNvSpPr txBox="1"/>
          <p:nvPr/>
        </p:nvSpPr>
        <p:spPr>
          <a:xfrm>
            <a:off x="164592" y="64008"/>
            <a:ext cx="3246120" cy="256032"/>
          </a:xfrm>
          <a:prstGeom prst="rect">
            <a:avLst/>
          </a:prstGeom>
          <a:noFill/>
        </p:spPr>
        <p:txBody>
          <a:bodyPr wrap="square" lIns="0" tIns="0" rIns="0" bIns="0" anchor="t">
            <a:spAutoFit/>
          </a:bodyPr>
          <a:lstStyle/>
          <a:p>
            <a:pPr algn="l"/>
            <a:r>
              <a:rPr sz="1100" b="1" i="0">
                <a:solidFill>
                  <a:srgbClr val="EAF0F6"/>
                </a:solidFill>
                <a:latin typeface="Calibri"/>
              </a:rPr>
              <a:t>THE PROBLEM</a:t>
            </a:r>
          </a:p>
        </p:txBody>
      </p:sp>
      <p:sp>
        <p:nvSpPr>
          <p:cNvPr id="6" name="TextBox 5">
            <a:extLst>
              <a:ext uri="{FF2B5EF4-FFF2-40B4-BE49-F238E27FC236}">
                <a16:creationId xmlns:a16="http://schemas.microsoft.com/office/drawing/2014/main" id="{98FB19B5-B2E8-BA97-A639-D4B82B747067}"/>
              </a:ext>
            </a:extLst>
          </p:cNvPr>
          <p:cNvSpPr txBox="1"/>
          <p:nvPr/>
        </p:nvSpPr>
        <p:spPr>
          <a:xfrm>
            <a:off x="457200" y="457200"/>
            <a:ext cx="11292840" cy="369332"/>
          </a:xfrm>
          <a:prstGeom prst="rect">
            <a:avLst/>
          </a:prstGeom>
          <a:noFill/>
        </p:spPr>
        <p:txBody>
          <a:bodyPr wrap="square" lIns="0" tIns="0" rIns="0" bIns="0" anchor="t">
            <a:spAutoFit/>
          </a:bodyPr>
          <a:lstStyle/>
          <a:p>
            <a:pPr algn="l"/>
            <a:r>
              <a:rPr lang="es-ES" sz="2400" b="1" i="0" dirty="0" err="1">
                <a:solidFill>
                  <a:srgbClr val="FF0000"/>
                </a:solidFill>
                <a:latin typeface="Calibri"/>
              </a:rPr>
              <a:t>Coming</a:t>
            </a:r>
            <a:r>
              <a:rPr lang="es-ES" sz="2400" b="1" i="0" dirty="0">
                <a:solidFill>
                  <a:srgbClr val="FF0000"/>
                </a:solidFill>
                <a:latin typeface="Calibri"/>
              </a:rPr>
              <a:t> back: </a:t>
            </a:r>
            <a:r>
              <a:rPr lang="es-ES" sz="2400" b="1" i="0" dirty="0">
                <a:solidFill>
                  <a:srgbClr val="EAF0F6"/>
                </a:solidFill>
                <a:latin typeface="Calibri"/>
              </a:rPr>
              <a:t>How do </a:t>
            </a:r>
            <a:r>
              <a:rPr lang="es-ES" sz="2400" b="1" i="0" dirty="0" err="1">
                <a:solidFill>
                  <a:srgbClr val="EAF0F6"/>
                </a:solidFill>
                <a:latin typeface="Calibri"/>
              </a:rPr>
              <a:t>we</a:t>
            </a:r>
            <a:r>
              <a:rPr lang="es-ES" sz="2400" b="1" i="0" dirty="0">
                <a:solidFill>
                  <a:srgbClr val="EAF0F6"/>
                </a:solidFill>
                <a:latin typeface="Calibri"/>
              </a:rPr>
              <a:t> </a:t>
            </a:r>
            <a:r>
              <a:rPr lang="es-ES" sz="2400" b="1" i="0" dirty="0" err="1">
                <a:solidFill>
                  <a:srgbClr val="EAF0F6"/>
                </a:solidFill>
                <a:latin typeface="Calibri"/>
              </a:rPr>
              <a:t>find</a:t>
            </a:r>
            <a:r>
              <a:rPr lang="es-ES" sz="2400" b="1" i="0" dirty="0">
                <a:solidFill>
                  <a:srgbClr val="EAF0F6"/>
                </a:solidFill>
                <a:latin typeface="Calibri"/>
              </a:rPr>
              <a:t> </a:t>
            </a:r>
            <a:r>
              <a:rPr lang="es-ES" sz="2400" b="1" i="0" dirty="0" err="1">
                <a:solidFill>
                  <a:srgbClr val="EAF0F6"/>
                </a:solidFill>
                <a:latin typeface="Calibri"/>
              </a:rPr>
              <a:t>th</a:t>
            </a:r>
            <a:r>
              <a:rPr lang="es-ES" sz="2400" b="1" dirty="0" err="1">
                <a:solidFill>
                  <a:srgbClr val="EAF0F6"/>
                </a:solidFill>
                <a:latin typeface="Calibri"/>
              </a:rPr>
              <a:t>e</a:t>
            </a:r>
            <a:r>
              <a:rPr lang="es-ES" sz="2400" b="1" dirty="0">
                <a:solidFill>
                  <a:srgbClr val="EAF0F6"/>
                </a:solidFill>
                <a:latin typeface="Calibri"/>
              </a:rPr>
              <a:t> </a:t>
            </a:r>
            <a:r>
              <a:rPr lang="es-ES" sz="2400" b="1" dirty="0" err="1">
                <a:solidFill>
                  <a:srgbClr val="EAF0F6"/>
                </a:solidFill>
                <a:latin typeface="Calibri"/>
              </a:rPr>
              <a:t>correct</a:t>
            </a:r>
            <a:r>
              <a:rPr lang="es-ES" sz="2400" b="1" dirty="0">
                <a:solidFill>
                  <a:srgbClr val="EAF0F6"/>
                </a:solidFill>
                <a:latin typeface="Calibri"/>
              </a:rPr>
              <a:t> candidate?</a:t>
            </a:r>
            <a:endParaRPr sz="2400" b="1" i="0" dirty="0">
              <a:solidFill>
                <a:srgbClr val="EAF0F6"/>
              </a:solidFill>
              <a:latin typeface="Calibri"/>
            </a:endParaRPr>
          </a:p>
        </p:txBody>
      </p:sp>
      <p:sp>
        <p:nvSpPr>
          <p:cNvPr id="8" name="Rectangle 7">
            <a:extLst>
              <a:ext uri="{FF2B5EF4-FFF2-40B4-BE49-F238E27FC236}">
                <a16:creationId xmlns:a16="http://schemas.microsoft.com/office/drawing/2014/main" id="{88F977FB-2159-4338-7283-B861C345D147}"/>
              </a:ext>
            </a:extLst>
          </p:cNvPr>
          <p:cNvSpPr/>
          <p:nvPr/>
        </p:nvSpPr>
        <p:spPr>
          <a:xfrm>
            <a:off x="457200" y="822960"/>
            <a:ext cx="11292840" cy="10972"/>
          </a:xfrm>
          <a:prstGeom prst="rect">
            <a:avLst/>
          </a:prstGeom>
          <a:solidFill>
            <a:srgbClr val="D987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problem_hook.png">
            <a:extLst>
              <a:ext uri="{FF2B5EF4-FFF2-40B4-BE49-F238E27FC236}">
                <a16:creationId xmlns:a16="http://schemas.microsoft.com/office/drawing/2014/main" id="{7C57B701-2D8B-455E-3CAA-51B8DD3074B9}"/>
              </a:ext>
            </a:extLst>
          </p:cNvPr>
          <p:cNvPicPr>
            <a:picLocks noChangeAspect="1"/>
          </p:cNvPicPr>
          <p:nvPr/>
        </p:nvPicPr>
        <p:blipFill>
          <a:blip r:embed="rId3"/>
          <a:stretch>
            <a:fillRect/>
          </a:stretch>
        </p:blipFill>
        <p:spPr>
          <a:xfrm>
            <a:off x="585216" y="1481328"/>
            <a:ext cx="11036808" cy="4754880"/>
          </a:xfrm>
          <a:prstGeom prst="rect">
            <a:avLst/>
          </a:prstGeom>
        </p:spPr>
      </p:pic>
      <p:sp>
        <p:nvSpPr>
          <p:cNvPr id="11" name="Rectangle 10">
            <a:extLst>
              <a:ext uri="{FF2B5EF4-FFF2-40B4-BE49-F238E27FC236}">
                <a16:creationId xmlns:a16="http://schemas.microsoft.com/office/drawing/2014/main" id="{994453DD-9202-F420-78E0-FB39AD87013D}"/>
              </a:ext>
            </a:extLst>
          </p:cNvPr>
          <p:cNvSpPr/>
          <p:nvPr/>
        </p:nvSpPr>
        <p:spPr>
          <a:xfrm>
            <a:off x="0" y="6547104"/>
            <a:ext cx="12191695" cy="310896"/>
          </a:xfrm>
          <a:prstGeom prst="rect">
            <a:avLst/>
          </a:prstGeom>
          <a:solidFill>
            <a:srgbClr val="007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57DCB0A0-3425-3E08-6043-1AA2766D5821}"/>
              </a:ext>
            </a:extLst>
          </p:cNvPr>
          <p:cNvSpPr txBox="1"/>
          <p:nvPr/>
        </p:nvSpPr>
        <p:spPr>
          <a:xfrm>
            <a:off x="384048" y="6583680"/>
            <a:ext cx="10424160" cy="237744"/>
          </a:xfrm>
          <a:prstGeom prst="rect">
            <a:avLst/>
          </a:prstGeom>
          <a:noFill/>
        </p:spPr>
        <p:txBody>
          <a:bodyPr wrap="square" lIns="0" tIns="0" rIns="0" bIns="0" anchor="t">
            <a:spAutoFit/>
          </a:bodyPr>
          <a:lstStyle/>
          <a:p>
            <a:pPr algn="l"/>
            <a:r>
              <a:rPr sz="1000" b="0" i="0">
                <a:solidFill>
                  <a:srgbClr val="EAF0F6"/>
                </a:solidFill>
                <a:latin typeface="Calibri"/>
              </a:rPr>
              <a:t>MultiCLIP   |   Ruiz-Botella, Sales-Pardo &amp; Guimerà   |   URV · ComSCIAM · ICREA</a:t>
            </a:r>
          </a:p>
        </p:txBody>
      </p:sp>
      <p:sp>
        <p:nvSpPr>
          <p:cNvPr id="13" name="TextBox 12">
            <a:extLst>
              <a:ext uri="{FF2B5EF4-FFF2-40B4-BE49-F238E27FC236}">
                <a16:creationId xmlns:a16="http://schemas.microsoft.com/office/drawing/2014/main" id="{D179694D-2B3E-349F-C437-FF79B272EFD9}"/>
              </a:ext>
            </a:extLst>
          </p:cNvPr>
          <p:cNvSpPr txBox="1"/>
          <p:nvPr/>
        </p:nvSpPr>
        <p:spPr>
          <a:xfrm>
            <a:off x="11109960" y="6583680"/>
            <a:ext cx="822960" cy="237744"/>
          </a:xfrm>
          <a:prstGeom prst="rect">
            <a:avLst/>
          </a:prstGeom>
          <a:noFill/>
        </p:spPr>
        <p:txBody>
          <a:bodyPr wrap="square" lIns="0" tIns="0" rIns="0" bIns="0" anchor="t">
            <a:spAutoFit/>
          </a:bodyPr>
          <a:lstStyle/>
          <a:p>
            <a:pPr algn="r"/>
            <a:r>
              <a:rPr sz="1100" b="1" i="0">
                <a:solidFill>
                  <a:srgbClr val="EAF0F6"/>
                </a:solidFill>
                <a:latin typeface="Calibri"/>
              </a:rPr>
              <a:t>02</a:t>
            </a:r>
          </a:p>
        </p:txBody>
      </p:sp>
    </p:spTree>
    <p:extLst>
      <p:ext uri="{BB962C8B-B14F-4D97-AF65-F5344CB8AC3E}">
        <p14:creationId xmlns:p14="http://schemas.microsoft.com/office/powerpoint/2010/main" val="2791243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RETRIEVAL</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09</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06:25–07:20</a:t>
            </a:r>
          </a:p>
        </p:txBody>
      </p:sp>
      <p:sp>
        <p:nvSpPr>
          <p:cNvPr id="9" name="TextBox 8"/>
          <p:cNvSpPr txBox="1"/>
          <p:nvPr/>
        </p:nvSpPr>
        <p:spPr>
          <a:xfrm>
            <a:off x="457200" y="475488"/>
            <a:ext cx="11292840" cy="492443"/>
          </a:xfrm>
          <a:prstGeom prst="rect">
            <a:avLst/>
          </a:prstGeom>
          <a:noFill/>
        </p:spPr>
        <p:txBody>
          <a:bodyPr wrap="square" anchor="t">
            <a:spAutoFit/>
          </a:bodyPr>
          <a:lstStyle/>
          <a:p>
            <a:pPr algn="l">
              <a:spcBef>
                <a:spcPts val="0"/>
              </a:spcBef>
              <a:spcAft>
                <a:spcPts val="0"/>
              </a:spcAft>
            </a:pPr>
            <a:r>
              <a:rPr lang="es-ES" sz="2600" b="1" i="0" dirty="0">
                <a:solidFill>
                  <a:srgbClr val="F0F4F8"/>
                </a:solidFill>
                <a:latin typeface="Calibri"/>
              </a:rPr>
              <a:t>At </a:t>
            </a:r>
            <a:r>
              <a:rPr lang="es-ES" sz="2600" b="1" i="0" dirty="0" err="1">
                <a:solidFill>
                  <a:srgbClr val="F0F4F8"/>
                </a:solidFill>
                <a:latin typeface="Calibri"/>
              </a:rPr>
              <a:t>inference</a:t>
            </a:r>
            <a:r>
              <a:rPr lang="es-ES" sz="2600" b="1" dirty="0">
                <a:solidFill>
                  <a:srgbClr val="F0F4F8"/>
                </a:solidFill>
                <a:latin typeface="Calibri"/>
              </a:rPr>
              <a:t>: 1.</a:t>
            </a:r>
            <a:r>
              <a:rPr lang="es-ES" sz="2600" b="1" i="0" dirty="0">
                <a:solidFill>
                  <a:srgbClr val="F0F4F8"/>
                </a:solidFill>
                <a:latin typeface="Calibri"/>
              </a:rPr>
              <a:t> </a:t>
            </a:r>
            <a:r>
              <a:rPr lang="es-ES" sz="2600" b="1" i="0" dirty="0" err="1">
                <a:solidFill>
                  <a:srgbClr val="F0F4F8"/>
                </a:solidFill>
                <a:latin typeface="Calibri"/>
              </a:rPr>
              <a:t>we</a:t>
            </a:r>
            <a:r>
              <a:rPr lang="es-ES" sz="2600" b="1" i="0" dirty="0">
                <a:solidFill>
                  <a:srgbClr val="F0F4F8"/>
                </a:solidFill>
                <a:latin typeface="Calibri"/>
              </a:rPr>
              <a:t> combine </a:t>
            </a:r>
            <a:r>
              <a:rPr lang="es-ES" sz="2600" b="1" i="0" dirty="0" err="1">
                <a:solidFill>
                  <a:srgbClr val="F0F4F8"/>
                </a:solidFill>
                <a:latin typeface="Calibri"/>
              </a:rPr>
              <a:t>the</a:t>
            </a:r>
            <a:r>
              <a:rPr lang="es-ES" sz="2600" b="1" i="0" dirty="0">
                <a:solidFill>
                  <a:srgbClr val="F0F4F8"/>
                </a:solidFill>
                <a:latin typeface="Calibri"/>
              </a:rPr>
              <a:t> </a:t>
            </a:r>
            <a:r>
              <a:rPr lang="es-ES" sz="2600" b="1" i="0" dirty="0" err="1">
                <a:solidFill>
                  <a:srgbClr val="F0F4F8"/>
                </a:solidFill>
                <a:latin typeface="Calibri"/>
              </a:rPr>
              <a:t>spectrum</a:t>
            </a:r>
            <a:r>
              <a:rPr lang="es-ES" sz="2600" b="1" i="0" dirty="0">
                <a:solidFill>
                  <a:srgbClr val="F0F4F8"/>
                </a:solidFill>
                <a:latin typeface="Calibri"/>
              </a:rPr>
              <a:t> </a:t>
            </a:r>
            <a:r>
              <a:rPr lang="es-ES" sz="2600" b="1" i="0" dirty="0" err="1">
                <a:solidFill>
                  <a:srgbClr val="F0F4F8"/>
                </a:solidFill>
                <a:latin typeface="Calibri"/>
              </a:rPr>
              <a:t>embeddings</a:t>
            </a:r>
            <a:endParaRPr sz="2600" b="1" i="0" dirty="0">
              <a:solidFill>
                <a:srgbClr val="F0F4F8"/>
              </a:solidFill>
              <a:latin typeface="Calibri"/>
            </a:endParaRPr>
          </a:p>
        </p:txBody>
      </p:sp>
      <p:sp>
        <p:nvSpPr>
          <p:cNvPr id="10" name="TextBox 9"/>
          <p:cNvSpPr txBox="1"/>
          <p:nvPr/>
        </p:nvSpPr>
        <p:spPr>
          <a:xfrm>
            <a:off x="457200" y="1024128"/>
            <a:ext cx="11292840" cy="323165"/>
          </a:xfrm>
          <a:prstGeom prst="rect">
            <a:avLst/>
          </a:prstGeom>
          <a:noFill/>
        </p:spPr>
        <p:txBody>
          <a:bodyPr wrap="square" anchor="t">
            <a:spAutoFit/>
          </a:bodyPr>
          <a:lstStyle/>
          <a:p>
            <a:pPr algn="l">
              <a:spcBef>
                <a:spcPts val="0"/>
              </a:spcBef>
              <a:spcAft>
                <a:spcPts val="0"/>
              </a:spcAft>
            </a:pPr>
            <a:r>
              <a:rPr sz="1500" b="0" i="1" dirty="0">
                <a:solidFill>
                  <a:srgbClr val="F3B36E"/>
                </a:solidFill>
                <a:latin typeface="Calibri"/>
              </a:rPr>
              <a:t>Query from merged + pooled singles</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nel_c_slide.png"/>
          <p:cNvPicPr>
            <a:picLocks noChangeAspect="1"/>
          </p:cNvPicPr>
          <p:nvPr/>
        </p:nvPicPr>
        <p:blipFill>
          <a:blip r:embed="rId3"/>
          <a:srcRect r="47563"/>
          <a:stretch>
            <a:fillRect/>
          </a:stretch>
        </p:blipFill>
        <p:spPr>
          <a:xfrm>
            <a:off x="6204457" y="1419606"/>
            <a:ext cx="4905503" cy="4992623"/>
          </a:xfrm>
          <a:prstGeom prst="rect">
            <a:avLst/>
          </a:prstGeom>
        </p:spPr>
      </p:pic>
      <p:pic>
        <p:nvPicPr>
          <p:cNvPr id="12" name="Picture 9" descr="problem_hook.png">
            <a:extLst>
              <a:ext uri="{FF2B5EF4-FFF2-40B4-BE49-F238E27FC236}">
                <a16:creationId xmlns:a16="http://schemas.microsoft.com/office/drawing/2014/main" id="{A605AE42-4D2B-8918-92AE-B66FC37B734D}"/>
              </a:ext>
            </a:extLst>
          </p:cNvPr>
          <p:cNvPicPr>
            <a:picLocks noChangeAspect="1"/>
          </p:cNvPicPr>
          <p:nvPr/>
        </p:nvPicPr>
        <p:blipFill>
          <a:blip r:embed="rId4"/>
          <a:srcRect r="50882"/>
          <a:stretch>
            <a:fillRect/>
          </a:stretch>
        </p:blipFill>
        <p:spPr>
          <a:xfrm>
            <a:off x="457200" y="1545335"/>
            <a:ext cx="5421086" cy="47548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1CB57-3FA8-EE8A-15C9-B939248B8D7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84D26B-8D30-34D9-5179-177BA8A2D313}"/>
              </a:ext>
            </a:extLst>
          </p:cNvPr>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8042D6C-5BEF-DF0B-F968-07385EBC8736}"/>
              </a:ext>
            </a:extLst>
          </p:cNvPr>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RETRIEVAL</a:t>
            </a:r>
          </a:p>
        </p:txBody>
      </p:sp>
      <p:sp>
        <p:nvSpPr>
          <p:cNvPr id="5" name="Rectangle 4">
            <a:extLst>
              <a:ext uri="{FF2B5EF4-FFF2-40B4-BE49-F238E27FC236}">
                <a16:creationId xmlns:a16="http://schemas.microsoft.com/office/drawing/2014/main" id="{32BE4ADE-E5A6-6DBF-47BA-0B1655812922}"/>
              </a:ext>
            </a:extLst>
          </p:cNvPr>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C088ADF-9807-3B14-3480-1DF38608E38F}"/>
              </a:ext>
            </a:extLst>
          </p:cNvPr>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a:extLst>
              <a:ext uri="{FF2B5EF4-FFF2-40B4-BE49-F238E27FC236}">
                <a16:creationId xmlns:a16="http://schemas.microsoft.com/office/drawing/2014/main" id="{ED6AA8EA-7462-A605-5E5B-1880BAC8715D}"/>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09</a:t>
            </a:r>
          </a:p>
        </p:txBody>
      </p:sp>
      <p:sp>
        <p:nvSpPr>
          <p:cNvPr id="8" name="TextBox 7">
            <a:extLst>
              <a:ext uri="{FF2B5EF4-FFF2-40B4-BE49-F238E27FC236}">
                <a16:creationId xmlns:a16="http://schemas.microsoft.com/office/drawing/2014/main" id="{828B7B74-915B-4545-F62D-EB0ECB236E1F}"/>
              </a:ext>
            </a:extLst>
          </p:cNvPr>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06:25–07:20</a:t>
            </a:r>
          </a:p>
        </p:txBody>
      </p:sp>
      <p:sp>
        <p:nvSpPr>
          <p:cNvPr id="9" name="TextBox 8">
            <a:extLst>
              <a:ext uri="{FF2B5EF4-FFF2-40B4-BE49-F238E27FC236}">
                <a16:creationId xmlns:a16="http://schemas.microsoft.com/office/drawing/2014/main" id="{13250EBF-FE37-FFD4-2230-47122348BEA8}"/>
              </a:ext>
            </a:extLst>
          </p:cNvPr>
          <p:cNvSpPr txBox="1"/>
          <p:nvPr/>
        </p:nvSpPr>
        <p:spPr>
          <a:xfrm>
            <a:off x="457200" y="475488"/>
            <a:ext cx="11292840" cy="492443"/>
          </a:xfrm>
          <a:prstGeom prst="rect">
            <a:avLst/>
          </a:prstGeom>
          <a:noFill/>
        </p:spPr>
        <p:txBody>
          <a:bodyPr wrap="square" anchor="t">
            <a:spAutoFit/>
          </a:bodyPr>
          <a:lstStyle/>
          <a:p>
            <a:pPr algn="l">
              <a:spcBef>
                <a:spcPts val="0"/>
              </a:spcBef>
              <a:spcAft>
                <a:spcPts val="0"/>
              </a:spcAft>
            </a:pPr>
            <a:r>
              <a:rPr lang="es-ES" sz="2600" b="1" i="0" dirty="0">
                <a:solidFill>
                  <a:srgbClr val="F0F4F8"/>
                </a:solidFill>
                <a:latin typeface="Calibri"/>
              </a:rPr>
              <a:t>At </a:t>
            </a:r>
            <a:r>
              <a:rPr lang="es-ES" sz="2600" b="1" i="0" dirty="0" err="1">
                <a:solidFill>
                  <a:srgbClr val="F0F4F8"/>
                </a:solidFill>
                <a:latin typeface="Calibri"/>
              </a:rPr>
              <a:t>inference</a:t>
            </a:r>
            <a:r>
              <a:rPr lang="es-ES" sz="2600" b="1" dirty="0">
                <a:solidFill>
                  <a:srgbClr val="F0F4F8"/>
                </a:solidFill>
                <a:latin typeface="Calibri"/>
              </a:rPr>
              <a:t>: 2.</a:t>
            </a:r>
            <a:r>
              <a:rPr lang="es-ES" sz="2600" b="1" i="0" dirty="0">
                <a:solidFill>
                  <a:srgbClr val="F0F4F8"/>
                </a:solidFill>
                <a:latin typeface="Calibri"/>
              </a:rPr>
              <a:t> </a:t>
            </a:r>
            <a:r>
              <a:rPr lang="es-ES" sz="2600" b="1" i="0" dirty="0" err="1">
                <a:solidFill>
                  <a:srgbClr val="F0F4F8"/>
                </a:solidFill>
                <a:latin typeface="Calibri"/>
              </a:rPr>
              <a:t>we</a:t>
            </a:r>
            <a:r>
              <a:rPr lang="es-ES" sz="2600" b="1" i="0" dirty="0">
                <a:solidFill>
                  <a:srgbClr val="F0F4F8"/>
                </a:solidFill>
                <a:latin typeface="Calibri"/>
              </a:rPr>
              <a:t> </a:t>
            </a:r>
            <a:r>
              <a:rPr lang="es-ES" sz="2600" b="1" i="0" dirty="0" err="1">
                <a:solidFill>
                  <a:srgbClr val="F0F4F8"/>
                </a:solidFill>
                <a:latin typeface="Calibri"/>
              </a:rPr>
              <a:t>obtain</a:t>
            </a:r>
            <a:r>
              <a:rPr lang="es-ES" sz="2600" b="1" i="0" dirty="0">
                <a:solidFill>
                  <a:srgbClr val="F0F4F8"/>
                </a:solidFill>
                <a:latin typeface="Calibri"/>
              </a:rPr>
              <a:t> </a:t>
            </a:r>
            <a:r>
              <a:rPr lang="es-ES" sz="2600" b="1" i="0" dirty="0" err="1">
                <a:solidFill>
                  <a:srgbClr val="F0F4F8"/>
                </a:solidFill>
                <a:latin typeface="Calibri"/>
              </a:rPr>
              <a:t>the</a:t>
            </a:r>
            <a:r>
              <a:rPr lang="es-ES" sz="2600" b="1" i="0" dirty="0">
                <a:solidFill>
                  <a:srgbClr val="F0F4F8"/>
                </a:solidFill>
                <a:latin typeface="Calibri"/>
              </a:rPr>
              <a:t> </a:t>
            </a:r>
            <a:r>
              <a:rPr lang="es-ES" sz="2600" b="1" i="0" dirty="0" err="1">
                <a:solidFill>
                  <a:srgbClr val="F0F4F8"/>
                </a:solidFill>
                <a:latin typeface="Calibri"/>
              </a:rPr>
              <a:t>embeddings</a:t>
            </a:r>
            <a:r>
              <a:rPr lang="es-ES" sz="2600" b="1" i="0" dirty="0">
                <a:solidFill>
                  <a:srgbClr val="F0F4F8"/>
                </a:solidFill>
                <a:latin typeface="Calibri"/>
              </a:rPr>
              <a:t> </a:t>
            </a:r>
            <a:r>
              <a:rPr lang="es-ES" sz="2600" b="1" i="0" dirty="0" err="1">
                <a:solidFill>
                  <a:srgbClr val="F0F4F8"/>
                </a:solidFill>
                <a:latin typeface="Calibri"/>
              </a:rPr>
              <a:t>for</a:t>
            </a:r>
            <a:r>
              <a:rPr lang="es-ES" sz="2600" b="1" i="0" dirty="0">
                <a:solidFill>
                  <a:srgbClr val="F0F4F8"/>
                </a:solidFill>
                <a:latin typeface="Calibri"/>
              </a:rPr>
              <a:t> </a:t>
            </a:r>
            <a:r>
              <a:rPr lang="es-ES" sz="2600" b="1" i="0" dirty="0" err="1">
                <a:solidFill>
                  <a:srgbClr val="F0F4F8"/>
                </a:solidFill>
                <a:latin typeface="Calibri"/>
              </a:rPr>
              <a:t>each</a:t>
            </a:r>
            <a:r>
              <a:rPr lang="es-ES" sz="2600" b="1" i="0" dirty="0">
                <a:solidFill>
                  <a:srgbClr val="F0F4F8"/>
                </a:solidFill>
                <a:latin typeface="Calibri"/>
              </a:rPr>
              <a:t> candidate</a:t>
            </a:r>
            <a:endParaRPr sz="2600" b="1" i="0" dirty="0">
              <a:solidFill>
                <a:srgbClr val="F0F4F8"/>
              </a:solidFill>
              <a:latin typeface="Calibri"/>
            </a:endParaRPr>
          </a:p>
        </p:txBody>
      </p:sp>
      <p:sp>
        <p:nvSpPr>
          <p:cNvPr id="10" name="TextBox 9">
            <a:extLst>
              <a:ext uri="{FF2B5EF4-FFF2-40B4-BE49-F238E27FC236}">
                <a16:creationId xmlns:a16="http://schemas.microsoft.com/office/drawing/2014/main" id="{0B8DAF3E-626E-1C29-21BB-5E52C1F48923}"/>
              </a:ext>
            </a:extLst>
          </p:cNvPr>
          <p:cNvSpPr txBox="1"/>
          <p:nvPr/>
        </p:nvSpPr>
        <p:spPr>
          <a:xfrm>
            <a:off x="457200" y="1024128"/>
            <a:ext cx="11292840" cy="323165"/>
          </a:xfrm>
          <a:prstGeom prst="rect">
            <a:avLst/>
          </a:prstGeom>
          <a:noFill/>
        </p:spPr>
        <p:txBody>
          <a:bodyPr wrap="square" anchor="t">
            <a:spAutoFit/>
          </a:bodyPr>
          <a:lstStyle/>
          <a:p>
            <a:r>
              <a:rPr lang="es-ES" sz="1500" i="1" dirty="0" err="1">
                <a:solidFill>
                  <a:srgbClr val="F3B36E"/>
                </a:solidFill>
              </a:rPr>
              <a:t>Each</a:t>
            </a:r>
            <a:r>
              <a:rPr lang="es-ES" sz="1500" i="1" dirty="0">
                <a:solidFill>
                  <a:srgbClr val="F3B36E"/>
                </a:solidFill>
              </a:rPr>
              <a:t> candidate </a:t>
            </a:r>
            <a:r>
              <a:rPr lang="es-ES" sz="1500" i="1" dirty="0" err="1">
                <a:solidFill>
                  <a:srgbClr val="F3B36E"/>
                </a:solidFill>
              </a:rPr>
              <a:t>from</a:t>
            </a:r>
            <a:r>
              <a:rPr lang="es-ES" sz="1500" i="1" dirty="0">
                <a:solidFill>
                  <a:srgbClr val="F3B36E"/>
                </a:solidFill>
              </a:rPr>
              <a:t> </a:t>
            </a:r>
            <a:r>
              <a:rPr lang="es-ES" sz="1500" i="1" dirty="0" err="1">
                <a:solidFill>
                  <a:srgbClr val="F3B36E"/>
                </a:solidFill>
              </a:rPr>
              <a:t>graph</a:t>
            </a:r>
            <a:r>
              <a:rPr lang="es-ES" sz="1500" i="1" dirty="0">
                <a:solidFill>
                  <a:srgbClr val="F3B36E"/>
                </a:solidFill>
              </a:rPr>
              <a:t> + </a:t>
            </a:r>
            <a:r>
              <a:rPr lang="es-ES" sz="1500" i="1" dirty="0" err="1">
                <a:solidFill>
                  <a:srgbClr val="F3B36E"/>
                </a:solidFill>
              </a:rPr>
              <a:t>fingerprint</a:t>
            </a:r>
            <a:r>
              <a:rPr lang="es-ES" sz="1500" i="1" dirty="0">
                <a:solidFill>
                  <a:srgbClr val="F3B36E"/>
                </a:solidFill>
              </a:rPr>
              <a:t>.</a:t>
            </a:r>
            <a:endParaRPr sz="1500" b="0" i="1" dirty="0">
              <a:solidFill>
                <a:srgbClr val="F3B36E"/>
              </a:solidFill>
              <a:latin typeface="Calibri"/>
            </a:endParaRPr>
          </a:p>
        </p:txBody>
      </p:sp>
      <p:sp>
        <p:nvSpPr>
          <p:cNvPr id="11" name="Rectangle 10">
            <a:extLst>
              <a:ext uri="{FF2B5EF4-FFF2-40B4-BE49-F238E27FC236}">
                <a16:creationId xmlns:a16="http://schemas.microsoft.com/office/drawing/2014/main" id="{56AA38CB-5002-1D75-7E11-5DD1900776C0}"/>
              </a:ext>
            </a:extLst>
          </p:cNvPr>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nel_c_slide.png">
            <a:extLst>
              <a:ext uri="{FF2B5EF4-FFF2-40B4-BE49-F238E27FC236}">
                <a16:creationId xmlns:a16="http://schemas.microsoft.com/office/drawing/2014/main" id="{6E934AB0-A498-33D8-E702-37B416C67687}"/>
              </a:ext>
            </a:extLst>
          </p:cNvPr>
          <p:cNvPicPr>
            <a:picLocks noChangeAspect="1"/>
          </p:cNvPicPr>
          <p:nvPr/>
        </p:nvPicPr>
        <p:blipFill>
          <a:blip r:embed="rId3"/>
          <a:srcRect l="52595" t="1056" b="28503"/>
          <a:stretch>
            <a:fillRect/>
          </a:stretch>
        </p:blipFill>
        <p:spPr>
          <a:xfrm>
            <a:off x="1452591" y="2048722"/>
            <a:ext cx="4434840" cy="3516849"/>
          </a:xfrm>
          <a:prstGeom prst="rect">
            <a:avLst/>
          </a:prstGeom>
        </p:spPr>
      </p:pic>
      <p:pic>
        <p:nvPicPr>
          <p:cNvPr id="14" name="Picture 9" descr="problem_hook.png">
            <a:extLst>
              <a:ext uri="{FF2B5EF4-FFF2-40B4-BE49-F238E27FC236}">
                <a16:creationId xmlns:a16="http://schemas.microsoft.com/office/drawing/2014/main" id="{B9B512B7-17FC-D7E2-5635-54E576A7C911}"/>
              </a:ext>
            </a:extLst>
          </p:cNvPr>
          <p:cNvPicPr>
            <a:picLocks noChangeAspect="1"/>
          </p:cNvPicPr>
          <p:nvPr/>
        </p:nvPicPr>
        <p:blipFill>
          <a:blip r:embed="rId4"/>
          <a:srcRect l="52732"/>
          <a:stretch>
            <a:fillRect/>
          </a:stretch>
        </p:blipFill>
        <p:spPr>
          <a:xfrm>
            <a:off x="6304570" y="1550747"/>
            <a:ext cx="5216870" cy="4754880"/>
          </a:xfrm>
          <a:prstGeom prst="rect">
            <a:avLst/>
          </a:prstGeom>
        </p:spPr>
      </p:pic>
    </p:spTree>
    <p:extLst>
      <p:ext uri="{BB962C8B-B14F-4D97-AF65-F5344CB8AC3E}">
        <p14:creationId xmlns:p14="http://schemas.microsoft.com/office/powerpoint/2010/main" val="432046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5CA6-356F-ECEF-4D6B-3A7074946CB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B7046D2-3A6F-A587-97C3-04485D85A018}"/>
              </a:ext>
            </a:extLst>
          </p:cNvPr>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1550C9A-BB25-CED0-B475-A26F22E28010}"/>
              </a:ext>
            </a:extLst>
          </p:cNvPr>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RETRIEVAL</a:t>
            </a:r>
          </a:p>
        </p:txBody>
      </p:sp>
      <p:sp>
        <p:nvSpPr>
          <p:cNvPr id="5" name="Rectangle 4">
            <a:extLst>
              <a:ext uri="{FF2B5EF4-FFF2-40B4-BE49-F238E27FC236}">
                <a16:creationId xmlns:a16="http://schemas.microsoft.com/office/drawing/2014/main" id="{0AF8E6A2-65A3-EBFC-EEBC-9E5FAF72C8AC}"/>
              </a:ext>
            </a:extLst>
          </p:cNvPr>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955DE55-E8E6-7207-120F-6043C5D3F083}"/>
              </a:ext>
            </a:extLst>
          </p:cNvPr>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a:extLst>
              <a:ext uri="{FF2B5EF4-FFF2-40B4-BE49-F238E27FC236}">
                <a16:creationId xmlns:a16="http://schemas.microsoft.com/office/drawing/2014/main" id="{037F22D8-1080-0650-F90A-F510ECB48344}"/>
              </a:ext>
            </a:extLst>
          </p:cNvPr>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09</a:t>
            </a:r>
          </a:p>
        </p:txBody>
      </p:sp>
      <p:sp>
        <p:nvSpPr>
          <p:cNvPr id="8" name="TextBox 7">
            <a:extLst>
              <a:ext uri="{FF2B5EF4-FFF2-40B4-BE49-F238E27FC236}">
                <a16:creationId xmlns:a16="http://schemas.microsoft.com/office/drawing/2014/main" id="{8E291723-4877-259D-E090-B7655B087A12}"/>
              </a:ext>
            </a:extLst>
          </p:cNvPr>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06:25–07:20</a:t>
            </a:r>
          </a:p>
        </p:txBody>
      </p:sp>
      <p:sp>
        <p:nvSpPr>
          <p:cNvPr id="9" name="TextBox 8">
            <a:extLst>
              <a:ext uri="{FF2B5EF4-FFF2-40B4-BE49-F238E27FC236}">
                <a16:creationId xmlns:a16="http://schemas.microsoft.com/office/drawing/2014/main" id="{6C4266BF-B90F-9FE7-F033-FBB856E31F4B}"/>
              </a:ext>
            </a:extLst>
          </p:cNvPr>
          <p:cNvSpPr txBox="1"/>
          <p:nvPr/>
        </p:nvSpPr>
        <p:spPr>
          <a:xfrm>
            <a:off x="457200" y="475488"/>
            <a:ext cx="11292840" cy="892552"/>
          </a:xfrm>
          <a:prstGeom prst="rect">
            <a:avLst/>
          </a:prstGeom>
          <a:noFill/>
        </p:spPr>
        <p:txBody>
          <a:bodyPr wrap="square" anchor="t">
            <a:spAutoFit/>
          </a:bodyPr>
          <a:lstStyle/>
          <a:p>
            <a:pPr algn="l">
              <a:spcBef>
                <a:spcPts val="0"/>
              </a:spcBef>
              <a:spcAft>
                <a:spcPts val="0"/>
              </a:spcAft>
            </a:pPr>
            <a:r>
              <a:rPr lang="es-ES" sz="2600" b="1" i="0" dirty="0">
                <a:solidFill>
                  <a:srgbClr val="F0F4F8"/>
                </a:solidFill>
                <a:latin typeface="Calibri"/>
              </a:rPr>
              <a:t>At </a:t>
            </a:r>
            <a:r>
              <a:rPr lang="es-ES" sz="2600" b="1" i="0" dirty="0" err="1">
                <a:solidFill>
                  <a:srgbClr val="F0F4F8"/>
                </a:solidFill>
                <a:latin typeface="Calibri"/>
              </a:rPr>
              <a:t>inference</a:t>
            </a:r>
            <a:r>
              <a:rPr lang="es-ES" sz="2600" b="1" i="0" dirty="0">
                <a:solidFill>
                  <a:srgbClr val="F0F4F8"/>
                </a:solidFill>
                <a:latin typeface="Calibri"/>
              </a:rPr>
              <a:t>: 3. </a:t>
            </a:r>
            <a:r>
              <a:rPr lang="es-ES" sz="2600" b="1" i="0" dirty="0" err="1">
                <a:solidFill>
                  <a:srgbClr val="F0F4F8"/>
                </a:solidFill>
                <a:latin typeface="Calibri"/>
              </a:rPr>
              <a:t>we</a:t>
            </a:r>
            <a:r>
              <a:rPr lang="es-ES" sz="2600" b="1" i="0" dirty="0">
                <a:solidFill>
                  <a:srgbClr val="F0F4F8"/>
                </a:solidFill>
                <a:latin typeface="Calibri"/>
              </a:rPr>
              <a:t> </a:t>
            </a:r>
            <a:r>
              <a:rPr lang="es-ES" sz="2600" b="1" i="0" dirty="0" err="1">
                <a:solidFill>
                  <a:srgbClr val="F0F4F8"/>
                </a:solidFill>
                <a:latin typeface="Calibri"/>
              </a:rPr>
              <a:t>calculate</a:t>
            </a:r>
            <a:r>
              <a:rPr lang="es-ES" sz="2600" b="1" i="0" dirty="0">
                <a:solidFill>
                  <a:srgbClr val="F0F4F8"/>
                </a:solidFill>
                <a:latin typeface="Calibri"/>
              </a:rPr>
              <a:t> </a:t>
            </a:r>
            <a:r>
              <a:rPr lang="es-ES" sz="2600" b="1" i="0" dirty="0" err="1">
                <a:solidFill>
                  <a:srgbClr val="F0F4F8"/>
                </a:solidFill>
                <a:latin typeface="Calibri"/>
              </a:rPr>
              <a:t>the</a:t>
            </a:r>
            <a:r>
              <a:rPr lang="es-ES" sz="2600" b="1" i="0" dirty="0">
                <a:solidFill>
                  <a:srgbClr val="F0F4F8"/>
                </a:solidFill>
                <a:latin typeface="Calibri"/>
              </a:rPr>
              <a:t> </a:t>
            </a:r>
            <a:r>
              <a:rPr lang="es-ES" sz="2600" b="1" i="0" dirty="0" err="1">
                <a:solidFill>
                  <a:srgbClr val="F0F4F8"/>
                </a:solidFill>
                <a:latin typeface="Calibri"/>
              </a:rPr>
              <a:t>cosine</a:t>
            </a:r>
            <a:r>
              <a:rPr lang="es-ES" sz="2600" b="1" i="0" dirty="0">
                <a:solidFill>
                  <a:srgbClr val="F0F4F8"/>
                </a:solidFill>
                <a:latin typeface="Calibri"/>
              </a:rPr>
              <a:t> </a:t>
            </a:r>
            <a:r>
              <a:rPr lang="es-ES" sz="2600" b="1" i="0" dirty="0" err="1">
                <a:solidFill>
                  <a:srgbClr val="F0F4F8"/>
                </a:solidFill>
                <a:latin typeface="Calibri"/>
              </a:rPr>
              <a:t>distance</a:t>
            </a:r>
            <a:r>
              <a:rPr lang="es-ES" sz="2600" b="1" i="0" dirty="0">
                <a:solidFill>
                  <a:srgbClr val="F0F4F8"/>
                </a:solidFill>
                <a:latin typeface="Calibri"/>
              </a:rPr>
              <a:t> </a:t>
            </a:r>
            <a:r>
              <a:rPr lang="es-ES" sz="2600" b="1" i="0" dirty="0" err="1">
                <a:solidFill>
                  <a:srgbClr val="F0F4F8"/>
                </a:solidFill>
                <a:latin typeface="Calibri"/>
              </a:rPr>
              <a:t>from</a:t>
            </a:r>
            <a:r>
              <a:rPr lang="es-ES" sz="2600" b="1" i="0" dirty="0">
                <a:solidFill>
                  <a:srgbClr val="F0F4F8"/>
                </a:solidFill>
                <a:latin typeface="Calibri"/>
              </a:rPr>
              <a:t> </a:t>
            </a:r>
            <a:r>
              <a:rPr lang="es-ES" sz="2600" b="1" i="0" dirty="0" err="1">
                <a:solidFill>
                  <a:srgbClr val="F0F4F8"/>
                </a:solidFill>
                <a:latin typeface="Calibri"/>
              </a:rPr>
              <a:t>the</a:t>
            </a:r>
            <a:r>
              <a:rPr lang="es-ES" sz="2600" b="1" i="0" dirty="0">
                <a:solidFill>
                  <a:srgbClr val="F0F4F8"/>
                </a:solidFill>
                <a:latin typeface="Calibri"/>
              </a:rPr>
              <a:t> </a:t>
            </a:r>
            <a:r>
              <a:rPr lang="es-ES" sz="2600" b="1" i="0" dirty="0" err="1">
                <a:solidFill>
                  <a:srgbClr val="F0F4F8"/>
                </a:solidFill>
                <a:latin typeface="Calibri"/>
              </a:rPr>
              <a:t>query</a:t>
            </a:r>
            <a:r>
              <a:rPr lang="es-ES" sz="2600" b="1" i="0" dirty="0">
                <a:solidFill>
                  <a:srgbClr val="F0F4F8"/>
                </a:solidFill>
                <a:latin typeface="Calibri"/>
              </a:rPr>
              <a:t> </a:t>
            </a:r>
            <a:r>
              <a:rPr lang="es-ES" sz="2600" b="1" i="0" dirty="0" err="1">
                <a:solidFill>
                  <a:srgbClr val="F0F4F8"/>
                </a:solidFill>
                <a:latin typeface="Calibri"/>
              </a:rPr>
              <a:t>embedding</a:t>
            </a:r>
            <a:r>
              <a:rPr lang="es-ES" sz="2600" b="1" i="0" dirty="0">
                <a:solidFill>
                  <a:srgbClr val="F0F4F8"/>
                </a:solidFill>
                <a:latin typeface="Calibri"/>
              </a:rPr>
              <a:t> </a:t>
            </a:r>
            <a:r>
              <a:rPr lang="es-ES" sz="2600" b="1" i="0" dirty="0" err="1">
                <a:solidFill>
                  <a:srgbClr val="F0F4F8"/>
                </a:solidFill>
                <a:latin typeface="Calibri"/>
              </a:rPr>
              <a:t>to</a:t>
            </a:r>
            <a:r>
              <a:rPr lang="es-ES" sz="2600" b="1" i="0" dirty="0">
                <a:solidFill>
                  <a:srgbClr val="F0F4F8"/>
                </a:solidFill>
                <a:latin typeface="Calibri"/>
              </a:rPr>
              <a:t> </a:t>
            </a:r>
            <a:r>
              <a:rPr lang="es-ES" sz="2600" b="1" i="0" dirty="0" err="1">
                <a:solidFill>
                  <a:srgbClr val="F0F4F8"/>
                </a:solidFill>
                <a:latin typeface="Calibri"/>
              </a:rPr>
              <a:t>each</a:t>
            </a:r>
            <a:r>
              <a:rPr lang="es-ES" sz="2600" b="1" i="0" dirty="0">
                <a:solidFill>
                  <a:srgbClr val="F0F4F8"/>
                </a:solidFill>
                <a:latin typeface="Calibri"/>
              </a:rPr>
              <a:t> candidate. </a:t>
            </a:r>
            <a:endParaRPr sz="2600" b="1" i="0" dirty="0">
              <a:solidFill>
                <a:srgbClr val="F0F4F8"/>
              </a:solidFill>
              <a:latin typeface="Calibri"/>
            </a:endParaRPr>
          </a:p>
        </p:txBody>
      </p:sp>
      <p:sp>
        <p:nvSpPr>
          <p:cNvPr id="11" name="Rectangle 10">
            <a:extLst>
              <a:ext uri="{FF2B5EF4-FFF2-40B4-BE49-F238E27FC236}">
                <a16:creationId xmlns:a16="http://schemas.microsoft.com/office/drawing/2014/main" id="{1D61B703-2161-4F0D-3F93-7489126FF461}"/>
              </a:ext>
            </a:extLst>
          </p:cNvPr>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nel_c_slide.png">
            <a:extLst>
              <a:ext uri="{FF2B5EF4-FFF2-40B4-BE49-F238E27FC236}">
                <a16:creationId xmlns:a16="http://schemas.microsoft.com/office/drawing/2014/main" id="{56E98AFF-FC16-11D9-BDC5-0C36EC665A6F}"/>
              </a:ext>
            </a:extLst>
          </p:cNvPr>
          <p:cNvPicPr>
            <a:picLocks noChangeAspect="1"/>
          </p:cNvPicPr>
          <p:nvPr/>
        </p:nvPicPr>
        <p:blipFill>
          <a:blip r:embed="rId3"/>
          <a:stretch>
            <a:fillRect/>
          </a:stretch>
        </p:blipFill>
        <p:spPr>
          <a:xfrm>
            <a:off x="1416920" y="1426464"/>
            <a:ext cx="9355110" cy="4992623"/>
          </a:xfrm>
          <a:prstGeom prst="rect">
            <a:avLst/>
          </a:prstGeom>
        </p:spPr>
      </p:pic>
    </p:spTree>
    <p:extLst>
      <p:ext uri="{BB962C8B-B14F-4D97-AF65-F5344CB8AC3E}">
        <p14:creationId xmlns:p14="http://schemas.microsoft.com/office/powerpoint/2010/main" val="3095530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PROBLEM</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17</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12:55–13:20</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The problem, solved.</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Same query  ·  four-view embedding  ·  the right isomer ranks first.</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97764" y="1481328"/>
            <a:ext cx="11411711" cy="4294330"/>
          </a:xfrm>
          <a:prstGeom prst="roundRect">
            <a:avLst>
              <a:gd name="adj" fmla="val 5000"/>
            </a:avLst>
          </a:prstGeom>
          <a:solidFill>
            <a:srgbClr val="F7F4EE"/>
          </a:solidFill>
          <a:ln w="12700">
            <a:solidFill>
              <a:srgbClr val="D8D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anel_a.png"/>
          <p:cNvPicPr>
            <a:picLocks noChangeAspect="1"/>
          </p:cNvPicPr>
          <p:nvPr/>
        </p:nvPicPr>
        <p:blipFill>
          <a:blip r:embed="rId3"/>
          <a:stretch>
            <a:fillRect/>
          </a:stretch>
        </p:blipFill>
        <p:spPr>
          <a:xfrm>
            <a:off x="525780" y="1609344"/>
            <a:ext cx="11155680" cy="403829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FUSION</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10</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07:10–08:05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dirty="0">
                <a:solidFill>
                  <a:srgbClr val="F0F4F8"/>
                </a:solidFill>
                <a:latin typeface="Calibri"/>
              </a:rPr>
              <a:t>Training aligns the views.  Inference combines them.</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Candidate and query fusion are asymmetric because they solve different problems.</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600200"/>
            <a:ext cx="5212080" cy="4206240"/>
          </a:xfrm>
          <a:prstGeom prst="roundRect">
            <a:avLst>
              <a:gd name="adj" fmla="val 8000"/>
            </a:avLst>
          </a:prstGeom>
          <a:solidFill>
            <a:srgbClr val="141C28">
              <a:alpha val="78000"/>
            </a:srgbClr>
          </a:solidFill>
          <a:ln w="16510">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810512"/>
            <a:ext cx="4663440" cy="320040"/>
          </a:xfrm>
          <a:prstGeom prst="rect">
            <a:avLst/>
          </a:prstGeom>
          <a:noFill/>
        </p:spPr>
        <p:txBody>
          <a:bodyPr wrap="square" anchor="t">
            <a:spAutoFit/>
          </a:bodyPr>
          <a:lstStyle/>
          <a:p>
            <a:pPr algn="ctr">
              <a:spcBef>
                <a:spcPts val="0"/>
              </a:spcBef>
              <a:spcAft>
                <a:spcPts val="0"/>
              </a:spcAft>
            </a:pPr>
            <a:r>
              <a:rPr sz="1300" b="1" i="0">
                <a:solidFill>
                  <a:srgbClr val="A9D2F5"/>
                </a:solidFill>
                <a:latin typeface="Calibri"/>
              </a:rPr>
              <a:t>CANDIDATE STRUCTURE</a:t>
            </a:r>
          </a:p>
        </p:txBody>
      </p:sp>
      <p:sp>
        <p:nvSpPr>
          <p:cNvPr id="14" name="Rounded Rectangle 13"/>
          <p:cNvSpPr/>
          <p:nvPr/>
        </p:nvSpPr>
        <p:spPr>
          <a:xfrm>
            <a:off x="777240" y="2423160"/>
            <a:ext cx="1645920" cy="1143000"/>
          </a:xfrm>
          <a:prstGeom prst="roundRect">
            <a:avLst>
              <a:gd name="adj" fmla="val 8000"/>
            </a:avLst>
          </a:prstGeom>
          <a:solidFill>
            <a:srgbClr val="1B2838">
              <a:alpha val="92000"/>
            </a:srgbClr>
          </a:solidFill>
          <a:ln w="13970">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651760"/>
            <a:ext cx="1463040" cy="640080"/>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2D graph</a:t>
            </a:r>
          </a:p>
          <a:p>
            <a:pPr algn="ctr">
              <a:spcBef>
                <a:spcPts val="0"/>
              </a:spcBef>
              <a:spcAft>
                <a:spcPts val="0"/>
              </a:spcAft>
            </a:pPr>
            <a:r>
              <a:rPr sz="1600" b="1" i="0">
                <a:solidFill>
                  <a:srgbClr val="F0F4F8"/>
                </a:solidFill>
                <a:latin typeface="Calibri"/>
              </a:rPr>
              <a:t>60%</a:t>
            </a:r>
          </a:p>
        </p:txBody>
      </p:sp>
      <p:sp>
        <p:nvSpPr>
          <p:cNvPr id="16" name="TextBox 15"/>
          <p:cNvSpPr txBox="1"/>
          <p:nvPr/>
        </p:nvSpPr>
        <p:spPr>
          <a:xfrm>
            <a:off x="2542032" y="2743200"/>
            <a:ext cx="411480" cy="411480"/>
          </a:xfrm>
          <a:prstGeom prst="rect">
            <a:avLst/>
          </a:prstGeom>
          <a:noFill/>
        </p:spPr>
        <p:txBody>
          <a:bodyPr wrap="square" anchor="t">
            <a:spAutoFit/>
          </a:bodyPr>
          <a:lstStyle/>
          <a:p>
            <a:pPr algn="ctr">
              <a:spcBef>
                <a:spcPts val="0"/>
              </a:spcBef>
              <a:spcAft>
                <a:spcPts val="0"/>
              </a:spcAft>
            </a:pPr>
            <a:r>
              <a:rPr sz="2200" b="1" i="0">
                <a:solidFill>
                  <a:srgbClr val="A9D2F5"/>
                </a:solidFill>
                <a:latin typeface="Calibri"/>
              </a:rPr>
              <a:t>+</a:t>
            </a:r>
          </a:p>
        </p:txBody>
      </p:sp>
      <p:sp>
        <p:nvSpPr>
          <p:cNvPr id="17" name="Rounded Rectangle 16"/>
          <p:cNvSpPr/>
          <p:nvPr/>
        </p:nvSpPr>
        <p:spPr>
          <a:xfrm>
            <a:off x="3063240" y="2423160"/>
            <a:ext cx="1645920" cy="1143000"/>
          </a:xfrm>
          <a:prstGeom prst="roundRect">
            <a:avLst>
              <a:gd name="adj" fmla="val 8000"/>
            </a:avLst>
          </a:prstGeom>
          <a:solidFill>
            <a:srgbClr val="1B2838">
              <a:alpha val="92000"/>
            </a:srgbClr>
          </a:solidFill>
          <a:ln w="13970">
            <a:solidFill>
              <a:srgbClr val="A9D2F5">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154680" y="2651760"/>
            <a:ext cx="1463040" cy="640080"/>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Morgan FPS</a:t>
            </a:r>
          </a:p>
          <a:p>
            <a:pPr algn="ctr">
              <a:spcBef>
                <a:spcPts val="0"/>
              </a:spcBef>
              <a:spcAft>
                <a:spcPts val="0"/>
              </a:spcAft>
            </a:pPr>
            <a:r>
              <a:rPr sz="1600" b="1" i="0">
                <a:solidFill>
                  <a:srgbClr val="F0F4F8"/>
                </a:solidFill>
                <a:latin typeface="Calibri"/>
              </a:rPr>
              <a:t>40%</a:t>
            </a:r>
          </a:p>
        </p:txBody>
      </p:sp>
      <p:sp>
        <p:nvSpPr>
          <p:cNvPr id="19" name="TextBox 18"/>
          <p:cNvSpPr txBox="1"/>
          <p:nvPr/>
        </p:nvSpPr>
        <p:spPr>
          <a:xfrm>
            <a:off x="731520" y="3840480"/>
            <a:ext cx="4663440" cy="365760"/>
          </a:xfrm>
          <a:prstGeom prst="rect">
            <a:avLst/>
          </a:prstGeom>
          <a:noFill/>
        </p:spPr>
        <p:txBody>
          <a:bodyPr wrap="square" anchor="t">
            <a:spAutoFit/>
          </a:bodyPr>
          <a:lstStyle/>
          <a:p>
            <a:pPr algn="ctr">
              <a:spcBef>
                <a:spcPts val="0"/>
              </a:spcBef>
              <a:spcAft>
                <a:spcPts val="0"/>
              </a:spcAft>
            </a:pPr>
            <a:r>
              <a:rPr sz="1900" b="1" i="0">
                <a:solidFill>
                  <a:srgbClr val="62C370"/>
                </a:solidFill>
                <a:latin typeface="Calibri"/>
              </a:rPr>
              <a:t>↓</a:t>
            </a:r>
          </a:p>
        </p:txBody>
      </p:sp>
      <p:sp>
        <p:nvSpPr>
          <p:cNvPr id="20" name="Rounded Rectangle 19"/>
          <p:cNvSpPr/>
          <p:nvPr/>
        </p:nvSpPr>
        <p:spPr>
          <a:xfrm>
            <a:off x="1508760" y="4297680"/>
            <a:ext cx="3108960" cy="777240"/>
          </a:xfrm>
          <a:prstGeom prst="roundRect">
            <a:avLst>
              <a:gd name="adj" fmla="val 8000"/>
            </a:avLst>
          </a:prstGeom>
          <a:solidFill>
            <a:srgbClr val="1D3A2E">
              <a:alpha val="94000"/>
            </a:srgbClr>
          </a:solidFill>
          <a:ln w="16510">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91640" y="4507992"/>
            <a:ext cx="2743200" cy="365760"/>
          </a:xfrm>
          <a:prstGeom prst="rect">
            <a:avLst/>
          </a:prstGeom>
          <a:noFill/>
        </p:spPr>
        <p:txBody>
          <a:bodyPr wrap="square" anchor="t">
            <a:spAutoFit/>
          </a:bodyPr>
          <a:lstStyle/>
          <a:p>
            <a:pPr algn="ctr">
              <a:spcBef>
                <a:spcPts val="0"/>
              </a:spcBef>
              <a:spcAft>
                <a:spcPts val="0"/>
              </a:spcAft>
            </a:pPr>
            <a:r>
              <a:rPr sz="1500" b="1" i="0">
                <a:solidFill>
                  <a:srgbClr val="62C370"/>
                </a:solidFill>
                <a:latin typeface="Calibri"/>
              </a:rPr>
              <a:t>one candidate embedding</a:t>
            </a:r>
          </a:p>
        </p:txBody>
      </p:sp>
      <p:sp>
        <p:nvSpPr>
          <p:cNvPr id="22" name="Rounded Rectangle 21"/>
          <p:cNvSpPr/>
          <p:nvPr/>
        </p:nvSpPr>
        <p:spPr>
          <a:xfrm>
            <a:off x="6080760" y="1600200"/>
            <a:ext cx="5669280" cy="4206240"/>
          </a:xfrm>
          <a:prstGeom prst="roundRect">
            <a:avLst>
              <a:gd name="adj" fmla="val 8000"/>
            </a:avLst>
          </a:prstGeom>
          <a:solidFill>
            <a:srgbClr val="141C28">
              <a:alpha val="78000"/>
            </a:srgbClr>
          </a:solidFill>
          <a:ln w="16510">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810512"/>
            <a:ext cx="5120640" cy="320040"/>
          </a:xfrm>
          <a:prstGeom prst="rect">
            <a:avLst/>
          </a:prstGeom>
          <a:noFill/>
        </p:spPr>
        <p:txBody>
          <a:bodyPr wrap="square" anchor="t">
            <a:spAutoFit/>
          </a:bodyPr>
          <a:lstStyle/>
          <a:p>
            <a:pPr algn="ctr">
              <a:spcBef>
                <a:spcPts val="0"/>
              </a:spcBef>
              <a:spcAft>
                <a:spcPts val="0"/>
              </a:spcAft>
            </a:pPr>
            <a:r>
              <a:rPr sz="1300" b="1" i="0">
                <a:solidFill>
                  <a:srgbClr val="F3B36E"/>
                </a:solidFill>
                <a:latin typeface="Calibri"/>
              </a:rPr>
              <a:t>SPECTRAL QUERY</a:t>
            </a:r>
          </a:p>
        </p:txBody>
      </p:sp>
      <p:sp>
        <p:nvSpPr>
          <p:cNvPr id="24" name="Rounded Rectangle 23"/>
          <p:cNvSpPr/>
          <p:nvPr/>
        </p:nvSpPr>
        <p:spPr>
          <a:xfrm>
            <a:off x="6400800" y="2423160"/>
            <a:ext cx="1737360" cy="1143000"/>
          </a:xfrm>
          <a:prstGeom prst="roundRect">
            <a:avLst>
              <a:gd name="adj" fmla="val 8000"/>
            </a:avLst>
          </a:prstGeom>
          <a:solidFill>
            <a:srgbClr val="1B2838">
              <a:alpha val="92000"/>
            </a:srgbClr>
          </a:solidFill>
          <a:ln w="13970">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2651760"/>
            <a:ext cx="1554480" cy="640080"/>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merged</a:t>
            </a:r>
          </a:p>
          <a:p>
            <a:pPr algn="ctr">
              <a:spcBef>
                <a:spcPts val="0"/>
              </a:spcBef>
              <a:spcAft>
                <a:spcPts val="0"/>
              </a:spcAft>
            </a:pPr>
            <a:r>
              <a:rPr sz="1600" b="1" i="0">
                <a:solidFill>
                  <a:srgbClr val="F0F4F8"/>
                </a:solidFill>
                <a:latin typeface="Calibri"/>
              </a:rPr>
              <a:t>20%</a:t>
            </a:r>
          </a:p>
        </p:txBody>
      </p:sp>
      <p:sp>
        <p:nvSpPr>
          <p:cNvPr id="26" name="TextBox 25"/>
          <p:cNvSpPr txBox="1"/>
          <p:nvPr/>
        </p:nvSpPr>
        <p:spPr>
          <a:xfrm>
            <a:off x="8247888" y="2743200"/>
            <a:ext cx="411480" cy="411480"/>
          </a:xfrm>
          <a:prstGeom prst="rect">
            <a:avLst/>
          </a:prstGeom>
          <a:noFill/>
        </p:spPr>
        <p:txBody>
          <a:bodyPr wrap="square" anchor="t">
            <a:spAutoFit/>
          </a:bodyPr>
          <a:lstStyle/>
          <a:p>
            <a:pPr algn="ctr">
              <a:spcBef>
                <a:spcPts val="0"/>
              </a:spcBef>
              <a:spcAft>
                <a:spcPts val="0"/>
              </a:spcAft>
            </a:pPr>
            <a:r>
              <a:rPr sz="2200" b="1" i="0">
                <a:solidFill>
                  <a:srgbClr val="F3B36E"/>
                </a:solidFill>
                <a:latin typeface="Calibri"/>
              </a:rPr>
              <a:t>+</a:t>
            </a:r>
          </a:p>
        </p:txBody>
      </p:sp>
      <p:sp>
        <p:nvSpPr>
          <p:cNvPr id="27" name="Rounded Rectangle 26"/>
          <p:cNvSpPr/>
          <p:nvPr/>
        </p:nvSpPr>
        <p:spPr>
          <a:xfrm>
            <a:off x="8778240" y="2423160"/>
            <a:ext cx="2468880" cy="1143000"/>
          </a:xfrm>
          <a:prstGeom prst="roundRect">
            <a:avLst>
              <a:gd name="adj" fmla="val 8000"/>
            </a:avLst>
          </a:prstGeom>
          <a:solidFill>
            <a:srgbClr val="1B2838">
              <a:alpha val="92000"/>
            </a:srgbClr>
          </a:solidFill>
          <a:ln w="13970">
            <a:solidFill>
              <a:srgbClr val="F3B36E">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87968" y="2578608"/>
            <a:ext cx="2249424" cy="822960"/>
          </a:xfrm>
          <a:prstGeom prst="rect">
            <a:avLst/>
          </a:prstGeom>
          <a:noFill/>
        </p:spPr>
        <p:txBody>
          <a:bodyPr wrap="square" anchor="t">
            <a:spAutoFit/>
          </a:bodyPr>
          <a:lstStyle/>
          <a:p>
            <a:pPr algn="ctr">
              <a:spcBef>
                <a:spcPts val="0"/>
              </a:spcBef>
              <a:spcAft>
                <a:spcPts val="0"/>
              </a:spcAft>
            </a:pPr>
            <a:r>
              <a:rPr sz="1400" b="1" i="0">
                <a:solidFill>
                  <a:srgbClr val="F0F4F8"/>
                </a:solidFill>
                <a:latin typeface="Calibri"/>
              </a:rPr>
              <a:t>mean pool K = 16</a:t>
            </a:r>
          </a:p>
          <a:p>
            <a:pPr algn="ctr">
              <a:spcBef>
                <a:spcPts val="0"/>
              </a:spcBef>
              <a:spcAft>
                <a:spcPts val="0"/>
              </a:spcAft>
            </a:pPr>
            <a:r>
              <a:rPr sz="1400" b="1" i="0">
                <a:solidFill>
                  <a:srgbClr val="F0F4F8"/>
                </a:solidFill>
                <a:latin typeface="Calibri"/>
              </a:rPr>
              <a:t>single spectra  ·  80%</a:t>
            </a:r>
          </a:p>
        </p:txBody>
      </p:sp>
      <p:sp>
        <p:nvSpPr>
          <p:cNvPr id="29" name="TextBox 28"/>
          <p:cNvSpPr txBox="1"/>
          <p:nvPr/>
        </p:nvSpPr>
        <p:spPr>
          <a:xfrm>
            <a:off x="6355080" y="3840480"/>
            <a:ext cx="5120640" cy="365760"/>
          </a:xfrm>
          <a:prstGeom prst="rect">
            <a:avLst/>
          </a:prstGeom>
          <a:noFill/>
        </p:spPr>
        <p:txBody>
          <a:bodyPr wrap="square" anchor="t">
            <a:spAutoFit/>
          </a:bodyPr>
          <a:lstStyle/>
          <a:p>
            <a:pPr algn="ctr">
              <a:spcBef>
                <a:spcPts val="0"/>
              </a:spcBef>
              <a:spcAft>
                <a:spcPts val="0"/>
              </a:spcAft>
            </a:pPr>
            <a:r>
              <a:rPr sz="1900" b="1" i="0">
                <a:solidFill>
                  <a:srgbClr val="62C370"/>
                </a:solidFill>
                <a:latin typeface="Calibri"/>
              </a:rPr>
              <a:t>↓</a:t>
            </a:r>
          </a:p>
        </p:txBody>
      </p:sp>
      <p:sp>
        <p:nvSpPr>
          <p:cNvPr id="30" name="Rounded Rectangle 29"/>
          <p:cNvSpPr/>
          <p:nvPr/>
        </p:nvSpPr>
        <p:spPr>
          <a:xfrm>
            <a:off x="7360920" y="4297680"/>
            <a:ext cx="3108960" cy="777240"/>
          </a:xfrm>
          <a:prstGeom prst="roundRect">
            <a:avLst>
              <a:gd name="adj" fmla="val 8000"/>
            </a:avLst>
          </a:prstGeom>
          <a:solidFill>
            <a:srgbClr val="1D3A2E">
              <a:alpha val="94000"/>
            </a:srgbClr>
          </a:solidFill>
          <a:ln w="16510">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43800" y="4507992"/>
            <a:ext cx="2743200" cy="365760"/>
          </a:xfrm>
          <a:prstGeom prst="rect">
            <a:avLst/>
          </a:prstGeom>
          <a:noFill/>
        </p:spPr>
        <p:txBody>
          <a:bodyPr wrap="square" anchor="t">
            <a:spAutoFit/>
          </a:bodyPr>
          <a:lstStyle/>
          <a:p>
            <a:pPr algn="ctr">
              <a:spcBef>
                <a:spcPts val="0"/>
              </a:spcBef>
              <a:spcAft>
                <a:spcPts val="0"/>
              </a:spcAft>
            </a:pPr>
            <a:r>
              <a:rPr sz="1500" b="1" i="0">
                <a:solidFill>
                  <a:srgbClr val="62C370"/>
                </a:solidFill>
                <a:latin typeface="Calibri"/>
              </a:rPr>
              <a:t>one query embedding</a:t>
            </a:r>
          </a:p>
        </p:txBody>
      </p:sp>
      <p:sp>
        <p:nvSpPr>
          <p:cNvPr id="32" name="TextBox 31"/>
          <p:cNvSpPr txBox="1"/>
          <p:nvPr/>
        </p:nvSpPr>
        <p:spPr>
          <a:xfrm>
            <a:off x="502920" y="5925312"/>
            <a:ext cx="11155680" cy="274320"/>
          </a:xfrm>
          <a:prstGeom prst="rect">
            <a:avLst/>
          </a:prstGeom>
          <a:noFill/>
        </p:spPr>
        <p:txBody>
          <a:bodyPr wrap="square" anchor="t">
            <a:spAutoFit/>
          </a:bodyPr>
          <a:lstStyle/>
          <a:p>
            <a:pPr algn="ctr">
              <a:spcBef>
                <a:spcPts val="0"/>
              </a:spcBef>
              <a:spcAft>
                <a:spcPts val="0"/>
              </a:spcAft>
            </a:pPr>
            <a:r>
              <a:rPr sz="1400" b="0" i="0">
                <a:solidFill>
                  <a:srgbClr val="B9C9D9"/>
                </a:solidFill>
                <a:latin typeface="Calibri"/>
              </a:rPr>
              <a:t>Cosine similarity ranks each formula-matched candidate against the fused query.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EVIDENCE</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11</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07:20–09:15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One view loses.  Combining views wins.</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Recall@1 on held-out test. α, β and K selected on validation.</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72768"/>
            <a:ext cx="11292840" cy="4617720"/>
          </a:xfrm>
          <a:prstGeom prst="roundRect">
            <a:avLst>
              <a:gd name="adj" fmla="val 8000"/>
            </a:avLst>
          </a:prstGeom>
          <a:solidFill>
            <a:srgbClr val="141C28">
              <a:alpha val="72000"/>
            </a:srgbClr>
          </a:solidFill>
          <a:ln w="14604">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05840" y="2760177"/>
            <a:ext cx="10149840" cy="16459"/>
          </a:xfrm>
          <a:prstGeom prst="rect">
            <a:avLst/>
          </a:prstGeom>
          <a:solidFill>
            <a:srgbClr val="B9C9D9">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2467569"/>
            <a:ext cx="2194560" cy="256032"/>
          </a:xfrm>
          <a:prstGeom prst="rect">
            <a:avLst/>
          </a:prstGeom>
          <a:noFill/>
        </p:spPr>
        <p:txBody>
          <a:bodyPr wrap="square" anchor="t">
            <a:spAutoFit/>
          </a:bodyPr>
          <a:lstStyle/>
          <a:p>
            <a:pPr algn="l">
              <a:spcBef>
                <a:spcPts val="0"/>
              </a:spcBef>
              <a:spcAft>
                <a:spcPts val="0"/>
              </a:spcAft>
            </a:pPr>
            <a:r>
              <a:rPr sz="1200" b="0" i="1">
                <a:solidFill>
                  <a:srgbClr val="B9C9D9"/>
                </a:solidFill>
                <a:latin typeface="Calibri"/>
              </a:rPr>
              <a:t>FLARE  22.66%</a:t>
            </a:r>
          </a:p>
        </p:txBody>
      </p:sp>
      <p:sp>
        <p:nvSpPr>
          <p:cNvPr id="15" name="Rounded Rectangle 14"/>
          <p:cNvSpPr/>
          <p:nvPr/>
        </p:nvSpPr>
        <p:spPr>
          <a:xfrm>
            <a:off x="1592580" y="3286048"/>
            <a:ext cx="1325880" cy="1926031"/>
          </a:xfrm>
          <a:prstGeom prst="roundRect">
            <a:avLst>
              <a:gd name="adj" fmla="val 6000"/>
            </a:avLst>
          </a:prstGeom>
          <a:solidFill>
            <a:srgbClr val="5A9FDA">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01140" y="2938576"/>
            <a:ext cx="1508760" cy="310896"/>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17.8</a:t>
            </a:r>
          </a:p>
        </p:txBody>
      </p:sp>
      <p:sp>
        <p:nvSpPr>
          <p:cNvPr id="17" name="TextBox 16"/>
          <p:cNvSpPr txBox="1"/>
          <p:nvPr/>
        </p:nvSpPr>
        <p:spPr>
          <a:xfrm>
            <a:off x="1455420" y="5285231"/>
            <a:ext cx="1600200" cy="36576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Merged</a:t>
            </a:r>
          </a:p>
        </p:txBody>
      </p:sp>
      <p:sp>
        <p:nvSpPr>
          <p:cNvPr id="18" name="Rounded Rectangle 17"/>
          <p:cNvSpPr/>
          <p:nvPr/>
        </p:nvSpPr>
        <p:spPr>
          <a:xfrm>
            <a:off x="3505200" y="3415893"/>
            <a:ext cx="1325880" cy="1796186"/>
          </a:xfrm>
          <a:prstGeom prst="roundRect">
            <a:avLst>
              <a:gd name="adj" fmla="val 6000"/>
            </a:avLst>
          </a:prstGeom>
          <a:solidFill>
            <a:srgbClr val="A9D2F5">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13760" y="3068421"/>
            <a:ext cx="1508760" cy="310896"/>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16.6</a:t>
            </a:r>
          </a:p>
        </p:txBody>
      </p:sp>
      <p:sp>
        <p:nvSpPr>
          <p:cNvPr id="20" name="TextBox 19"/>
          <p:cNvSpPr txBox="1"/>
          <p:nvPr/>
        </p:nvSpPr>
        <p:spPr>
          <a:xfrm>
            <a:off x="3368040" y="5285231"/>
            <a:ext cx="1600200" cy="36576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Single</a:t>
            </a:r>
          </a:p>
        </p:txBody>
      </p:sp>
      <p:sp>
        <p:nvSpPr>
          <p:cNvPr id="21" name="Rounded Rectangle 20"/>
          <p:cNvSpPr/>
          <p:nvPr/>
        </p:nvSpPr>
        <p:spPr>
          <a:xfrm>
            <a:off x="5417820" y="2658465"/>
            <a:ext cx="1325880" cy="2553614"/>
          </a:xfrm>
          <a:prstGeom prst="roundRect">
            <a:avLst>
              <a:gd name="adj" fmla="val 6000"/>
            </a:avLst>
          </a:prstGeom>
          <a:solidFill>
            <a:srgbClr val="D9873A">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26380" y="2310993"/>
            <a:ext cx="1508760" cy="310896"/>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23.6</a:t>
            </a:r>
          </a:p>
        </p:txBody>
      </p:sp>
      <p:sp>
        <p:nvSpPr>
          <p:cNvPr id="23" name="TextBox 22"/>
          <p:cNvSpPr txBox="1"/>
          <p:nvPr/>
        </p:nvSpPr>
        <p:spPr>
          <a:xfrm>
            <a:off x="5280660" y="5285231"/>
            <a:ext cx="1600200" cy="36576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DualSpec</a:t>
            </a:r>
          </a:p>
        </p:txBody>
      </p:sp>
      <p:sp>
        <p:nvSpPr>
          <p:cNvPr id="24" name="Rounded Rectangle 23"/>
          <p:cNvSpPr/>
          <p:nvPr/>
        </p:nvSpPr>
        <p:spPr>
          <a:xfrm>
            <a:off x="7330440" y="2885693"/>
            <a:ext cx="1325880" cy="2326386"/>
          </a:xfrm>
          <a:prstGeom prst="roundRect">
            <a:avLst>
              <a:gd name="adj" fmla="val 6000"/>
            </a:avLst>
          </a:prstGeom>
          <a:solidFill>
            <a:srgbClr val="F3B36E">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39000" y="2538221"/>
            <a:ext cx="1508760" cy="310896"/>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21.5</a:t>
            </a:r>
          </a:p>
        </p:txBody>
      </p:sp>
      <p:sp>
        <p:nvSpPr>
          <p:cNvPr id="26" name="TextBox 25"/>
          <p:cNvSpPr txBox="1"/>
          <p:nvPr/>
        </p:nvSpPr>
        <p:spPr>
          <a:xfrm>
            <a:off x="7193280" y="5285231"/>
            <a:ext cx="1600200" cy="36576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Pool K=16</a:t>
            </a:r>
          </a:p>
        </p:txBody>
      </p:sp>
      <p:sp>
        <p:nvSpPr>
          <p:cNvPr id="27" name="Rounded Rectangle 26"/>
          <p:cNvSpPr/>
          <p:nvPr/>
        </p:nvSpPr>
        <p:spPr>
          <a:xfrm>
            <a:off x="9243060" y="2409596"/>
            <a:ext cx="1325880" cy="2802483"/>
          </a:xfrm>
          <a:prstGeom prst="roundRect">
            <a:avLst>
              <a:gd name="adj" fmla="val 6000"/>
            </a:avLst>
          </a:prstGeom>
          <a:solidFill>
            <a:srgbClr val="62C370">
              <a:alpha val="9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1620" y="2062124"/>
            <a:ext cx="1508760" cy="310896"/>
          </a:xfrm>
          <a:prstGeom prst="rect">
            <a:avLst/>
          </a:prstGeom>
          <a:noFill/>
        </p:spPr>
        <p:txBody>
          <a:bodyPr wrap="square" anchor="t">
            <a:spAutoFit/>
          </a:bodyPr>
          <a:lstStyle/>
          <a:p>
            <a:pPr algn="ctr">
              <a:spcBef>
                <a:spcPts val="0"/>
              </a:spcBef>
              <a:spcAft>
                <a:spcPts val="0"/>
              </a:spcAft>
            </a:pPr>
            <a:r>
              <a:rPr sz="1600" b="1" i="0">
                <a:solidFill>
                  <a:srgbClr val="F0F4F8"/>
                </a:solidFill>
                <a:latin typeface="Calibri"/>
              </a:rPr>
              <a:t>25.9</a:t>
            </a:r>
          </a:p>
        </p:txBody>
      </p:sp>
      <p:sp>
        <p:nvSpPr>
          <p:cNvPr id="29" name="TextBox 28"/>
          <p:cNvSpPr txBox="1"/>
          <p:nvPr/>
        </p:nvSpPr>
        <p:spPr>
          <a:xfrm>
            <a:off x="9105900" y="5285231"/>
            <a:ext cx="1600200" cy="36576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Fused</a:t>
            </a:r>
          </a:p>
        </p:txBody>
      </p:sp>
      <p:sp>
        <p:nvSpPr>
          <p:cNvPr id="30" name="TextBox 29"/>
          <p:cNvSpPr txBox="1"/>
          <p:nvPr/>
        </p:nvSpPr>
        <p:spPr>
          <a:xfrm>
            <a:off x="640080" y="5669280"/>
            <a:ext cx="10972800" cy="320040"/>
          </a:xfrm>
          <a:prstGeom prst="rect">
            <a:avLst/>
          </a:prstGeom>
          <a:noFill/>
        </p:spPr>
        <p:txBody>
          <a:bodyPr wrap="square" anchor="t">
            <a:spAutoFit/>
          </a:bodyPr>
          <a:lstStyle/>
          <a:p>
            <a:pPr algn="ctr">
              <a:spcBef>
                <a:spcPts val="0"/>
              </a:spcBef>
              <a:spcAft>
                <a:spcPts val="0"/>
              </a:spcAft>
            </a:pPr>
            <a:r>
              <a:rPr sz="1600" b="1" i="0">
                <a:solidFill>
                  <a:srgbClr val="62C370"/>
                </a:solidFill>
                <a:latin typeface="Calibri"/>
              </a:rPr>
              <a:t>DualSpec clears FLARE. Pooling replicate evidence reaches 25.9%.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2  ·  RESULT</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12</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09:15–10:15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Best published Recall@1 — with formula-free spectrum encoding</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MassSpecGym formula-known track  ·  up to 256 isomers per query</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54480"/>
            <a:ext cx="8092440" cy="4709160"/>
          </a:xfrm>
          <a:prstGeom prst="roundRect">
            <a:avLst>
              <a:gd name="adj" fmla="val 8000"/>
            </a:avLst>
          </a:prstGeom>
          <a:solidFill>
            <a:srgbClr val="141C28">
              <a:alpha val="70000"/>
            </a:srgbClr>
          </a:solidFill>
          <a:ln w="13335">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leaderboard.png"/>
          <p:cNvPicPr>
            <a:picLocks noChangeAspect="1"/>
          </p:cNvPicPr>
          <p:nvPr/>
        </p:nvPicPr>
        <p:blipFill>
          <a:blip r:embed="rId3"/>
          <a:stretch>
            <a:fillRect/>
          </a:stretch>
        </p:blipFill>
        <p:spPr>
          <a:xfrm>
            <a:off x="685800" y="1755648"/>
            <a:ext cx="7543800" cy="4206240"/>
          </a:xfrm>
          <a:prstGeom prst="rect">
            <a:avLst/>
          </a:prstGeom>
        </p:spPr>
      </p:pic>
      <p:sp>
        <p:nvSpPr>
          <p:cNvPr id="14" name="Rectangle 13"/>
          <p:cNvSpPr/>
          <p:nvPr/>
        </p:nvSpPr>
        <p:spPr>
          <a:xfrm>
            <a:off x="960120" y="5760720"/>
            <a:ext cx="164592" cy="164592"/>
          </a:xfrm>
          <a:prstGeom prst="rect">
            <a:avLst/>
          </a:prstGeom>
          <a:solidFill>
            <a:srgbClr val="5A9FDA">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5715000"/>
            <a:ext cx="1508760" cy="256032"/>
          </a:xfrm>
          <a:prstGeom prst="rect">
            <a:avLst/>
          </a:prstGeom>
          <a:noFill/>
        </p:spPr>
        <p:txBody>
          <a:bodyPr wrap="square" anchor="t">
            <a:spAutoFit/>
          </a:bodyPr>
          <a:lstStyle/>
          <a:p>
            <a:pPr algn="l">
              <a:spcBef>
                <a:spcPts val="0"/>
              </a:spcBef>
              <a:spcAft>
                <a:spcPts val="0"/>
              </a:spcAft>
            </a:pPr>
            <a:r>
              <a:rPr sz="1000" b="0" i="0">
                <a:solidFill>
                  <a:srgbClr val="B9C9D9"/>
                </a:solidFill>
                <a:latin typeface="Calibri"/>
              </a:rPr>
              <a:t>formula-free encoder</a:t>
            </a:r>
          </a:p>
        </p:txBody>
      </p:sp>
      <p:sp>
        <p:nvSpPr>
          <p:cNvPr id="16" name="Rectangle 15"/>
          <p:cNvSpPr/>
          <p:nvPr/>
        </p:nvSpPr>
        <p:spPr>
          <a:xfrm>
            <a:off x="2880360" y="5760720"/>
            <a:ext cx="164592" cy="164592"/>
          </a:xfrm>
          <a:prstGeom prst="rect">
            <a:avLst/>
          </a:prstGeom>
          <a:solidFill>
            <a:srgbClr val="D9873A">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108960" y="5715000"/>
            <a:ext cx="2011680" cy="256032"/>
          </a:xfrm>
          <a:prstGeom prst="rect">
            <a:avLst/>
          </a:prstGeom>
          <a:noFill/>
        </p:spPr>
        <p:txBody>
          <a:bodyPr wrap="square" anchor="t">
            <a:spAutoFit/>
          </a:bodyPr>
          <a:lstStyle/>
          <a:p>
            <a:pPr algn="l">
              <a:spcBef>
                <a:spcPts val="0"/>
              </a:spcBef>
              <a:spcAft>
                <a:spcPts val="0"/>
              </a:spcAft>
            </a:pPr>
            <a:r>
              <a:rPr sz="1000" b="0" i="0">
                <a:solidFill>
                  <a:srgbClr val="B9C9D9"/>
                </a:solidFill>
                <a:latin typeface="Calibri"/>
              </a:rPr>
              <a:t>precursor formula required</a:t>
            </a:r>
          </a:p>
        </p:txBody>
      </p:sp>
      <p:sp>
        <p:nvSpPr>
          <p:cNvPr id="18" name="Rectangle 17"/>
          <p:cNvSpPr/>
          <p:nvPr/>
        </p:nvSpPr>
        <p:spPr>
          <a:xfrm>
            <a:off x="5468112" y="5760720"/>
            <a:ext cx="164592" cy="164592"/>
          </a:xfrm>
          <a:prstGeom prst="rect">
            <a:avLst/>
          </a:prstGeom>
          <a:solidFill>
            <a:srgbClr val="62C37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96712" y="5715000"/>
            <a:ext cx="1828800" cy="256032"/>
          </a:xfrm>
          <a:prstGeom prst="rect">
            <a:avLst/>
          </a:prstGeom>
          <a:noFill/>
        </p:spPr>
        <p:txBody>
          <a:bodyPr wrap="square" anchor="t">
            <a:spAutoFit/>
          </a:bodyPr>
          <a:lstStyle/>
          <a:p>
            <a:pPr algn="l">
              <a:spcBef>
                <a:spcPts val="0"/>
              </a:spcBef>
              <a:spcAft>
                <a:spcPts val="0"/>
              </a:spcAft>
            </a:pPr>
            <a:r>
              <a:rPr sz="1000" b="0" i="0">
                <a:solidFill>
                  <a:srgbClr val="B9C9D9"/>
                </a:solidFill>
                <a:latin typeface="Calibri"/>
              </a:rPr>
              <a:t>MultiCLIP–Fused</a:t>
            </a:r>
          </a:p>
        </p:txBody>
      </p:sp>
      <p:sp>
        <p:nvSpPr>
          <p:cNvPr id="20" name="Rounded Rectangle 19"/>
          <p:cNvSpPr/>
          <p:nvPr/>
        </p:nvSpPr>
        <p:spPr>
          <a:xfrm>
            <a:off x="8732520" y="1554480"/>
            <a:ext cx="2971800" cy="4709160"/>
          </a:xfrm>
          <a:prstGeom prst="roundRect">
            <a:avLst>
              <a:gd name="adj" fmla="val 8000"/>
            </a:avLst>
          </a:prstGeom>
          <a:solidFill>
            <a:srgbClr val="141C28">
              <a:alpha val="80000"/>
            </a:srgbClr>
          </a:solidFill>
          <a:ln w="15875">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0" y="1810512"/>
            <a:ext cx="2514600" cy="274320"/>
          </a:xfrm>
          <a:prstGeom prst="rect">
            <a:avLst/>
          </a:prstGeom>
          <a:noFill/>
        </p:spPr>
        <p:txBody>
          <a:bodyPr wrap="square" anchor="t">
            <a:spAutoFit/>
          </a:bodyPr>
          <a:lstStyle/>
          <a:p>
            <a:pPr algn="ctr">
              <a:spcBef>
                <a:spcPts val="0"/>
              </a:spcBef>
              <a:spcAft>
                <a:spcPts val="0"/>
              </a:spcAft>
            </a:pPr>
            <a:r>
              <a:rPr sz="1200" b="1" i="0">
                <a:solidFill>
                  <a:srgbClr val="62C370"/>
                </a:solidFill>
                <a:latin typeface="Calibri"/>
              </a:rPr>
              <a:t>MULTICLIP–FUSED</a:t>
            </a:r>
          </a:p>
        </p:txBody>
      </p:sp>
      <p:sp>
        <p:nvSpPr>
          <p:cNvPr id="22" name="TextBox 21"/>
          <p:cNvSpPr txBox="1"/>
          <p:nvPr/>
        </p:nvSpPr>
        <p:spPr>
          <a:xfrm>
            <a:off x="8961120" y="2148840"/>
            <a:ext cx="2514600" cy="713232"/>
          </a:xfrm>
          <a:prstGeom prst="rect">
            <a:avLst/>
          </a:prstGeom>
          <a:noFill/>
        </p:spPr>
        <p:txBody>
          <a:bodyPr wrap="square" anchor="t">
            <a:spAutoFit/>
          </a:bodyPr>
          <a:lstStyle/>
          <a:p>
            <a:pPr algn="ctr">
              <a:spcBef>
                <a:spcPts val="0"/>
              </a:spcBef>
              <a:spcAft>
                <a:spcPts val="0"/>
              </a:spcAft>
            </a:pPr>
            <a:r>
              <a:rPr sz="3800" b="1" i="0">
                <a:solidFill>
                  <a:srgbClr val="62C370"/>
                </a:solidFill>
                <a:latin typeface="Calibri"/>
              </a:rPr>
              <a:t>25.9%</a:t>
            </a:r>
          </a:p>
        </p:txBody>
      </p:sp>
      <p:sp>
        <p:nvSpPr>
          <p:cNvPr id="23" name="TextBox 22"/>
          <p:cNvSpPr txBox="1"/>
          <p:nvPr/>
        </p:nvSpPr>
        <p:spPr>
          <a:xfrm>
            <a:off x="8961120" y="2926080"/>
            <a:ext cx="2514600" cy="274320"/>
          </a:xfrm>
          <a:prstGeom prst="rect">
            <a:avLst/>
          </a:prstGeom>
          <a:noFill/>
        </p:spPr>
        <p:txBody>
          <a:bodyPr wrap="square" anchor="t">
            <a:spAutoFit/>
          </a:bodyPr>
          <a:lstStyle/>
          <a:p>
            <a:pPr algn="ctr">
              <a:spcBef>
                <a:spcPts val="0"/>
              </a:spcBef>
              <a:spcAft>
                <a:spcPts val="0"/>
              </a:spcAft>
            </a:pPr>
            <a:r>
              <a:rPr sz="1300" b="0" i="0">
                <a:solidFill>
                  <a:srgbClr val="F0F4F8"/>
                </a:solidFill>
                <a:latin typeface="Calibri"/>
              </a:rPr>
              <a:t>Recall@1</a:t>
            </a:r>
          </a:p>
        </p:txBody>
      </p:sp>
      <p:sp>
        <p:nvSpPr>
          <p:cNvPr id="24" name="TextBox 23"/>
          <p:cNvSpPr txBox="1"/>
          <p:nvPr/>
        </p:nvSpPr>
        <p:spPr>
          <a:xfrm>
            <a:off x="8961120" y="3520440"/>
            <a:ext cx="2514600" cy="274320"/>
          </a:xfrm>
          <a:prstGeom prst="rect">
            <a:avLst/>
          </a:prstGeom>
          <a:noFill/>
        </p:spPr>
        <p:txBody>
          <a:bodyPr wrap="square" anchor="t">
            <a:spAutoFit/>
          </a:bodyPr>
          <a:lstStyle/>
          <a:p>
            <a:pPr algn="ctr">
              <a:spcBef>
                <a:spcPts val="0"/>
              </a:spcBef>
              <a:spcAft>
                <a:spcPts val="0"/>
              </a:spcAft>
            </a:pPr>
            <a:r>
              <a:rPr sz="2400" b="1" i="0">
                <a:solidFill>
                  <a:srgbClr val="F3B36E"/>
                </a:solidFill>
                <a:latin typeface="Calibri"/>
              </a:rPr>
              <a:t>53.8%</a:t>
            </a:r>
          </a:p>
        </p:txBody>
      </p:sp>
      <p:sp>
        <p:nvSpPr>
          <p:cNvPr id="25" name="TextBox 24"/>
          <p:cNvSpPr txBox="1"/>
          <p:nvPr/>
        </p:nvSpPr>
        <p:spPr>
          <a:xfrm>
            <a:off x="8961120" y="3822191"/>
            <a:ext cx="2514600" cy="228600"/>
          </a:xfrm>
          <a:prstGeom prst="rect">
            <a:avLst/>
          </a:prstGeom>
          <a:noFill/>
        </p:spPr>
        <p:txBody>
          <a:bodyPr wrap="square" anchor="t">
            <a:spAutoFit/>
          </a:bodyPr>
          <a:lstStyle/>
          <a:p>
            <a:pPr algn="ctr">
              <a:spcBef>
                <a:spcPts val="0"/>
              </a:spcBef>
              <a:spcAft>
                <a:spcPts val="0"/>
              </a:spcAft>
            </a:pPr>
            <a:r>
              <a:rPr sz="1100" b="0" i="0">
                <a:solidFill>
                  <a:srgbClr val="B9C9D9"/>
                </a:solidFill>
                <a:latin typeface="Calibri"/>
              </a:rPr>
              <a:t>Recall@5</a:t>
            </a:r>
          </a:p>
        </p:txBody>
      </p:sp>
      <p:sp>
        <p:nvSpPr>
          <p:cNvPr id="26" name="TextBox 25"/>
          <p:cNvSpPr txBox="1"/>
          <p:nvPr/>
        </p:nvSpPr>
        <p:spPr>
          <a:xfrm>
            <a:off x="8961120" y="4251960"/>
            <a:ext cx="2514600" cy="274320"/>
          </a:xfrm>
          <a:prstGeom prst="rect">
            <a:avLst/>
          </a:prstGeom>
          <a:noFill/>
        </p:spPr>
        <p:txBody>
          <a:bodyPr wrap="square" anchor="t">
            <a:spAutoFit/>
          </a:bodyPr>
          <a:lstStyle/>
          <a:p>
            <a:pPr algn="ctr">
              <a:spcBef>
                <a:spcPts val="0"/>
              </a:spcBef>
              <a:spcAft>
                <a:spcPts val="0"/>
              </a:spcAft>
            </a:pPr>
            <a:r>
              <a:rPr sz="2400" b="1" i="0">
                <a:solidFill>
                  <a:srgbClr val="F3B36E"/>
                </a:solidFill>
                <a:latin typeface="Calibri"/>
              </a:rPr>
              <a:t>78.4%</a:t>
            </a:r>
          </a:p>
        </p:txBody>
      </p:sp>
      <p:sp>
        <p:nvSpPr>
          <p:cNvPr id="27" name="TextBox 26"/>
          <p:cNvSpPr txBox="1"/>
          <p:nvPr/>
        </p:nvSpPr>
        <p:spPr>
          <a:xfrm>
            <a:off x="8961120" y="4553712"/>
            <a:ext cx="2514600" cy="228600"/>
          </a:xfrm>
          <a:prstGeom prst="rect">
            <a:avLst/>
          </a:prstGeom>
          <a:noFill/>
        </p:spPr>
        <p:txBody>
          <a:bodyPr wrap="square" anchor="t">
            <a:spAutoFit/>
          </a:bodyPr>
          <a:lstStyle/>
          <a:p>
            <a:pPr algn="ctr">
              <a:spcBef>
                <a:spcPts val="0"/>
              </a:spcBef>
              <a:spcAft>
                <a:spcPts val="0"/>
              </a:spcAft>
            </a:pPr>
            <a:r>
              <a:rPr sz="1100" b="0" i="0">
                <a:solidFill>
                  <a:srgbClr val="B9C9D9"/>
                </a:solidFill>
                <a:latin typeface="Calibri"/>
              </a:rPr>
              <a:t>Recall@20</a:t>
            </a:r>
          </a:p>
        </p:txBody>
      </p:sp>
      <p:sp>
        <p:nvSpPr>
          <p:cNvPr id="28" name="TextBox 27"/>
          <p:cNvSpPr txBox="1"/>
          <p:nvPr/>
        </p:nvSpPr>
        <p:spPr>
          <a:xfrm>
            <a:off x="8961120" y="5120640"/>
            <a:ext cx="2514600" cy="685800"/>
          </a:xfrm>
          <a:prstGeom prst="rect">
            <a:avLst/>
          </a:prstGeom>
          <a:noFill/>
        </p:spPr>
        <p:txBody>
          <a:bodyPr wrap="square" anchor="t">
            <a:spAutoFit/>
          </a:bodyPr>
          <a:lstStyle/>
          <a:p>
            <a:pPr algn="ctr">
              <a:spcBef>
                <a:spcPts val="0"/>
              </a:spcBef>
              <a:spcAft>
                <a:spcPts val="0"/>
              </a:spcAft>
            </a:pPr>
            <a:r>
              <a:rPr sz="1300" b="1" i="0">
                <a:solidFill>
                  <a:srgbClr val="F0F4F8"/>
                </a:solidFill>
                <a:latin typeface="Calibri"/>
              </a:rPr>
              <a:t>Candidate list: formula-constrained</a:t>
            </a:r>
          </a:p>
          <a:p>
            <a:pPr algn="ctr">
              <a:spcBef>
                <a:spcPts val="0"/>
              </a:spcBef>
              <a:spcAft>
                <a:spcPts val="0"/>
              </a:spcAft>
            </a:pPr>
            <a:r>
              <a:rPr sz="1300" b="1" i="0">
                <a:solidFill>
                  <a:srgbClr val="F0F4F8"/>
                </a:solidFill>
                <a:latin typeface="Calibri"/>
              </a:rPr>
              <a:t>Spectrum encoder: formula-free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THE IDEA</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10:15–10:30</a:t>
            </a:r>
          </a:p>
        </p:txBody>
      </p:sp>
      <p:sp>
        <p:nvSpPr>
          <p:cNvPr id="9" name="TextBox 8"/>
          <p:cNvSpPr txBox="1"/>
          <p:nvPr/>
        </p:nvSpPr>
        <p:spPr>
          <a:xfrm>
            <a:off x="640080" y="719805"/>
            <a:ext cx="10881360" cy="1477328"/>
          </a:xfrm>
          <a:prstGeom prst="rect">
            <a:avLst/>
          </a:prstGeom>
          <a:noFill/>
        </p:spPr>
        <p:txBody>
          <a:bodyPr wrap="square" lIns="36576" tIns="0" rIns="36576" bIns="0" anchor="ctr">
            <a:spAutoFit/>
          </a:bodyPr>
          <a:lstStyle/>
          <a:p>
            <a:pPr algn="ctr">
              <a:spcBef>
                <a:spcPts val="0"/>
              </a:spcBef>
              <a:spcAft>
                <a:spcPts val="0"/>
              </a:spcAft>
            </a:pPr>
            <a:r>
              <a:rPr sz="4800" b="1" i="0" dirty="0">
                <a:solidFill>
                  <a:srgbClr val="F0F4F8"/>
                </a:solidFill>
                <a:latin typeface="Calibri"/>
              </a:rPr>
              <a:t>What does the embedding space actually look like?</a:t>
            </a:r>
          </a:p>
        </p:txBody>
      </p:sp>
      <p:sp>
        <p:nvSpPr>
          <p:cNvPr id="11" name="Rounded Rectangle 10"/>
          <p:cNvSpPr/>
          <p:nvPr/>
        </p:nvSpPr>
        <p:spPr>
          <a:xfrm>
            <a:off x="640080"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7"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01</a:t>
            </a:r>
          </a:p>
        </p:txBody>
      </p:sp>
      <p:sp>
        <p:nvSpPr>
          <p:cNvPr id="13" name="TextBox 12"/>
          <p:cNvSpPr txBox="1"/>
          <p:nvPr/>
        </p:nvSpPr>
        <p:spPr>
          <a:xfrm>
            <a:off x="1554480"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INPUT</a:t>
            </a:r>
          </a:p>
        </p:txBody>
      </p:sp>
      <p:sp>
        <p:nvSpPr>
          <p:cNvPr id="14" name="TextBox 13"/>
          <p:cNvSpPr txBox="1"/>
          <p:nvPr/>
        </p:nvSpPr>
        <p:spPr>
          <a:xfrm>
            <a:off x="896112"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Tokenise m/z directly</a:t>
            </a:r>
          </a:p>
        </p:txBody>
      </p:sp>
      <p:sp>
        <p:nvSpPr>
          <p:cNvPr id="15" name="Rounded Rectangle 14"/>
          <p:cNvSpPr/>
          <p:nvPr/>
        </p:nvSpPr>
        <p:spPr>
          <a:xfrm>
            <a:off x="4462272" y="3520440"/>
            <a:ext cx="3429000" cy="2240280"/>
          </a:xfrm>
          <a:prstGeom prst="roundRect">
            <a:avLst>
              <a:gd name="adj" fmla="val 8000"/>
            </a:avLst>
          </a:prstGeom>
          <a:solidFill>
            <a:srgbClr val="141C28"/>
          </a:solidFill>
          <a:ln w="12700">
            <a:solidFill>
              <a:srgbClr val="3A4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A7380"/>
                </a:solidFill>
                <a:latin typeface="Calibri"/>
              </a:rPr>
              <a:t>02</a:t>
            </a:r>
          </a:p>
        </p:txBody>
      </p:sp>
      <p:sp>
        <p:nvSpPr>
          <p:cNvPr id="17" name="TextBox 16"/>
          <p:cNvSpPr txBox="1"/>
          <p:nvPr/>
        </p:nvSpPr>
        <p:spPr>
          <a:xfrm>
            <a:off x="5376672"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8A93A0"/>
                </a:solidFill>
                <a:latin typeface="Calibri"/>
              </a:rPr>
              <a:t>ENGINE</a:t>
            </a:r>
          </a:p>
        </p:txBody>
      </p:sp>
      <p:sp>
        <p:nvSpPr>
          <p:cNvPr id="18" name="TextBox 17"/>
          <p:cNvSpPr txBox="1"/>
          <p:nvPr/>
        </p:nvSpPr>
        <p:spPr>
          <a:xfrm>
            <a:off x="4718304"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6A7380"/>
                </a:solidFill>
                <a:latin typeface="Calibri"/>
              </a:rPr>
              <a:t>Align and fuse four views</a:t>
            </a:r>
          </a:p>
        </p:txBody>
      </p:sp>
      <p:sp>
        <p:nvSpPr>
          <p:cNvPr id="19" name="Rounded Rectangle 18"/>
          <p:cNvSpPr/>
          <p:nvPr/>
        </p:nvSpPr>
        <p:spPr>
          <a:xfrm>
            <a:off x="8284464" y="3520440"/>
            <a:ext cx="3429000" cy="2240280"/>
          </a:xfrm>
          <a:prstGeom prst="roundRect">
            <a:avLst>
              <a:gd name="adj" fmla="val 8000"/>
            </a:avLst>
          </a:prstGeom>
          <a:solidFill>
            <a:srgbClr val="141C28"/>
          </a:solidFill>
          <a:ln w="20320">
            <a:solidFill>
              <a:srgbClr val="62C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85632" y="3685032"/>
            <a:ext cx="640080" cy="384048"/>
          </a:xfrm>
          <a:prstGeom prst="rect">
            <a:avLst/>
          </a:prstGeom>
          <a:noFill/>
        </p:spPr>
        <p:txBody>
          <a:bodyPr wrap="square" lIns="36576" tIns="0" rIns="36576" bIns="0" anchor="t">
            <a:spAutoFit/>
          </a:bodyPr>
          <a:lstStyle/>
          <a:p>
            <a:pPr algn="l">
              <a:spcBef>
                <a:spcPts val="0"/>
              </a:spcBef>
              <a:spcAft>
                <a:spcPts val="0"/>
              </a:spcAft>
            </a:pPr>
            <a:r>
              <a:rPr sz="2200" b="1" i="0">
                <a:solidFill>
                  <a:srgbClr val="62C370"/>
                </a:solidFill>
                <a:latin typeface="Calibri"/>
              </a:rPr>
              <a:t>03</a:t>
            </a:r>
          </a:p>
        </p:txBody>
      </p:sp>
      <p:sp>
        <p:nvSpPr>
          <p:cNvPr id="21" name="TextBox 20"/>
          <p:cNvSpPr txBox="1"/>
          <p:nvPr/>
        </p:nvSpPr>
        <p:spPr>
          <a:xfrm>
            <a:off x="9198864" y="3703320"/>
            <a:ext cx="2240280" cy="365760"/>
          </a:xfrm>
          <a:prstGeom prst="rect">
            <a:avLst/>
          </a:prstGeom>
          <a:noFill/>
        </p:spPr>
        <p:txBody>
          <a:bodyPr wrap="square" lIns="36576" tIns="0" rIns="36576" bIns="0" anchor="t">
            <a:spAutoFit/>
          </a:bodyPr>
          <a:lstStyle/>
          <a:p>
            <a:pPr algn="l">
              <a:spcBef>
                <a:spcPts val="0"/>
              </a:spcBef>
              <a:spcAft>
                <a:spcPts val="0"/>
              </a:spcAft>
            </a:pPr>
            <a:r>
              <a:rPr sz="1600" b="1" i="0">
                <a:solidFill>
                  <a:srgbClr val="F0F4F8"/>
                </a:solidFill>
                <a:latin typeface="Calibri"/>
              </a:rPr>
              <a:t>HORIZON</a:t>
            </a:r>
          </a:p>
        </p:txBody>
      </p:sp>
      <p:sp>
        <p:nvSpPr>
          <p:cNvPr id="22" name="TextBox 21"/>
          <p:cNvSpPr txBox="1"/>
          <p:nvPr/>
        </p:nvSpPr>
        <p:spPr>
          <a:xfrm>
            <a:off x="8540496" y="4480560"/>
            <a:ext cx="2926080" cy="777240"/>
          </a:xfrm>
          <a:prstGeom prst="rect">
            <a:avLst/>
          </a:prstGeom>
          <a:noFill/>
        </p:spPr>
        <p:txBody>
          <a:bodyPr wrap="square" lIns="36576" tIns="0" rIns="36576" bIns="0" anchor="t">
            <a:spAutoFit/>
          </a:bodyPr>
          <a:lstStyle/>
          <a:p>
            <a:pPr algn="l">
              <a:spcBef>
                <a:spcPts val="0"/>
              </a:spcBef>
              <a:spcAft>
                <a:spcPts val="0"/>
              </a:spcAft>
            </a:pPr>
            <a:r>
              <a:rPr sz="1500" b="0" i="0">
                <a:solidFill>
                  <a:srgbClr val="B9C9D9"/>
                </a:solidFill>
                <a:latin typeface="Calibri"/>
              </a:rPr>
              <a:t>Understand the latent geometry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3  ·  WHY</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13</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11:05–11:25</a:t>
            </a:r>
          </a:p>
        </p:txBody>
      </p:sp>
      <p:sp>
        <p:nvSpPr>
          <p:cNvPr id="9" name="TextBox 8"/>
          <p:cNvSpPr txBox="1"/>
          <p:nvPr/>
        </p:nvSpPr>
        <p:spPr>
          <a:xfrm>
            <a:off x="457200" y="475488"/>
            <a:ext cx="11292840" cy="492443"/>
          </a:xfrm>
          <a:prstGeom prst="rect">
            <a:avLst/>
          </a:prstGeom>
          <a:noFill/>
        </p:spPr>
        <p:txBody>
          <a:bodyPr wrap="square" anchor="t">
            <a:spAutoFit/>
          </a:bodyPr>
          <a:lstStyle/>
          <a:p>
            <a:pPr algn="l">
              <a:spcBef>
                <a:spcPts val="0"/>
              </a:spcBef>
              <a:spcAft>
                <a:spcPts val="0"/>
              </a:spcAft>
            </a:pPr>
            <a:r>
              <a:rPr lang="es-ES" sz="2600" b="1" i="0" dirty="0" err="1">
                <a:solidFill>
                  <a:srgbClr val="F0F4F8"/>
                </a:solidFill>
                <a:latin typeface="Calibri"/>
              </a:rPr>
              <a:t>Motivation</a:t>
            </a:r>
            <a:r>
              <a:rPr lang="es-ES" sz="2600" b="1" i="0" dirty="0">
                <a:solidFill>
                  <a:srgbClr val="F0F4F8"/>
                </a:solidFill>
                <a:latin typeface="Calibri"/>
              </a:rPr>
              <a:t> </a:t>
            </a:r>
            <a:r>
              <a:rPr lang="es-ES" sz="2600" b="1" i="0" dirty="0" err="1">
                <a:solidFill>
                  <a:srgbClr val="F0F4F8"/>
                </a:solidFill>
                <a:latin typeface="Calibri"/>
              </a:rPr>
              <a:t>for</a:t>
            </a:r>
            <a:r>
              <a:rPr lang="es-ES" sz="2600" b="1" i="0" dirty="0">
                <a:solidFill>
                  <a:srgbClr val="F0F4F8"/>
                </a:solidFill>
                <a:latin typeface="Calibri"/>
              </a:rPr>
              <a:t> </a:t>
            </a:r>
            <a:r>
              <a:rPr lang="es-ES" sz="2600" b="1" i="0" dirty="0" err="1">
                <a:solidFill>
                  <a:srgbClr val="F0F4F8"/>
                </a:solidFill>
                <a:latin typeface="Calibri"/>
              </a:rPr>
              <a:t>understanding</a:t>
            </a:r>
            <a:r>
              <a:rPr lang="es-ES" sz="2600" b="1" i="0" dirty="0">
                <a:solidFill>
                  <a:srgbClr val="F0F4F8"/>
                </a:solidFill>
                <a:latin typeface="Calibri"/>
              </a:rPr>
              <a:t> </a:t>
            </a:r>
            <a:r>
              <a:rPr lang="es-ES" sz="2600" b="1" i="0" dirty="0" err="1">
                <a:solidFill>
                  <a:srgbClr val="F0F4F8"/>
                </a:solidFill>
                <a:latin typeface="Calibri"/>
              </a:rPr>
              <a:t>the</a:t>
            </a:r>
            <a:r>
              <a:rPr lang="es-ES" sz="2600" b="1" i="0" dirty="0">
                <a:solidFill>
                  <a:srgbClr val="F0F4F8"/>
                </a:solidFill>
                <a:latin typeface="Calibri"/>
              </a:rPr>
              <a:t> </a:t>
            </a:r>
            <a:r>
              <a:rPr lang="es-ES" sz="2600" b="1" i="0" dirty="0" err="1">
                <a:solidFill>
                  <a:srgbClr val="F0F4F8"/>
                </a:solidFill>
                <a:latin typeface="Calibri"/>
              </a:rPr>
              <a:t>geometry</a:t>
            </a:r>
            <a:r>
              <a:rPr lang="es-ES" sz="2600" b="1" i="0" dirty="0">
                <a:solidFill>
                  <a:srgbClr val="F0F4F8"/>
                </a:solidFill>
                <a:latin typeface="Calibri"/>
              </a:rPr>
              <a:t>.</a:t>
            </a:r>
            <a:endParaRPr sz="2600" b="1" i="0" dirty="0">
              <a:solidFill>
                <a:srgbClr val="F0F4F8"/>
              </a:solidFill>
              <a:latin typeface="Calibri"/>
            </a:endParaRPr>
          </a:p>
        </p:txBody>
      </p:sp>
      <p:sp>
        <p:nvSpPr>
          <p:cNvPr id="10" name="TextBox 9"/>
          <p:cNvSpPr txBox="1"/>
          <p:nvPr/>
        </p:nvSpPr>
        <p:spPr>
          <a:xfrm>
            <a:off x="457200" y="1024128"/>
            <a:ext cx="11292840" cy="323165"/>
          </a:xfrm>
          <a:prstGeom prst="rect">
            <a:avLst/>
          </a:prstGeom>
          <a:noFill/>
        </p:spPr>
        <p:txBody>
          <a:bodyPr wrap="square" anchor="t">
            <a:spAutoFit/>
          </a:bodyPr>
          <a:lstStyle/>
          <a:p>
            <a:pPr algn="l">
              <a:spcBef>
                <a:spcPts val="0"/>
              </a:spcBef>
              <a:spcAft>
                <a:spcPts val="0"/>
              </a:spcAft>
            </a:pPr>
            <a:r>
              <a:rPr lang="es-ES" sz="1500" b="0" i="1" dirty="0" err="1">
                <a:solidFill>
                  <a:srgbClr val="F3B36E"/>
                </a:solidFill>
                <a:latin typeface="Calibri"/>
              </a:rPr>
              <a:t>Retrieval</a:t>
            </a:r>
            <a:r>
              <a:rPr lang="es-ES" sz="1500" b="0" i="1" dirty="0">
                <a:solidFill>
                  <a:srgbClr val="F3B36E"/>
                </a:solidFill>
                <a:latin typeface="Calibri"/>
              </a:rPr>
              <a:t> </a:t>
            </a:r>
            <a:r>
              <a:rPr lang="es-ES" sz="1500" b="0" i="1" dirty="0" err="1">
                <a:solidFill>
                  <a:srgbClr val="F3B36E"/>
                </a:solidFill>
                <a:latin typeface="Calibri"/>
              </a:rPr>
              <a:t>ranks</a:t>
            </a:r>
            <a:r>
              <a:rPr lang="es-ES" sz="1500" b="0" i="1" dirty="0">
                <a:solidFill>
                  <a:srgbClr val="F3B36E"/>
                </a:solidFill>
                <a:latin typeface="Calibri"/>
              </a:rPr>
              <a:t> </a:t>
            </a:r>
            <a:r>
              <a:rPr lang="es-ES" sz="1500" b="0" i="1" dirty="0" err="1">
                <a:solidFill>
                  <a:srgbClr val="F3B36E"/>
                </a:solidFill>
                <a:latin typeface="Calibri"/>
              </a:rPr>
              <a:t>existing</a:t>
            </a:r>
            <a:r>
              <a:rPr lang="es-ES" sz="1500" b="0" i="1" dirty="0">
                <a:solidFill>
                  <a:srgbClr val="F3B36E"/>
                </a:solidFill>
                <a:latin typeface="Calibri"/>
              </a:rPr>
              <a:t> candidates, </a:t>
            </a:r>
            <a:r>
              <a:rPr lang="es-ES" sz="1500" b="0" i="1" dirty="0" err="1">
                <a:solidFill>
                  <a:srgbClr val="F3B36E"/>
                </a:solidFill>
                <a:latin typeface="Calibri"/>
              </a:rPr>
              <a:t>the</a:t>
            </a:r>
            <a:r>
              <a:rPr lang="es-ES" sz="1500" b="0" i="1" dirty="0">
                <a:solidFill>
                  <a:srgbClr val="F3B36E"/>
                </a:solidFill>
                <a:latin typeface="Calibri"/>
              </a:rPr>
              <a:t> future </a:t>
            </a:r>
            <a:r>
              <a:rPr lang="es-ES" sz="1500" b="0" i="1" dirty="0" err="1">
                <a:solidFill>
                  <a:srgbClr val="F3B36E"/>
                </a:solidFill>
                <a:latin typeface="Calibri"/>
              </a:rPr>
              <a:t>is</a:t>
            </a:r>
            <a:r>
              <a:rPr lang="es-ES" sz="1500" b="0" i="1" dirty="0">
                <a:solidFill>
                  <a:srgbClr val="F3B36E"/>
                </a:solidFill>
                <a:latin typeface="Calibri"/>
              </a:rPr>
              <a:t> </a:t>
            </a:r>
            <a:r>
              <a:rPr lang="es-ES" sz="1500" b="0" i="1" dirty="0" err="1">
                <a:solidFill>
                  <a:srgbClr val="F3B36E"/>
                </a:solidFill>
                <a:latin typeface="Calibri"/>
              </a:rPr>
              <a:t>generating</a:t>
            </a:r>
            <a:r>
              <a:rPr lang="es-ES" sz="1500" b="0" i="1" dirty="0">
                <a:solidFill>
                  <a:srgbClr val="F3B36E"/>
                </a:solidFill>
                <a:latin typeface="Calibri"/>
              </a:rPr>
              <a:t> new </a:t>
            </a:r>
            <a:r>
              <a:rPr lang="es-ES" sz="1500" b="0" i="1" dirty="0" err="1">
                <a:solidFill>
                  <a:srgbClr val="F3B36E"/>
                </a:solidFill>
                <a:latin typeface="Calibri"/>
              </a:rPr>
              <a:t>molecules</a:t>
            </a:r>
            <a:r>
              <a:rPr lang="es-ES" sz="1500" b="0" i="1" dirty="0">
                <a:solidFill>
                  <a:srgbClr val="F3B36E"/>
                </a:solidFill>
                <a:latin typeface="Calibri"/>
              </a:rPr>
              <a:t> </a:t>
            </a:r>
            <a:r>
              <a:rPr lang="es-ES" sz="1500" b="0" i="1" dirty="0" err="1">
                <a:solidFill>
                  <a:srgbClr val="F3B36E"/>
                </a:solidFill>
                <a:latin typeface="Calibri"/>
              </a:rPr>
              <a:t>with</a:t>
            </a:r>
            <a:r>
              <a:rPr lang="es-ES" sz="1500" b="0" i="1" dirty="0">
                <a:solidFill>
                  <a:srgbClr val="F3B36E"/>
                </a:solidFill>
                <a:latin typeface="Calibri"/>
              </a:rPr>
              <a:t> </a:t>
            </a:r>
            <a:r>
              <a:rPr lang="es-ES" sz="1500" b="0" i="1" dirty="0" err="1">
                <a:solidFill>
                  <a:srgbClr val="F3B36E"/>
                </a:solidFill>
                <a:latin typeface="Calibri"/>
              </a:rPr>
              <a:t>guiding</a:t>
            </a:r>
            <a:r>
              <a:rPr lang="es-ES" sz="1500" b="0" i="1" dirty="0">
                <a:solidFill>
                  <a:srgbClr val="F3B36E"/>
                </a:solidFill>
                <a:latin typeface="Calibri"/>
              </a:rPr>
              <a:t> </a:t>
            </a:r>
            <a:r>
              <a:rPr lang="es-ES" sz="1500" b="0" i="1" dirty="0" err="1">
                <a:solidFill>
                  <a:srgbClr val="F3B36E"/>
                </a:solidFill>
                <a:latin typeface="Calibri"/>
              </a:rPr>
              <a:t>embedding</a:t>
            </a:r>
            <a:r>
              <a:rPr lang="es-ES" sz="1500" b="0" i="1" dirty="0">
                <a:solidFill>
                  <a:srgbClr val="F3B36E"/>
                </a:solidFill>
                <a:latin typeface="Calibri"/>
              </a:rPr>
              <a:t>. </a:t>
            </a:r>
            <a:endParaRPr sz="1500" b="0" i="1" dirty="0">
              <a:solidFill>
                <a:srgbClr val="F3B36E"/>
              </a:solidFill>
              <a:latin typeface="Calibri"/>
            </a:endParaRP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 y="1572768"/>
            <a:ext cx="3584448" cy="4160520"/>
          </a:xfrm>
          <a:prstGeom prst="roundRect">
            <a:avLst>
              <a:gd name="adj" fmla="val 7000"/>
            </a:avLst>
          </a:prstGeom>
          <a:solidFill>
            <a:srgbClr val="141C28"/>
          </a:solidFill>
          <a:ln w="15875">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03503" y="1755648"/>
            <a:ext cx="3255264" cy="365760"/>
          </a:xfrm>
          <a:prstGeom prst="roundRect">
            <a:avLst>
              <a:gd name="adj" fmla="val 7000"/>
            </a:avLst>
          </a:prstGeom>
          <a:solidFill>
            <a:srgbClr val="1C2736"/>
          </a:solidFill>
          <a:ln w="1016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3" y="1773936"/>
            <a:ext cx="3255264" cy="329184"/>
          </a:xfrm>
          <a:prstGeom prst="rect">
            <a:avLst/>
          </a:prstGeom>
          <a:noFill/>
        </p:spPr>
        <p:txBody>
          <a:bodyPr wrap="square" lIns="54864" tIns="0" rIns="54864" bIns="0" anchor="ctr">
            <a:spAutoFit/>
          </a:bodyPr>
          <a:lstStyle/>
          <a:p>
            <a:pPr algn="l">
              <a:spcAft>
                <a:spcPts val="400"/>
              </a:spcAft>
            </a:pPr>
            <a:r>
              <a:rPr sz="1200" b="1" i="0">
                <a:solidFill>
                  <a:srgbClr val="5A9FDA"/>
                </a:solidFill>
                <a:latin typeface="Calibri"/>
              </a:rPr>
              <a:t>01  ·  DATABASE CEILING</a:t>
            </a:r>
          </a:p>
        </p:txBody>
      </p:sp>
      <p:sp>
        <p:nvSpPr>
          <p:cNvPr id="15" name="TextBox 14"/>
          <p:cNvSpPr txBox="1"/>
          <p:nvPr/>
        </p:nvSpPr>
        <p:spPr>
          <a:xfrm>
            <a:off x="640080" y="3986784"/>
            <a:ext cx="3182112" cy="640080"/>
          </a:xfrm>
          <a:prstGeom prst="rect">
            <a:avLst/>
          </a:prstGeom>
          <a:noFill/>
        </p:spPr>
        <p:txBody>
          <a:bodyPr wrap="square" lIns="54864" tIns="0" rIns="54864" bIns="0" anchor="t"/>
          <a:lstStyle/>
          <a:p>
            <a:pPr algn="l">
              <a:spcAft>
                <a:spcPts val="0"/>
              </a:spcAft>
            </a:pPr>
            <a:r>
              <a:rPr sz="1800" b="1" i="0" dirty="0">
                <a:solidFill>
                  <a:srgbClr val="F0F4F8"/>
                </a:solidFill>
                <a:latin typeface="Calibri"/>
              </a:rPr>
              <a:t>Retrieval has a hard wall</a:t>
            </a:r>
          </a:p>
        </p:txBody>
      </p:sp>
      <p:sp>
        <p:nvSpPr>
          <p:cNvPr id="16" name="TextBox 15"/>
          <p:cNvSpPr txBox="1"/>
          <p:nvPr/>
        </p:nvSpPr>
        <p:spPr>
          <a:xfrm>
            <a:off x="640080" y="4626864"/>
            <a:ext cx="3182112" cy="960120"/>
          </a:xfrm>
          <a:prstGeom prst="rect">
            <a:avLst/>
          </a:prstGeom>
          <a:noFill/>
        </p:spPr>
        <p:txBody>
          <a:bodyPr wrap="square" lIns="54864" tIns="0" rIns="54864" bIns="0" anchor="t">
            <a:spAutoFit/>
          </a:bodyPr>
          <a:lstStyle/>
          <a:p>
            <a:pPr algn="l">
              <a:spcAft>
                <a:spcPts val="200"/>
              </a:spcAft>
            </a:pPr>
            <a:r>
              <a:rPr sz="1400">
                <a:solidFill>
                  <a:srgbClr val="B9C9D9"/>
                </a:solidFill>
                <a:latin typeface="Calibri"/>
              </a:rPr>
              <a:t>A novel metabolite is not in the list.</a:t>
            </a:r>
          </a:p>
          <a:p>
            <a:pPr algn="l">
              <a:spcAft>
                <a:spcPts val="200"/>
              </a:spcAft>
            </a:pPr>
            <a:r>
              <a:rPr sz="1400">
                <a:solidFill>
                  <a:srgbClr val="B9C9D9"/>
                </a:solidFill>
                <a:latin typeface="Calibri"/>
              </a:rPr>
              <a:t>Ranking cannot invent it.</a:t>
            </a:r>
          </a:p>
        </p:txBody>
      </p:sp>
      <p:sp>
        <p:nvSpPr>
          <p:cNvPr id="17" name="Rounded Rectangle 16"/>
          <p:cNvSpPr/>
          <p:nvPr/>
        </p:nvSpPr>
        <p:spPr>
          <a:xfrm>
            <a:off x="4306824" y="1572768"/>
            <a:ext cx="3584448" cy="4160520"/>
          </a:xfrm>
          <a:prstGeom prst="roundRect">
            <a:avLst>
              <a:gd name="adj" fmla="val 7000"/>
            </a:avLst>
          </a:prstGeom>
          <a:solidFill>
            <a:srgbClr val="141C28"/>
          </a:solidFill>
          <a:ln w="15875">
            <a:solidFill>
              <a:srgbClr val="F3B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471416" y="1755648"/>
            <a:ext cx="3255264" cy="365760"/>
          </a:xfrm>
          <a:prstGeom prst="roundRect">
            <a:avLst>
              <a:gd name="adj" fmla="val 7000"/>
            </a:avLst>
          </a:prstGeom>
          <a:solidFill>
            <a:srgbClr val="1C2736"/>
          </a:solidFill>
          <a:ln w="10160">
            <a:solidFill>
              <a:srgbClr val="F3B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773936"/>
            <a:ext cx="3255264" cy="329184"/>
          </a:xfrm>
          <a:prstGeom prst="rect">
            <a:avLst/>
          </a:prstGeom>
          <a:noFill/>
        </p:spPr>
        <p:txBody>
          <a:bodyPr wrap="square" lIns="54864" tIns="0" rIns="54864" bIns="0" anchor="ctr">
            <a:spAutoFit/>
          </a:bodyPr>
          <a:lstStyle/>
          <a:p>
            <a:pPr algn="l">
              <a:spcAft>
                <a:spcPts val="400"/>
              </a:spcAft>
            </a:pPr>
            <a:r>
              <a:rPr sz="1200" b="1" i="0">
                <a:solidFill>
                  <a:srgbClr val="F3B36E"/>
                </a:solidFill>
                <a:latin typeface="Calibri"/>
              </a:rPr>
              <a:t>02  ·  OTHER CLIP DOMAINS</a:t>
            </a:r>
          </a:p>
        </p:txBody>
      </p:sp>
      <p:sp>
        <p:nvSpPr>
          <p:cNvPr id="20" name="TextBox 19"/>
          <p:cNvSpPr txBox="1"/>
          <p:nvPr/>
        </p:nvSpPr>
        <p:spPr>
          <a:xfrm>
            <a:off x="4507992" y="3986784"/>
            <a:ext cx="3182112" cy="640080"/>
          </a:xfrm>
          <a:prstGeom prst="rect">
            <a:avLst/>
          </a:prstGeom>
          <a:noFill/>
        </p:spPr>
        <p:txBody>
          <a:bodyPr wrap="square" lIns="54864" tIns="0" rIns="54864" bIns="0" anchor="t"/>
          <a:lstStyle/>
          <a:p>
            <a:pPr algn="l">
              <a:spcAft>
                <a:spcPts val="0"/>
              </a:spcAft>
            </a:pPr>
            <a:r>
              <a:rPr sz="1800" b="1" i="0">
                <a:solidFill>
                  <a:srgbClr val="F0F4F8"/>
                </a:solidFill>
                <a:latin typeface="Calibri"/>
              </a:rPr>
              <a:t>Vision–language already generates</a:t>
            </a:r>
          </a:p>
        </p:txBody>
      </p:sp>
      <p:sp>
        <p:nvSpPr>
          <p:cNvPr id="21" name="TextBox 20"/>
          <p:cNvSpPr txBox="1"/>
          <p:nvPr/>
        </p:nvSpPr>
        <p:spPr>
          <a:xfrm>
            <a:off x="4507992" y="4626864"/>
            <a:ext cx="3182112" cy="960120"/>
          </a:xfrm>
          <a:prstGeom prst="rect">
            <a:avLst/>
          </a:prstGeom>
          <a:noFill/>
        </p:spPr>
        <p:txBody>
          <a:bodyPr wrap="square" lIns="54864" tIns="0" rIns="54864" bIns="0" anchor="t">
            <a:spAutoFit/>
          </a:bodyPr>
          <a:lstStyle/>
          <a:p>
            <a:pPr algn="l">
              <a:spcAft>
                <a:spcPts val="200"/>
              </a:spcAft>
            </a:pPr>
            <a:r>
              <a:rPr sz="1400">
                <a:solidFill>
                  <a:srgbClr val="B9C9D9"/>
                </a:solidFill>
                <a:latin typeface="Calibri"/>
              </a:rPr>
              <a:t>unCLIP and DALL·E 2 already decode</a:t>
            </a:r>
          </a:p>
          <a:p>
            <a:pPr algn="l">
              <a:spcAft>
                <a:spcPts val="200"/>
              </a:spcAft>
            </a:pPr>
            <a:r>
              <a:rPr sz="1400">
                <a:solidFill>
                  <a:srgbClr val="B9C9D9"/>
                </a:solidFill>
                <a:latin typeface="Calibri"/>
              </a:rPr>
              <a:t>from contrastive latents.</a:t>
            </a:r>
          </a:p>
        </p:txBody>
      </p:sp>
      <p:sp>
        <p:nvSpPr>
          <p:cNvPr id="22" name="Rounded Rectangle 21"/>
          <p:cNvSpPr/>
          <p:nvPr/>
        </p:nvSpPr>
        <p:spPr>
          <a:xfrm>
            <a:off x="8174736" y="1572768"/>
            <a:ext cx="3584448" cy="4160520"/>
          </a:xfrm>
          <a:prstGeom prst="roundRect">
            <a:avLst>
              <a:gd name="adj" fmla="val 7000"/>
            </a:avLst>
          </a:prstGeom>
          <a:solidFill>
            <a:srgbClr val="141C28"/>
          </a:solidFill>
          <a:ln w="15875">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39327" y="1755648"/>
            <a:ext cx="3255264" cy="365760"/>
          </a:xfrm>
          <a:prstGeom prst="roundRect">
            <a:avLst>
              <a:gd name="adj" fmla="val 7000"/>
            </a:avLst>
          </a:prstGeom>
          <a:solidFill>
            <a:srgbClr val="1C2736"/>
          </a:solidFill>
          <a:ln w="1016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39327" y="1773936"/>
            <a:ext cx="3255264" cy="329184"/>
          </a:xfrm>
          <a:prstGeom prst="rect">
            <a:avLst/>
          </a:prstGeom>
          <a:noFill/>
        </p:spPr>
        <p:txBody>
          <a:bodyPr wrap="square" lIns="54864" tIns="0" rIns="54864" bIns="0" anchor="ctr">
            <a:spAutoFit/>
          </a:bodyPr>
          <a:lstStyle/>
          <a:p>
            <a:pPr algn="l">
              <a:spcAft>
                <a:spcPts val="400"/>
              </a:spcAft>
            </a:pPr>
            <a:r>
              <a:rPr sz="1200" b="1" i="0">
                <a:solidFill>
                  <a:srgbClr val="D9873A"/>
                </a:solidFill>
                <a:latin typeface="Calibri"/>
              </a:rPr>
              <a:t>03  ·  THE OBSTACLE</a:t>
            </a:r>
          </a:p>
        </p:txBody>
      </p:sp>
      <p:sp>
        <p:nvSpPr>
          <p:cNvPr id="25" name="TextBox 24"/>
          <p:cNvSpPr txBox="1"/>
          <p:nvPr/>
        </p:nvSpPr>
        <p:spPr>
          <a:xfrm>
            <a:off x="8375904" y="3986784"/>
            <a:ext cx="3182112" cy="640080"/>
          </a:xfrm>
          <a:prstGeom prst="rect">
            <a:avLst/>
          </a:prstGeom>
          <a:noFill/>
        </p:spPr>
        <p:txBody>
          <a:bodyPr wrap="square" lIns="54864" tIns="0" rIns="54864" bIns="0" anchor="t"/>
          <a:lstStyle/>
          <a:p>
            <a:pPr algn="l">
              <a:spcAft>
                <a:spcPts val="0"/>
              </a:spcAft>
            </a:pPr>
            <a:r>
              <a:rPr sz="1800" b="1" i="0">
                <a:solidFill>
                  <a:srgbClr val="F0F4F8"/>
                </a:solidFill>
                <a:latin typeface="Calibri"/>
              </a:rPr>
              <a:t>A decoder would see a shift</a:t>
            </a:r>
          </a:p>
        </p:txBody>
      </p:sp>
      <p:sp>
        <p:nvSpPr>
          <p:cNvPr id="26" name="TextBox 25"/>
          <p:cNvSpPr txBox="1"/>
          <p:nvPr/>
        </p:nvSpPr>
        <p:spPr>
          <a:xfrm>
            <a:off x="8375904" y="4626864"/>
            <a:ext cx="3182112" cy="960120"/>
          </a:xfrm>
          <a:prstGeom prst="rect">
            <a:avLst/>
          </a:prstGeom>
          <a:noFill/>
        </p:spPr>
        <p:txBody>
          <a:bodyPr wrap="square" lIns="54864" tIns="0" rIns="54864" bIns="0" anchor="t">
            <a:spAutoFit/>
          </a:bodyPr>
          <a:lstStyle/>
          <a:p>
            <a:pPr algn="l">
              <a:spcAft>
                <a:spcPts val="200"/>
              </a:spcAft>
            </a:pPr>
            <a:r>
              <a:rPr sz="1400">
                <a:solidFill>
                  <a:srgbClr val="B9C9D9"/>
                </a:solidFill>
                <a:latin typeface="Calibri"/>
              </a:rPr>
              <a:t>A graph decoder fed a spectral vector</a:t>
            </a:r>
          </a:p>
          <a:p>
            <a:pPr algn="l">
              <a:spcAft>
                <a:spcPts val="200"/>
              </a:spcAft>
            </a:pPr>
            <a:r>
              <a:rPr sz="1400">
                <a:solidFill>
                  <a:srgbClr val="B9C9D9"/>
                </a:solidFill>
                <a:latin typeface="Calibri"/>
              </a:rPr>
              <a:t>is out of distribution.</a:t>
            </a:r>
          </a:p>
        </p:txBody>
      </p:sp>
      <p:sp>
        <p:nvSpPr>
          <p:cNvPr id="27" name="TextBox 26"/>
          <p:cNvSpPr txBox="1"/>
          <p:nvPr/>
        </p:nvSpPr>
        <p:spPr>
          <a:xfrm>
            <a:off x="457200" y="5852160"/>
            <a:ext cx="11292840" cy="365760"/>
          </a:xfrm>
          <a:prstGeom prst="rect">
            <a:avLst/>
          </a:prstGeom>
          <a:noFill/>
        </p:spPr>
        <p:txBody>
          <a:bodyPr wrap="square" lIns="54864" tIns="0" rIns="54864" bIns="0" anchor="ctr">
            <a:spAutoFit/>
          </a:bodyPr>
          <a:lstStyle/>
          <a:p>
            <a:pPr algn="ctr">
              <a:spcAft>
                <a:spcPts val="400"/>
              </a:spcAft>
            </a:pPr>
            <a:r>
              <a:rPr sz="1500" b="0" i="1">
                <a:solidFill>
                  <a:srgbClr val="F3B36E"/>
                </a:solidFill>
                <a:latin typeface="Calibri"/>
              </a:rPr>
              <a:t>No method has yet generated structures from contrastive MS/MS embeddings. The missing piece is geometric.</a:t>
            </a:r>
          </a:p>
        </p:txBody>
      </p:sp>
      <p:sp>
        <p:nvSpPr>
          <p:cNvPr id="28" name="Rounded Rectangle 27"/>
          <p:cNvSpPr/>
          <p:nvPr/>
        </p:nvSpPr>
        <p:spPr>
          <a:xfrm>
            <a:off x="726171" y="2167128"/>
            <a:ext cx="3009928" cy="1847088"/>
          </a:xfrm>
          <a:prstGeom prst="roundRect">
            <a:avLst>
              <a:gd name="adj" fmla="val 8000"/>
            </a:avLst>
          </a:prstGeom>
          <a:solidFill>
            <a:srgbClr val="1C2736"/>
          </a:solidFill>
          <a:ln w="9525">
            <a:solidFill>
              <a:srgbClr val="2A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icon_database.png"/>
          <p:cNvPicPr>
            <a:picLocks noChangeAspect="1"/>
          </p:cNvPicPr>
          <p:nvPr/>
        </p:nvPicPr>
        <p:blipFill>
          <a:blip r:embed="rId3"/>
          <a:stretch>
            <a:fillRect/>
          </a:stretch>
        </p:blipFill>
        <p:spPr>
          <a:xfrm>
            <a:off x="790179" y="2212848"/>
            <a:ext cx="2881912" cy="1755648"/>
          </a:xfrm>
          <a:prstGeom prst="rect">
            <a:avLst/>
          </a:prstGeom>
        </p:spPr>
      </p:pic>
      <p:sp>
        <p:nvSpPr>
          <p:cNvPr id="30" name="Rounded Rectangle 29"/>
          <p:cNvSpPr/>
          <p:nvPr/>
        </p:nvSpPr>
        <p:spPr>
          <a:xfrm>
            <a:off x="4594083" y="2167128"/>
            <a:ext cx="3009928" cy="1847088"/>
          </a:xfrm>
          <a:prstGeom prst="roundRect">
            <a:avLst>
              <a:gd name="adj" fmla="val 8000"/>
            </a:avLst>
          </a:prstGeom>
          <a:solidFill>
            <a:srgbClr val="1C2736"/>
          </a:solidFill>
          <a:ln w="9525">
            <a:solidFill>
              <a:srgbClr val="2A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con_clip.png"/>
          <p:cNvPicPr>
            <a:picLocks noChangeAspect="1"/>
          </p:cNvPicPr>
          <p:nvPr/>
        </p:nvPicPr>
        <p:blipFill>
          <a:blip r:embed="rId4"/>
          <a:stretch>
            <a:fillRect/>
          </a:stretch>
        </p:blipFill>
        <p:spPr>
          <a:xfrm>
            <a:off x="4658091" y="2212848"/>
            <a:ext cx="2881912" cy="1755648"/>
          </a:xfrm>
          <a:prstGeom prst="rect">
            <a:avLst/>
          </a:prstGeom>
        </p:spPr>
      </p:pic>
      <p:sp>
        <p:nvSpPr>
          <p:cNvPr id="32" name="Rounded Rectangle 31"/>
          <p:cNvSpPr/>
          <p:nvPr/>
        </p:nvSpPr>
        <p:spPr>
          <a:xfrm>
            <a:off x="8461995" y="2167128"/>
            <a:ext cx="3009928" cy="1847088"/>
          </a:xfrm>
          <a:prstGeom prst="roundRect">
            <a:avLst>
              <a:gd name="adj" fmla="val 8000"/>
            </a:avLst>
          </a:prstGeom>
          <a:solidFill>
            <a:srgbClr val="1C2736"/>
          </a:solidFill>
          <a:ln w="9525">
            <a:solidFill>
              <a:srgbClr val="2A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con_gap.png"/>
          <p:cNvPicPr>
            <a:picLocks noChangeAspect="1"/>
          </p:cNvPicPr>
          <p:nvPr/>
        </p:nvPicPr>
        <p:blipFill>
          <a:blip r:embed="rId5"/>
          <a:stretch>
            <a:fillRect/>
          </a:stretch>
        </p:blipFill>
        <p:spPr>
          <a:xfrm>
            <a:off x="8526003" y="2212848"/>
            <a:ext cx="2881912" cy="175564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3  ·  GEOMETRY</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13</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10:30–11:05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Contrastive alignment does not make the modalities overlap</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In the raw 512-D space, the four representations occupy separate regions.</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72768"/>
            <a:ext cx="7635240" cy="4663440"/>
          </a:xfrm>
          <a:prstGeom prst="roundRect">
            <a:avLst>
              <a:gd name="adj" fmla="val 8000"/>
            </a:avLst>
          </a:prstGeom>
          <a:solidFill>
            <a:srgbClr val="FFFFFF">
              <a:alpha val="97000"/>
            </a:srgbClr>
          </a:solidFill>
          <a:ln w="12700">
            <a:solidFill>
              <a:srgbClr val="5A9FD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31720" y="1737360"/>
            <a:ext cx="146304" cy="146304"/>
          </a:xfrm>
          <a:prstGeom prst="ellipse">
            <a:avLst/>
          </a:prstGeom>
          <a:solidFill>
            <a:srgbClr val="1665A7">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32888" y="1682496"/>
            <a:ext cx="91440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Graph</a:t>
            </a:r>
          </a:p>
        </p:txBody>
      </p:sp>
      <p:sp>
        <p:nvSpPr>
          <p:cNvPr id="15" name="Oval 14"/>
          <p:cNvSpPr/>
          <p:nvPr/>
        </p:nvSpPr>
        <p:spPr>
          <a:xfrm>
            <a:off x="3566160" y="1737360"/>
            <a:ext cx="146304" cy="146304"/>
          </a:xfrm>
          <a:prstGeom prst="ellipse">
            <a:avLst/>
          </a:prstGeom>
          <a:solidFill>
            <a:srgbClr val="5AA6CD">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67328" y="1682496"/>
            <a:ext cx="91440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FPS</a:t>
            </a:r>
          </a:p>
        </p:txBody>
      </p:sp>
      <p:sp>
        <p:nvSpPr>
          <p:cNvPr id="17" name="Oval 16"/>
          <p:cNvSpPr/>
          <p:nvPr/>
        </p:nvSpPr>
        <p:spPr>
          <a:xfrm>
            <a:off x="4800600" y="1737360"/>
            <a:ext cx="146304" cy="146304"/>
          </a:xfrm>
          <a:prstGeom prst="ellipse">
            <a:avLst/>
          </a:prstGeom>
          <a:solidFill>
            <a:srgbClr val="D55E0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01768" y="1682496"/>
            <a:ext cx="91440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Merged</a:t>
            </a:r>
          </a:p>
        </p:txBody>
      </p:sp>
      <p:sp>
        <p:nvSpPr>
          <p:cNvPr id="19" name="Oval 18"/>
          <p:cNvSpPr/>
          <p:nvPr/>
        </p:nvSpPr>
        <p:spPr>
          <a:xfrm>
            <a:off x="6035040" y="1737360"/>
            <a:ext cx="146304" cy="146304"/>
          </a:xfrm>
          <a:prstGeom prst="ellipse">
            <a:avLst/>
          </a:prstGeom>
          <a:solidFill>
            <a:srgbClr val="F2A72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36208" y="1682496"/>
            <a:ext cx="91440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Single</a:t>
            </a:r>
          </a:p>
        </p:txBody>
      </p:sp>
      <p:pic>
        <p:nvPicPr>
          <p:cNvPr id="21" name="Picture 20" descr="gap_before.png"/>
          <p:cNvPicPr>
            <a:picLocks noChangeAspect="1"/>
          </p:cNvPicPr>
          <p:nvPr/>
        </p:nvPicPr>
        <p:blipFill>
          <a:blip r:embed="rId3"/>
          <a:stretch>
            <a:fillRect/>
          </a:stretch>
        </p:blipFill>
        <p:spPr>
          <a:xfrm>
            <a:off x="640080" y="1965960"/>
            <a:ext cx="7178040" cy="3886200"/>
          </a:xfrm>
          <a:prstGeom prst="rect">
            <a:avLst/>
          </a:prstGeom>
        </p:spPr>
      </p:pic>
      <p:sp>
        <p:nvSpPr>
          <p:cNvPr id="22" name="Rounded Rectangle 21"/>
          <p:cNvSpPr/>
          <p:nvPr/>
        </p:nvSpPr>
        <p:spPr>
          <a:xfrm>
            <a:off x="8275320" y="1572768"/>
            <a:ext cx="3429000" cy="4663440"/>
          </a:xfrm>
          <a:prstGeom prst="roundRect">
            <a:avLst>
              <a:gd name="adj" fmla="val 8000"/>
            </a:avLst>
          </a:prstGeom>
          <a:solidFill>
            <a:srgbClr val="141C28">
              <a:alpha val="80000"/>
            </a:srgbClr>
          </a:solidFill>
          <a:ln w="15875">
            <a:solidFill>
              <a:srgbClr val="D9873A">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03920" y="1847088"/>
            <a:ext cx="2971800" cy="411480"/>
          </a:xfrm>
          <a:prstGeom prst="rect">
            <a:avLst/>
          </a:prstGeom>
          <a:noFill/>
        </p:spPr>
        <p:txBody>
          <a:bodyPr wrap="square" anchor="t">
            <a:spAutoFit/>
          </a:bodyPr>
          <a:lstStyle/>
          <a:p>
            <a:pPr algn="ctr">
              <a:spcBef>
                <a:spcPts val="0"/>
              </a:spcBef>
              <a:spcAft>
                <a:spcPts val="0"/>
              </a:spcAft>
            </a:pPr>
            <a:r>
              <a:rPr sz="1900" b="1" i="0">
                <a:solidFill>
                  <a:srgbClr val="F3B36E"/>
                </a:solidFill>
                <a:latin typeface="Calibri"/>
              </a:rPr>
              <a:t>The modality gap</a:t>
            </a:r>
          </a:p>
        </p:txBody>
      </p:sp>
      <p:sp>
        <p:nvSpPr>
          <p:cNvPr id="24" name="TextBox 23"/>
          <p:cNvSpPr txBox="1"/>
          <p:nvPr/>
        </p:nvSpPr>
        <p:spPr>
          <a:xfrm>
            <a:off x="8503920" y="2514600"/>
            <a:ext cx="2971800" cy="1188720"/>
          </a:xfrm>
          <a:prstGeom prst="rect">
            <a:avLst/>
          </a:prstGeom>
          <a:noFill/>
        </p:spPr>
        <p:txBody>
          <a:bodyPr wrap="square" anchor="t">
            <a:spAutoFit/>
          </a:bodyPr>
          <a:lstStyle/>
          <a:p>
            <a:pPr algn="ctr">
              <a:spcBef>
                <a:spcPts val="0"/>
              </a:spcBef>
              <a:spcAft>
                <a:spcPts val="0"/>
              </a:spcAft>
            </a:pPr>
            <a:r>
              <a:rPr sz="1800" b="0" i="0">
                <a:solidFill>
                  <a:srgbClr val="F0F4F8"/>
                </a:solidFill>
                <a:latin typeface="Calibri"/>
              </a:rPr>
              <a:t>Same compound.</a:t>
            </a:r>
          </a:p>
          <a:p>
            <a:pPr algn="ctr">
              <a:spcBef>
                <a:spcPts val="0"/>
              </a:spcBef>
              <a:spcAft>
                <a:spcPts val="0"/>
              </a:spcAft>
            </a:pPr>
            <a:r>
              <a:rPr sz="1800" b="0" i="0">
                <a:solidFill>
                  <a:srgbClr val="F0F4F8"/>
                </a:solidFill>
                <a:latin typeface="Calibri"/>
              </a:rPr>
              <a:t>Four embeddings.</a:t>
            </a:r>
          </a:p>
          <a:p>
            <a:pPr algn="ctr">
              <a:spcBef>
                <a:spcPts val="0"/>
              </a:spcBef>
              <a:spcAft>
                <a:spcPts val="0"/>
              </a:spcAft>
            </a:pPr>
            <a:r>
              <a:rPr sz="1800" b="0" i="0">
                <a:solidFill>
                  <a:srgbClr val="F0F4F8"/>
                </a:solidFill>
                <a:latin typeface="Calibri"/>
              </a:rPr>
              <a:t>Four separated cones.</a:t>
            </a:r>
          </a:p>
        </p:txBody>
      </p:sp>
      <p:sp>
        <p:nvSpPr>
          <p:cNvPr id="25" name="TextBox 24"/>
          <p:cNvSpPr txBox="1"/>
          <p:nvPr/>
        </p:nvSpPr>
        <p:spPr>
          <a:xfrm>
            <a:off x="8503920" y="3977639"/>
            <a:ext cx="2971800" cy="365760"/>
          </a:xfrm>
          <a:prstGeom prst="rect">
            <a:avLst/>
          </a:prstGeom>
          <a:noFill/>
        </p:spPr>
        <p:txBody>
          <a:bodyPr wrap="square" anchor="t">
            <a:spAutoFit/>
          </a:bodyPr>
          <a:lstStyle/>
          <a:p>
            <a:pPr algn="ctr">
              <a:spcBef>
                <a:spcPts val="0"/>
              </a:spcBef>
              <a:spcAft>
                <a:spcPts val="0"/>
              </a:spcAft>
            </a:pPr>
            <a:r>
              <a:rPr sz="1300" b="1" i="0">
                <a:solidFill>
                  <a:srgbClr val="A9D2F5"/>
                </a:solidFill>
                <a:latin typeface="Calibri"/>
              </a:rPr>
              <a:t>But note the pattern:</a:t>
            </a:r>
          </a:p>
        </p:txBody>
      </p:sp>
      <p:sp>
        <p:nvSpPr>
          <p:cNvPr id="26" name="TextBox 25"/>
          <p:cNvSpPr txBox="1"/>
          <p:nvPr/>
        </p:nvSpPr>
        <p:spPr>
          <a:xfrm>
            <a:off x="8503920" y="4434840"/>
            <a:ext cx="2971800" cy="960120"/>
          </a:xfrm>
          <a:prstGeom prst="rect">
            <a:avLst/>
          </a:prstGeom>
          <a:noFill/>
        </p:spPr>
        <p:txBody>
          <a:bodyPr wrap="square" anchor="t">
            <a:spAutoFit/>
          </a:bodyPr>
          <a:lstStyle/>
          <a:p>
            <a:pPr algn="ctr">
              <a:spcBef>
                <a:spcPts val="0"/>
              </a:spcBef>
              <a:spcAft>
                <a:spcPts val="0"/>
              </a:spcAft>
            </a:pPr>
            <a:r>
              <a:rPr sz="1600" b="0" i="0">
                <a:solidFill>
                  <a:srgbClr val="B9C9D9"/>
                </a:solidFill>
                <a:latin typeface="Calibri"/>
              </a:rPr>
              <a:t>the displacement is systematic,</a:t>
            </a:r>
          </a:p>
          <a:p>
            <a:pPr algn="ctr">
              <a:spcBef>
                <a:spcPts val="0"/>
              </a:spcBef>
              <a:spcAft>
                <a:spcPts val="0"/>
              </a:spcAft>
            </a:pPr>
            <a:r>
              <a:rPr sz="1600" b="0" i="0">
                <a:solidFill>
                  <a:srgbClr val="B9C9D9"/>
                </a:solidFill>
                <a:latin typeface="Calibri"/>
              </a:rPr>
              <a:t>not arbitrary scatter.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3  ·  ALIGN</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14</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11:15–11:35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Two deterministic steps. Nothing is retrained.</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Centre each view, then rotate the others onto the graph frame.</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54480"/>
            <a:ext cx="5486400" cy="4224528"/>
          </a:xfrm>
          <a:prstGeom prst="roundRect">
            <a:avLst>
              <a:gd name="adj" fmla="val 6000"/>
            </a:avLst>
          </a:prstGeom>
          <a:solidFill>
            <a:srgbClr val="141C28"/>
          </a:solidFill>
          <a:ln w="15875">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76072" y="1719072"/>
            <a:ext cx="5157216" cy="347472"/>
          </a:xfrm>
          <a:prstGeom prst="roundRect">
            <a:avLst>
              <a:gd name="adj" fmla="val 6000"/>
            </a:avLst>
          </a:prstGeom>
          <a:solidFill>
            <a:srgbClr val="1C2736"/>
          </a:solidFill>
          <a:ln w="1016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72" y="1737360"/>
            <a:ext cx="5157216" cy="310896"/>
          </a:xfrm>
          <a:prstGeom prst="rect">
            <a:avLst/>
          </a:prstGeom>
          <a:noFill/>
        </p:spPr>
        <p:txBody>
          <a:bodyPr wrap="square" lIns="73152" tIns="0" rIns="73152" bIns="0" anchor="ctr">
            <a:spAutoFit/>
          </a:bodyPr>
          <a:lstStyle/>
          <a:p>
            <a:pPr algn="l">
              <a:spcAft>
                <a:spcPts val="300"/>
              </a:spcAft>
            </a:pPr>
            <a:r>
              <a:rPr sz="1300" b="1" i="0">
                <a:solidFill>
                  <a:srgbClr val="5A9FDA"/>
                </a:solidFill>
                <a:latin typeface="Calibri"/>
              </a:rPr>
              <a:t>01  ·  MEAN-CENTRE</a:t>
            </a:r>
          </a:p>
        </p:txBody>
      </p:sp>
      <p:sp>
        <p:nvSpPr>
          <p:cNvPr id="15" name="Rounded Rectangle 14"/>
          <p:cNvSpPr/>
          <p:nvPr/>
        </p:nvSpPr>
        <p:spPr>
          <a:xfrm>
            <a:off x="576072" y="2157984"/>
            <a:ext cx="5157216" cy="2157984"/>
          </a:xfrm>
          <a:prstGeom prst="roundRect">
            <a:avLst>
              <a:gd name="adj" fmla="val 6000"/>
            </a:avLst>
          </a:prstGeom>
          <a:solidFill>
            <a:srgbClr val="1C2736"/>
          </a:solidFill>
          <a:ln w="8890">
            <a:solidFill>
              <a:srgbClr val="2A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4407408"/>
            <a:ext cx="5084064" cy="384048"/>
          </a:xfrm>
          <a:prstGeom prst="rect">
            <a:avLst/>
          </a:prstGeom>
          <a:noFill/>
        </p:spPr>
        <p:txBody>
          <a:bodyPr wrap="square" lIns="73152" tIns="0" rIns="73152" bIns="0" anchor="t">
            <a:spAutoFit/>
          </a:bodyPr>
          <a:lstStyle/>
          <a:p>
            <a:pPr algn="l">
              <a:spcAft>
                <a:spcPts val="300"/>
              </a:spcAft>
            </a:pPr>
            <a:r>
              <a:rPr sz="2000" b="1" i="0">
                <a:solidFill>
                  <a:srgbClr val="F0F4F8"/>
                </a:solidFill>
                <a:latin typeface="Calibri"/>
              </a:rPr>
              <a:t>Subtract the view mean</a:t>
            </a:r>
          </a:p>
        </p:txBody>
      </p:sp>
      <p:sp>
        <p:nvSpPr>
          <p:cNvPr id="18" name="TextBox 17"/>
          <p:cNvSpPr txBox="1"/>
          <p:nvPr/>
        </p:nvSpPr>
        <p:spPr>
          <a:xfrm>
            <a:off x="612648" y="4791456"/>
            <a:ext cx="5084064" cy="841248"/>
          </a:xfrm>
          <a:prstGeom prst="rect">
            <a:avLst/>
          </a:prstGeom>
          <a:noFill/>
        </p:spPr>
        <p:txBody>
          <a:bodyPr wrap="square" lIns="73152" tIns="0" rIns="73152" bIns="0" anchor="t">
            <a:spAutoFit/>
          </a:bodyPr>
          <a:lstStyle/>
          <a:p>
            <a:pPr algn="l">
              <a:spcAft>
                <a:spcPts val="300"/>
              </a:spcAft>
            </a:pPr>
            <a:r>
              <a:rPr sz="1400" b="0" i="0">
                <a:solidFill>
                  <a:srgbClr val="B9C9D9"/>
                </a:solidFill>
                <a:latin typeface="Calibri"/>
              </a:rPr>
              <a:t>Each encoder has its own centroid.</a:t>
            </a:r>
          </a:p>
          <a:p>
            <a:pPr algn="l">
              <a:spcAft>
                <a:spcPts val="300"/>
              </a:spcAft>
            </a:pPr>
            <a:r>
              <a:rPr sz="1400" b="0" i="0">
                <a:solidFill>
                  <a:srgbClr val="B9C9D9"/>
                </a:solidFill>
                <a:latin typeface="Calibri"/>
              </a:rPr>
              <a:t>We move every cloud to the origin.</a:t>
            </a:r>
          </a:p>
          <a:p>
            <a:pPr algn="l">
              <a:spcAft>
                <a:spcPts val="300"/>
              </a:spcAft>
            </a:pPr>
            <a:r>
              <a:rPr sz="1400" b="0" i="0">
                <a:solidFill>
                  <a:srgbClr val="B9C9D9"/>
                </a:solidFill>
                <a:latin typeface="Calibri"/>
              </a:rPr>
              <a:t>Relative angles inside a view are unchanged.</a:t>
            </a:r>
          </a:p>
        </p:txBody>
      </p:sp>
      <p:sp>
        <p:nvSpPr>
          <p:cNvPr id="19" name="Rounded Rectangle 18"/>
          <p:cNvSpPr/>
          <p:nvPr/>
        </p:nvSpPr>
        <p:spPr>
          <a:xfrm>
            <a:off x="6291072" y="1554480"/>
            <a:ext cx="5486400" cy="4224528"/>
          </a:xfrm>
          <a:prstGeom prst="roundRect">
            <a:avLst>
              <a:gd name="adj" fmla="val 6000"/>
            </a:avLst>
          </a:prstGeom>
          <a:solidFill>
            <a:srgbClr val="141C28"/>
          </a:solidFill>
          <a:ln w="15875">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55664" y="1719072"/>
            <a:ext cx="5157216" cy="347472"/>
          </a:xfrm>
          <a:prstGeom prst="roundRect">
            <a:avLst>
              <a:gd name="adj" fmla="val 6000"/>
            </a:avLst>
          </a:prstGeom>
          <a:solidFill>
            <a:srgbClr val="1C2736"/>
          </a:solidFill>
          <a:ln w="1016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55664" y="1737360"/>
            <a:ext cx="5157216" cy="310896"/>
          </a:xfrm>
          <a:prstGeom prst="rect">
            <a:avLst/>
          </a:prstGeom>
          <a:noFill/>
        </p:spPr>
        <p:txBody>
          <a:bodyPr wrap="square" lIns="73152" tIns="0" rIns="73152" bIns="0" anchor="ctr">
            <a:spAutoFit/>
          </a:bodyPr>
          <a:lstStyle/>
          <a:p>
            <a:pPr algn="l">
              <a:spcAft>
                <a:spcPts val="300"/>
              </a:spcAft>
            </a:pPr>
            <a:r>
              <a:rPr sz="1300" b="1" i="0">
                <a:solidFill>
                  <a:srgbClr val="D9873A"/>
                </a:solidFill>
                <a:latin typeface="Calibri"/>
              </a:rPr>
              <a:t>02  ·  PROCRUSTES</a:t>
            </a:r>
          </a:p>
        </p:txBody>
      </p:sp>
      <p:sp>
        <p:nvSpPr>
          <p:cNvPr id="22" name="Rounded Rectangle 21"/>
          <p:cNvSpPr/>
          <p:nvPr/>
        </p:nvSpPr>
        <p:spPr>
          <a:xfrm>
            <a:off x="6455664" y="2157984"/>
            <a:ext cx="5157216" cy="2157984"/>
          </a:xfrm>
          <a:prstGeom prst="roundRect">
            <a:avLst>
              <a:gd name="adj" fmla="val 6000"/>
            </a:avLst>
          </a:prstGeom>
          <a:solidFill>
            <a:srgbClr val="1C2736"/>
          </a:solidFill>
          <a:ln w="8890">
            <a:solidFill>
              <a:srgbClr val="2A3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92240" y="4407408"/>
            <a:ext cx="5084064" cy="384048"/>
          </a:xfrm>
          <a:prstGeom prst="rect">
            <a:avLst/>
          </a:prstGeom>
          <a:noFill/>
        </p:spPr>
        <p:txBody>
          <a:bodyPr wrap="square" lIns="73152" tIns="0" rIns="73152" bIns="0" anchor="t">
            <a:spAutoFit/>
          </a:bodyPr>
          <a:lstStyle/>
          <a:p>
            <a:pPr algn="l">
              <a:spcAft>
                <a:spcPts val="300"/>
              </a:spcAft>
            </a:pPr>
            <a:r>
              <a:rPr sz="2000" b="1" i="0">
                <a:solidFill>
                  <a:srgbClr val="F0F4F8"/>
                </a:solidFill>
                <a:latin typeface="Calibri"/>
              </a:rPr>
              <a:t>Rotate onto the graph frame</a:t>
            </a:r>
          </a:p>
        </p:txBody>
      </p:sp>
      <p:sp>
        <p:nvSpPr>
          <p:cNvPr id="25" name="TextBox 24"/>
          <p:cNvSpPr txBox="1"/>
          <p:nvPr/>
        </p:nvSpPr>
        <p:spPr>
          <a:xfrm>
            <a:off x="6492240" y="4791456"/>
            <a:ext cx="5084064" cy="841248"/>
          </a:xfrm>
          <a:prstGeom prst="rect">
            <a:avLst/>
          </a:prstGeom>
          <a:noFill/>
        </p:spPr>
        <p:txBody>
          <a:bodyPr wrap="square" lIns="73152" tIns="0" rIns="73152" bIns="0" anchor="t">
            <a:spAutoFit/>
          </a:bodyPr>
          <a:lstStyle/>
          <a:p>
            <a:pPr algn="l">
              <a:spcAft>
                <a:spcPts val="300"/>
              </a:spcAft>
            </a:pPr>
            <a:r>
              <a:rPr sz="1400" b="0" i="0">
                <a:solidFill>
                  <a:srgbClr val="B9C9D9"/>
                </a:solidFill>
                <a:latin typeface="Calibri"/>
              </a:rPr>
              <a:t>An orthogonal R is fitted in 512-D.</a:t>
            </a:r>
          </a:p>
          <a:p>
            <a:pPr algn="l">
              <a:spcAft>
                <a:spcPts val="300"/>
              </a:spcAft>
            </a:pPr>
            <a:r>
              <a:rPr sz="1400">
                <a:solidFill>
                  <a:srgbClr val="B9C9D9"/>
                </a:solidFill>
                <a:latin typeface="Calibri"/>
              </a:rPr>
              <a:t>Fingerprint, merged and single rotate onto graph.</a:t>
            </a:r>
          </a:p>
          <a:p>
            <a:pPr algn="l">
              <a:spcAft>
                <a:spcPts val="300"/>
              </a:spcAft>
            </a:pPr>
            <a:r>
              <a:rPr sz="1400">
                <a:solidFill>
                  <a:srgbClr val="B9C9D9"/>
                </a:solidFill>
                <a:latin typeface="Calibri"/>
              </a:rPr>
              <a:t>Distances inside each view are preserved.</a:t>
            </a:r>
          </a:p>
        </p:txBody>
      </p:sp>
      <p:sp>
        <p:nvSpPr>
          <p:cNvPr id="26" name="TextBox 25"/>
          <p:cNvSpPr txBox="1"/>
          <p:nvPr/>
        </p:nvSpPr>
        <p:spPr>
          <a:xfrm>
            <a:off x="457200" y="5870448"/>
            <a:ext cx="11292840" cy="347472"/>
          </a:xfrm>
          <a:prstGeom prst="rect">
            <a:avLst/>
          </a:prstGeom>
          <a:noFill/>
        </p:spPr>
        <p:txBody>
          <a:bodyPr wrap="square" lIns="73152" tIns="0" rIns="73152" bIns="0" anchor="ctr">
            <a:spAutoFit/>
          </a:bodyPr>
          <a:lstStyle/>
          <a:p>
            <a:pPr algn="ctr">
              <a:spcAft>
                <a:spcPts val="300"/>
              </a:spcAft>
            </a:pPr>
            <a:r>
              <a:rPr sz="1400" b="0" i="1">
                <a:solidFill>
                  <a:srgbClr val="F3B36E"/>
                </a:solidFill>
                <a:latin typeface="Calibri"/>
              </a:rPr>
              <a:t>Affine, orthogonal, no extra training. Chemistry is preserved; only the coordinate frame moves.</a:t>
            </a:r>
          </a:p>
        </p:txBody>
      </p:sp>
      <p:pic>
        <p:nvPicPr>
          <p:cNvPr id="27" name="Picture 26" descr="step_center.png"/>
          <p:cNvPicPr>
            <a:picLocks noChangeAspect="1"/>
          </p:cNvPicPr>
          <p:nvPr/>
        </p:nvPicPr>
        <p:blipFill>
          <a:blip r:embed="rId3"/>
          <a:stretch>
            <a:fillRect/>
          </a:stretch>
        </p:blipFill>
        <p:spPr>
          <a:xfrm>
            <a:off x="612648" y="2194560"/>
            <a:ext cx="5074920" cy="2029968"/>
          </a:xfrm>
          <a:prstGeom prst="rect">
            <a:avLst/>
          </a:prstGeom>
        </p:spPr>
      </p:pic>
      <p:pic>
        <p:nvPicPr>
          <p:cNvPr id="28" name="Picture 27" descr="step_rotate.png"/>
          <p:cNvPicPr>
            <a:picLocks noChangeAspect="1"/>
          </p:cNvPicPr>
          <p:nvPr/>
        </p:nvPicPr>
        <p:blipFill>
          <a:blip r:embed="rId4"/>
          <a:stretch>
            <a:fillRect/>
          </a:stretch>
        </p:blipFill>
        <p:spPr>
          <a:xfrm>
            <a:off x="6492240" y="2194560"/>
            <a:ext cx="5074920" cy="20299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3  ·  GEOMETRY</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15</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11:35–12:05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A deterministic alignment closes the gap</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Per-view mean-centering + paired orthogonal Procrustes rotation.</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1480" y="1572768"/>
            <a:ext cx="7635240" cy="4663440"/>
          </a:xfrm>
          <a:prstGeom prst="roundRect">
            <a:avLst>
              <a:gd name="adj" fmla="val 8000"/>
            </a:avLst>
          </a:prstGeom>
          <a:solidFill>
            <a:srgbClr val="FFFFFF">
              <a:alpha val="97000"/>
            </a:srgbClr>
          </a:solidFill>
          <a:ln w="12700">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880360" y="1737360"/>
            <a:ext cx="146304" cy="146304"/>
          </a:xfrm>
          <a:prstGeom prst="ellipse">
            <a:avLst/>
          </a:prstGeom>
          <a:solidFill>
            <a:srgbClr val="D55E00">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1682496"/>
            <a:ext cx="109728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Merged</a:t>
            </a:r>
          </a:p>
        </p:txBody>
      </p:sp>
      <p:sp>
        <p:nvSpPr>
          <p:cNvPr id="15" name="Oval 14"/>
          <p:cNvSpPr/>
          <p:nvPr/>
        </p:nvSpPr>
        <p:spPr>
          <a:xfrm>
            <a:off x="4297680" y="1737360"/>
            <a:ext cx="146304" cy="146304"/>
          </a:xfrm>
          <a:prstGeom prst="ellipse">
            <a:avLst/>
          </a:prstGeom>
          <a:solidFill>
            <a:srgbClr val="F2A72B">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98848" y="1682496"/>
            <a:ext cx="109728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Single</a:t>
            </a:r>
          </a:p>
        </p:txBody>
      </p:sp>
      <p:sp>
        <p:nvSpPr>
          <p:cNvPr id="17" name="Oval 16"/>
          <p:cNvSpPr/>
          <p:nvPr/>
        </p:nvSpPr>
        <p:spPr>
          <a:xfrm>
            <a:off x="5715000" y="1737360"/>
            <a:ext cx="146304" cy="146304"/>
          </a:xfrm>
          <a:prstGeom prst="ellipse">
            <a:avLst/>
          </a:prstGeom>
          <a:solidFill>
            <a:srgbClr val="1665A7">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16168" y="1682496"/>
            <a:ext cx="1097280" cy="256032"/>
          </a:xfrm>
          <a:prstGeom prst="rect">
            <a:avLst/>
          </a:prstGeom>
          <a:noFill/>
        </p:spPr>
        <p:txBody>
          <a:bodyPr wrap="square" anchor="t">
            <a:spAutoFit/>
          </a:bodyPr>
          <a:lstStyle/>
          <a:p>
            <a:pPr algn="l">
              <a:spcBef>
                <a:spcPts val="0"/>
              </a:spcBef>
              <a:spcAft>
                <a:spcPts val="0"/>
              </a:spcAft>
            </a:pPr>
            <a:r>
              <a:rPr sz="1000" b="0" i="0">
                <a:solidFill>
                  <a:srgbClr val="222222"/>
                </a:solidFill>
                <a:latin typeface="Calibri"/>
              </a:rPr>
              <a:t>Mol fused</a:t>
            </a:r>
          </a:p>
        </p:txBody>
      </p:sp>
      <p:pic>
        <p:nvPicPr>
          <p:cNvPr id="19" name="Picture 18" descr="gap_after.png"/>
          <p:cNvPicPr>
            <a:picLocks noChangeAspect="1"/>
          </p:cNvPicPr>
          <p:nvPr/>
        </p:nvPicPr>
        <p:blipFill>
          <a:blip r:embed="rId3"/>
          <a:stretch>
            <a:fillRect/>
          </a:stretch>
        </p:blipFill>
        <p:spPr>
          <a:xfrm>
            <a:off x="640080" y="1965960"/>
            <a:ext cx="7178040" cy="3886200"/>
          </a:xfrm>
          <a:prstGeom prst="rect">
            <a:avLst/>
          </a:prstGeom>
        </p:spPr>
      </p:pic>
      <p:sp>
        <p:nvSpPr>
          <p:cNvPr id="20" name="Rounded Rectangle 19"/>
          <p:cNvSpPr/>
          <p:nvPr/>
        </p:nvSpPr>
        <p:spPr>
          <a:xfrm>
            <a:off x="8275320" y="1572768"/>
            <a:ext cx="3429000" cy="4663440"/>
          </a:xfrm>
          <a:prstGeom prst="roundRect">
            <a:avLst>
              <a:gd name="adj" fmla="val 8000"/>
            </a:avLst>
          </a:prstGeom>
          <a:solidFill>
            <a:srgbClr val="141C28">
              <a:alpha val="80000"/>
            </a:srgbClr>
          </a:solidFill>
          <a:ln w="15875">
            <a:solidFill>
              <a:srgbClr val="62C370">
                <a:alpha val="10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20" y="1828800"/>
            <a:ext cx="2971800" cy="411480"/>
          </a:xfrm>
          <a:prstGeom prst="rect">
            <a:avLst/>
          </a:prstGeom>
          <a:noFill/>
        </p:spPr>
        <p:txBody>
          <a:bodyPr wrap="square" anchor="t">
            <a:spAutoFit/>
          </a:bodyPr>
          <a:lstStyle/>
          <a:p>
            <a:pPr algn="ctr">
              <a:spcBef>
                <a:spcPts val="0"/>
              </a:spcBef>
              <a:spcAft>
                <a:spcPts val="0"/>
              </a:spcAft>
            </a:pPr>
            <a:r>
              <a:rPr sz="1900" b="1" i="0">
                <a:solidFill>
                  <a:srgbClr val="62C370"/>
                </a:solidFill>
                <a:latin typeface="Calibri"/>
              </a:rPr>
              <a:t>No retraining</a:t>
            </a:r>
          </a:p>
        </p:txBody>
      </p:sp>
      <p:sp>
        <p:nvSpPr>
          <p:cNvPr id="22" name="TextBox 21"/>
          <p:cNvSpPr txBox="1"/>
          <p:nvPr/>
        </p:nvSpPr>
        <p:spPr>
          <a:xfrm>
            <a:off x="8503920" y="2468880"/>
            <a:ext cx="2971800" cy="1143000"/>
          </a:xfrm>
          <a:prstGeom prst="rect">
            <a:avLst/>
          </a:prstGeom>
          <a:noFill/>
        </p:spPr>
        <p:txBody>
          <a:bodyPr wrap="square" anchor="t">
            <a:spAutoFit/>
          </a:bodyPr>
          <a:lstStyle/>
          <a:p>
            <a:pPr algn="ctr">
              <a:spcBef>
                <a:spcPts val="0"/>
              </a:spcBef>
              <a:spcAft>
                <a:spcPts val="0"/>
              </a:spcAft>
            </a:pPr>
            <a:r>
              <a:rPr sz="1800" b="0" i="0">
                <a:solidFill>
                  <a:srgbClr val="F0F4F8"/>
                </a:solidFill>
                <a:latin typeface="Calibri"/>
              </a:rPr>
              <a:t>centre each view</a:t>
            </a:r>
          </a:p>
          <a:p>
            <a:pPr algn="ctr">
              <a:spcBef>
                <a:spcPts val="0"/>
              </a:spcBef>
              <a:spcAft>
                <a:spcPts val="0"/>
              </a:spcAft>
            </a:pPr>
            <a:r>
              <a:rPr sz="1800" b="0" i="0">
                <a:solidFill>
                  <a:srgbClr val="F0F4F8"/>
                </a:solidFill>
                <a:latin typeface="Calibri"/>
              </a:rPr>
              <a:t>+</a:t>
            </a:r>
          </a:p>
          <a:p>
            <a:pPr algn="ctr">
              <a:spcBef>
                <a:spcPts val="0"/>
              </a:spcBef>
              <a:spcAft>
                <a:spcPts val="0"/>
              </a:spcAft>
            </a:pPr>
            <a:r>
              <a:rPr sz="1800" b="0" i="0">
                <a:solidFill>
                  <a:srgbClr val="F0F4F8"/>
                </a:solidFill>
                <a:latin typeface="Calibri"/>
              </a:rPr>
              <a:t>rotate into one frame</a:t>
            </a:r>
          </a:p>
        </p:txBody>
      </p:sp>
      <p:sp>
        <p:nvSpPr>
          <p:cNvPr id="23" name="TextBox 22"/>
          <p:cNvSpPr txBox="1"/>
          <p:nvPr/>
        </p:nvSpPr>
        <p:spPr>
          <a:xfrm>
            <a:off x="8503920" y="3886200"/>
            <a:ext cx="2971800" cy="411480"/>
          </a:xfrm>
          <a:prstGeom prst="rect">
            <a:avLst/>
          </a:prstGeom>
          <a:noFill/>
        </p:spPr>
        <p:txBody>
          <a:bodyPr wrap="square" anchor="t">
            <a:spAutoFit/>
          </a:bodyPr>
          <a:lstStyle/>
          <a:p>
            <a:pPr algn="ctr">
              <a:spcBef>
                <a:spcPts val="0"/>
              </a:spcBef>
              <a:spcAft>
                <a:spcPts val="0"/>
              </a:spcAft>
            </a:pPr>
            <a:r>
              <a:rPr sz="1300" b="1" i="0">
                <a:solidFill>
                  <a:srgbClr val="F3B36E"/>
                </a:solidFill>
                <a:latin typeface="Calibri"/>
              </a:rPr>
              <a:t>Result</a:t>
            </a:r>
          </a:p>
        </p:txBody>
      </p:sp>
      <p:sp>
        <p:nvSpPr>
          <p:cNvPr id="24" name="TextBox 23"/>
          <p:cNvSpPr txBox="1"/>
          <p:nvPr/>
        </p:nvSpPr>
        <p:spPr>
          <a:xfrm>
            <a:off x="8503920" y="4343400"/>
            <a:ext cx="2971800" cy="1188720"/>
          </a:xfrm>
          <a:prstGeom prst="rect">
            <a:avLst/>
          </a:prstGeom>
          <a:noFill/>
        </p:spPr>
        <p:txBody>
          <a:bodyPr wrap="square" anchor="t">
            <a:spAutoFit/>
          </a:bodyPr>
          <a:lstStyle/>
          <a:p>
            <a:pPr algn="ctr">
              <a:spcBef>
                <a:spcPts val="0"/>
              </a:spcBef>
              <a:spcAft>
                <a:spcPts val="0"/>
              </a:spcAft>
            </a:pPr>
            <a:r>
              <a:rPr sz="1600" b="0" i="0">
                <a:solidFill>
                  <a:srgbClr val="B9C9D9"/>
                </a:solidFill>
                <a:latin typeface="Calibri"/>
              </a:rPr>
              <a:t>the four views overlap</a:t>
            </a:r>
          </a:p>
          <a:p>
            <a:pPr algn="ctr">
              <a:spcBef>
                <a:spcPts val="0"/>
              </a:spcBef>
              <a:spcAft>
                <a:spcPts val="0"/>
              </a:spcAft>
            </a:pPr>
            <a:r>
              <a:rPr sz="1600" b="0" i="0">
                <a:solidFill>
                  <a:srgbClr val="B9C9D9"/>
                </a:solidFill>
                <a:latin typeface="Calibri"/>
              </a:rPr>
              <a:t>without sacrificing</a:t>
            </a:r>
          </a:p>
          <a:p>
            <a:pPr algn="ctr">
              <a:spcBef>
                <a:spcPts val="0"/>
              </a:spcBef>
              <a:spcAft>
                <a:spcPts val="0"/>
              </a:spcAft>
            </a:pPr>
            <a:r>
              <a:rPr sz="1600" b="0" i="0">
                <a:solidFill>
                  <a:srgbClr val="B9C9D9"/>
                </a:solidFill>
                <a:latin typeface="Calibri"/>
              </a:rPr>
              <a:t>structural resolution.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ACT 3  ·  HORIZON</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16</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12:05–12:55</a:t>
            </a:r>
          </a:p>
        </p:txBody>
      </p:sp>
      <p:sp>
        <p:nvSpPr>
          <p:cNvPr id="9" name="TextBox 8"/>
          <p:cNvSpPr txBox="1"/>
          <p:nvPr/>
        </p:nvSpPr>
        <p:spPr>
          <a:xfrm>
            <a:off x="457200" y="475488"/>
            <a:ext cx="11292840" cy="566928"/>
          </a:xfrm>
          <a:prstGeom prst="rect">
            <a:avLst/>
          </a:prstGeom>
          <a:noFill/>
        </p:spPr>
        <p:txBody>
          <a:bodyPr wrap="square" anchor="t">
            <a:spAutoFit/>
          </a:bodyPr>
          <a:lstStyle/>
          <a:p>
            <a:pPr algn="l">
              <a:spcBef>
                <a:spcPts val="0"/>
              </a:spcBef>
              <a:spcAft>
                <a:spcPts val="0"/>
              </a:spcAft>
            </a:pPr>
            <a:r>
              <a:rPr sz="2600" b="1" i="0">
                <a:solidFill>
                  <a:srgbClr val="F0F4F8"/>
                </a:solidFill>
                <a:latin typeface="Calibri"/>
              </a:rPr>
              <a:t>Retrieval is today’s result.  Generation is the next experiment.</a:t>
            </a:r>
          </a:p>
        </p:txBody>
      </p:sp>
      <p:sp>
        <p:nvSpPr>
          <p:cNvPr id="10" name="TextBox 9"/>
          <p:cNvSpPr txBox="1"/>
          <p:nvPr/>
        </p:nvSpPr>
        <p:spPr>
          <a:xfrm>
            <a:off x="457200" y="1024128"/>
            <a:ext cx="11292840" cy="310896"/>
          </a:xfrm>
          <a:prstGeom prst="rect">
            <a:avLst/>
          </a:prstGeom>
          <a:noFill/>
        </p:spPr>
        <p:txBody>
          <a:bodyPr wrap="square" anchor="t">
            <a:spAutoFit/>
          </a:bodyPr>
          <a:lstStyle/>
          <a:p>
            <a:pPr algn="l">
              <a:spcBef>
                <a:spcPts val="0"/>
              </a:spcBef>
              <a:spcAft>
                <a:spcPts val="0"/>
              </a:spcAft>
            </a:pPr>
            <a:r>
              <a:rPr sz="1500" b="0" i="1">
                <a:solidFill>
                  <a:srgbClr val="F3B36E"/>
                </a:solidFill>
                <a:latin typeface="Calibri"/>
              </a:rPr>
              <a:t>No de novo claim: the aligned spectral embedding is a testable conditioning signal.</a:t>
            </a:r>
          </a:p>
        </p:txBody>
      </p:sp>
      <p:sp>
        <p:nvSpPr>
          <p:cNvPr id="11" name="Rectangle 10"/>
          <p:cNvSpPr/>
          <p:nvPr/>
        </p:nvSpPr>
        <p:spPr>
          <a:xfrm>
            <a:off x="457200" y="1371600"/>
            <a:ext cx="11292840" cy="13716"/>
          </a:xfrm>
          <a:prstGeom prst="rect">
            <a:avLst/>
          </a:prstGeom>
          <a:solidFill>
            <a:srgbClr val="D9873A">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97280" y="1847088"/>
            <a:ext cx="4160520" cy="384048"/>
          </a:xfrm>
          <a:prstGeom prst="roundRect">
            <a:avLst>
              <a:gd name="adj" fmla="val 22000"/>
            </a:avLst>
          </a:prstGeom>
          <a:solidFill>
            <a:srgbClr val="5A9FDA">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1892807"/>
            <a:ext cx="4160520" cy="310896"/>
          </a:xfrm>
          <a:prstGeom prst="rect">
            <a:avLst/>
          </a:prstGeom>
          <a:noFill/>
        </p:spPr>
        <p:txBody>
          <a:bodyPr wrap="square" anchor="t">
            <a:spAutoFit/>
          </a:bodyPr>
          <a:lstStyle/>
          <a:p>
            <a:pPr algn="ctr">
              <a:spcBef>
                <a:spcPts val="0"/>
              </a:spcBef>
              <a:spcAft>
                <a:spcPts val="0"/>
              </a:spcAft>
            </a:pPr>
            <a:r>
              <a:rPr sz="1300" b="1" i="0">
                <a:solidFill>
                  <a:srgbClr val="FFFFFF"/>
                </a:solidFill>
                <a:latin typeface="Calibri"/>
              </a:rPr>
              <a:t>TODAY  ·  RETRIEVAL</a:t>
            </a:r>
          </a:p>
        </p:txBody>
      </p:sp>
      <p:sp>
        <p:nvSpPr>
          <p:cNvPr id="24" name="Rounded Rectangle 23"/>
          <p:cNvSpPr/>
          <p:nvPr/>
        </p:nvSpPr>
        <p:spPr>
          <a:xfrm>
            <a:off x="6949440" y="1847088"/>
            <a:ext cx="4160520" cy="384048"/>
          </a:xfrm>
          <a:prstGeom prst="roundRect">
            <a:avLst>
              <a:gd name="adj" fmla="val 22000"/>
            </a:avLst>
          </a:prstGeom>
          <a:solidFill>
            <a:srgbClr val="D9873A">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0" y="1892807"/>
            <a:ext cx="4160520" cy="310896"/>
          </a:xfrm>
          <a:prstGeom prst="rect">
            <a:avLst/>
          </a:prstGeom>
          <a:noFill/>
        </p:spPr>
        <p:txBody>
          <a:bodyPr wrap="square" anchor="t">
            <a:spAutoFit/>
          </a:bodyPr>
          <a:lstStyle/>
          <a:p>
            <a:pPr algn="ctr">
              <a:spcBef>
                <a:spcPts val="0"/>
              </a:spcBef>
              <a:spcAft>
                <a:spcPts val="0"/>
              </a:spcAft>
            </a:pPr>
            <a:r>
              <a:rPr sz="1300" b="1" i="0">
                <a:solidFill>
                  <a:srgbClr val="FFFFFF"/>
                </a:solidFill>
                <a:latin typeface="Calibri"/>
              </a:rPr>
              <a:t>NEXT  ·  GENERATION</a:t>
            </a:r>
          </a:p>
        </p:txBody>
      </p:sp>
      <p:sp>
        <p:nvSpPr>
          <p:cNvPr id="34" name="TextBox 33"/>
          <p:cNvSpPr txBox="1"/>
          <p:nvPr/>
        </p:nvSpPr>
        <p:spPr>
          <a:xfrm>
            <a:off x="548640" y="5673852"/>
            <a:ext cx="11064240" cy="594360"/>
          </a:xfrm>
          <a:prstGeom prst="rect">
            <a:avLst/>
          </a:prstGeom>
          <a:noFill/>
        </p:spPr>
        <p:txBody>
          <a:bodyPr wrap="square" anchor="t">
            <a:spAutoFit/>
          </a:bodyPr>
          <a:lstStyle/>
          <a:p>
            <a:pPr algn="ctr">
              <a:spcBef>
                <a:spcPts val="0"/>
              </a:spcBef>
              <a:spcAft>
                <a:spcPts val="0"/>
              </a:spcAft>
            </a:pPr>
            <a:r>
              <a:rPr sz="1600" b="1" i="0" dirty="0">
                <a:solidFill>
                  <a:srgbClr val="F0F4F8"/>
                </a:solidFill>
                <a:latin typeface="Calibri"/>
              </a:rPr>
              <a:t>The benchmark result is retrieval.</a:t>
            </a:r>
          </a:p>
          <a:p>
            <a:pPr algn="ctr">
              <a:spcBef>
                <a:spcPts val="0"/>
              </a:spcBef>
              <a:spcAft>
                <a:spcPts val="0"/>
              </a:spcAft>
            </a:pPr>
            <a:r>
              <a:rPr sz="1600" b="1" i="0" dirty="0">
                <a:solidFill>
                  <a:srgbClr val="F0F4F8"/>
                </a:solidFill>
                <a:latin typeface="Calibri"/>
              </a:rPr>
              <a:t>The geometric result removes a known obstacle to continuous conditioning.</a:t>
            </a:r>
          </a:p>
        </p:txBody>
      </p:sp>
      <p:pic>
        <p:nvPicPr>
          <p:cNvPr id="35" name="Imagen 34">
            <a:extLst>
              <a:ext uri="{FF2B5EF4-FFF2-40B4-BE49-F238E27FC236}">
                <a16:creationId xmlns:a16="http://schemas.microsoft.com/office/drawing/2014/main" id="{AE719A10-EBAB-4858-9380-E3B72E0B6548}"/>
              </a:ext>
            </a:extLst>
          </p:cNvPr>
          <p:cNvPicPr>
            <a:picLocks noChangeAspect="1"/>
          </p:cNvPicPr>
          <p:nvPr/>
        </p:nvPicPr>
        <p:blipFill>
          <a:blip r:embed="rId3"/>
          <a:stretch>
            <a:fillRect/>
          </a:stretch>
        </p:blipFill>
        <p:spPr>
          <a:xfrm>
            <a:off x="6315891" y="2502464"/>
            <a:ext cx="5525589" cy="3084050"/>
          </a:xfrm>
          <a:prstGeom prst="rect">
            <a:avLst/>
          </a:prstGeom>
        </p:spPr>
      </p:pic>
      <p:pic>
        <p:nvPicPr>
          <p:cNvPr id="37" name="Imagen 36">
            <a:extLst>
              <a:ext uri="{FF2B5EF4-FFF2-40B4-BE49-F238E27FC236}">
                <a16:creationId xmlns:a16="http://schemas.microsoft.com/office/drawing/2014/main" id="{1D0C1E9F-AF18-B669-7C9D-74D4E66DFD04}"/>
              </a:ext>
            </a:extLst>
          </p:cNvPr>
          <p:cNvPicPr>
            <a:picLocks noChangeAspect="1"/>
          </p:cNvPicPr>
          <p:nvPr/>
        </p:nvPicPr>
        <p:blipFill>
          <a:blip r:embed="rId4"/>
          <a:stretch>
            <a:fillRect/>
          </a:stretch>
        </p:blipFill>
        <p:spPr>
          <a:xfrm>
            <a:off x="457200" y="2502464"/>
            <a:ext cx="5525589" cy="308405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520440" cy="365760"/>
          </a:xfrm>
          <a:prstGeom prst="rect">
            <a:avLst/>
          </a:prstGeom>
          <a:solidFill>
            <a:srgbClr val="3E84B8">
              <a:alpha val="10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 y="64008"/>
            <a:ext cx="3246120" cy="256032"/>
          </a:xfrm>
          <a:prstGeom prst="rect">
            <a:avLst/>
          </a:prstGeom>
          <a:noFill/>
        </p:spPr>
        <p:txBody>
          <a:bodyPr wrap="square" anchor="t">
            <a:spAutoFit/>
          </a:bodyPr>
          <a:lstStyle/>
          <a:p>
            <a:pPr algn="l">
              <a:spcBef>
                <a:spcPts val="0"/>
              </a:spcBef>
              <a:spcAft>
                <a:spcPts val="0"/>
              </a:spcAft>
            </a:pPr>
            <a:r>
              <a:rPr sz="1200" b="1" i="0">
                <a:solidFill>
                  <a:srgbClr val="FFFFFF"/>
                </a:solidFill>
                <a:latin typeface="Calibri"/>
              </a:rPr>
              <a:t>CLOSE</a:t>
            </a:r>
          </a:p>
        </p:txBody>
      </p:sp>
      <p:sp>
        <p:nvSpPr>
          <p:cNvPr id="5" name="Rectangle 4"/>
          <p:cNvSpPr/>
          <p:nvPr/>
        </p:nvSpPr>
        <p:spPr>
          <a:xfrm>
            <a:off x="0" y="6547104"/>
            <a:ext cx="12191999" cy="310896"/>
          </a:xfrm>
          <a:prstGeom prst="rect">
            <a:avLst/>
          </a:prstGeom>
          <a:solidFill>
            <a:srgbClr val="3E84B8">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84048" y="6583680"/>
            <a:ext cx="10424160" cy="237744"/>
          </a:xfrm>
          <a:prstGeom prst="rect">
            <a:avLst/>
          </a:prstGeom>
          <a:noFill/>
        </p:spPr>
        <p:txBody>
          <a:bodyPr wrap="square" anchor="t">
            <a:spAutoFit/>
          </a:bodyPr>
          <a:lstStyle/>
          <a:p>
            <a:pPr algn="l">
              <a:spcBef>
                <a:spcPts val="0"/>
              </a:spcBef>
              <a:spcAft>
                <a:spcPts val="0"/>
              </a:spcAft>
            </a:pPr>
            <a:r>
              <a:rPr sz="1100" b="0" i="0">
                <a:solidFill>
                  <a:srgbClr val="FFFFFF"/>
                </a:solidFill>
                <a:latin typeface="Calibri"/>
              </a:rPr>
              <a:t>MultiCLIP   |   Ruiz-Botella, Sales-Pardo &amp; Guimerà   |   URV · ComSCIAM · ICREA</a:t>
            </a:r>
          </a:p>
        </p:txBody>
      </p:sp>
      <p:sp>
        <p:nvSpPr>
          <p:cNvPr id="7" name="TextBox 6"/>
          <p:cNvSpPr txBox="1"/>
          <p:nvPr/>
        </p:nvSpPr>
        <p:spPr>
          <a:xfrm>
            <a:off x="11109960" y="6583680"/>
            <a:ext cx="822960" cy="237744"/>
          </a:xfrm>
          <a:prstGeom prst="rect">
            <a:avLst/>
          </a:prstGeom>
          <a:noFill/>
        </p:spPr>
        <p:txBody>
          <a:bodyPr wrap="square" anchor="t">
            <a:spAutoFit/>
          </a:bodyPr>
          <a:lstStyle/>
          <a:p>
            <a:pPr algn="r">
              <a:spcBef>
                <a:spcPts val="0"/>
              </a:spcBef>
              <a:spcAft>
                <a:spcPts val="0"/>
              </a:spcAft>
            </a:pPr>
            <a:r>
              <a:rPr sz="1200" b="1" i="0">
                <a:solidFill>
                  <a:srgbClr val="FFFFFF"/>
                </a:solidFill>
                <a:latin typeface="Calibri"/>
              </a:rPr>
              <a:t>18</a:t>
            </a:r>
          </a:p>
        </p:txBody>
      </p:sp>
      <p:sp>
        <p:nvSpPr>
          <p:cNvPr id="8" name="TextBox 7"/>
          <p:cNvSpPr txBox="1"/>
          <p:nvPr/>
        </p:nvSpPr>
        <p:spPr>
          <a:xfrm>
            <a:off x="10469880" y="73152"/>
            <a:ext cx="1371600" cy="219456"/>
          </a:xfrm>
          <a:prstGeom prst="rect">
            <a:avLst/>
          </a:prstGeom>
          <a:noFill/>
        </p:spPr>
        <p:txBody>
          <a:bodyPr wrap="square" anchor="t">
            <a:spAutoFit/>
          </a:bodyPr>
          <a:lstStyle/>
          <a:p>
            <a:pPr algn="r">
              <a:spcBef>
                <a:spcPts val="0"/>
              </a:spcBef>
              <a:spcAft>
                <a:spcPts val="0"/>
              </a:spcAft>
            </a:pPr>
            <a:r>
              <a:rPr sz="900" b="0" i="1">
                <a:solidFill>
                  <a:srgbClr val="FFFFFF"/>
                </a:solidFill>
                <a:latin typeface="Calibri"/>
              </a:rPr>
              <a:t>13:20–13:50</a:t>
            </a:r>
          </a:p>
        </p:txBody>
      </p:sp>
      <p:sp>
        <p:nvSpPr>
          <p:cNvPr id="9" name="TextBox 8"/>
          <p:cNvSpPr txBox="1"/>
          <p:nvPr/>
        </p:nvSpPr>
        <p:spPr>
          <a:xfrm>
            <a:off x="457200" y="457200"/>
            <a:ext cx="11292840" cy="457200"/>
          </a:xfrm>
          <a:prstGeom prst="rect">
            <a:avLst/>
          </a:prstGeom>
          <a:noFill/>
        </p:spPr>
        <p:txBody>
          <a:bodyPr wrap="square" anchor="t">
            <a:spAutoFit/>
          </a:bodyPr>
          <a:lstStyle/>
          <a:p>
            <a:pPr algn="l">
              <a:spcBef>
                <a:spcPts val="0"/>
              </a:spcBef>
              <a:spcAft>
                <a:spcPts val="0"/>
              </a:spcAft>
            </a:pPr>
            <a:r>
              <a:rPr sz="2500" b="1" i="0" dirty="0">
                <a:solidFill>
                  <a:srgbClr val="F0F4F8"/>
                </a:solidFill>
                <a:latin typeface="Calibri"/>
              </a:rPr>
              <a:t>We identify the isomer this way.</a:t>
            </a:r>
          </a:p>
        </p:txBody>
      </p:sp>
      <p:sp>
        <p:nvSpPr>
          <p:cNvPr id="10" name="Rectangle 9"/>
          <p:cNvSpPr/>
          <p:nvPr/>
        </p:nvSpPr>
        <p:spPr>
          <a:xfrm>
            <a:off x="457200" y="987552"/>
            <a:ext cx="11292840" cy="10972"/>
          </a:xfrm>
          <a:prstGeom prst="rect">
            <a:avLst/>
          </a:prstGeom>
          <a:solidFill>
            <a:srgbClr val="F3B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11480" y="1280160"/>
            <a:ext cx="3611880" cy="2880360"/>
          </a:xfrm>
          <a:prstGeom prst="roundRect">
            <a:avLst>
              <a:gd name="adj" fmla="val 5000"/>
            </a:avLst>
          </a:prstGeom>
          <a:solidFill>
            <a:srgbClr val="141C28"/>
          </a:solidFill>
          <a:ln w="15875">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57784" y="1426464"/>
            <a:ext cx="3319272" cy="365760"/>
          </a:xfrm>
          <a:prstGeom prst="roundRect">
            <a:avLst>
              <a:gd name="adj" fmla="val 5000"/>
            </a:avLst>
          </a:prstGeom>
          <a:solidFill>
            <a:srgbClr val="1C2736"/>
          </a:solidFill>
          <a:ln w="8890">
            <a:solidFill>
              <a:srgbClr val="5A9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7784" y="1426464"/>
            <a:ext cx="3319272" cy="365760"/>
          </a:xfrm>
          <a:prstGeom prst="rect">
            <a:avLst/>
          </a:prstGeom>
          <a:noFill/>
        </p:spPr>
        <p:txBody>
          <a:bodyPr wrap="square" lIns="73152" tIns="0" rIns="73152" bIns="0" anchor="ctr">
            <a:spAutoFit/>
          </a:bodyPr>
          <a:lstStyle/>
          <a:p>
            <a:pPr algn="l">
              <a:spcAft>
                <a:spcPts val="200"/>
              </a:spcAft>
            </a:pPr>
            <a:r>
              <a:rPr sz="1300" b="1" i="0">
                <a:solidFill>
                  <a:srgbClr val="5A9FDA"/>
                </a:solidFill>
                <a:latin typeface="Calibri"/>
              </a:rPr>
              <a:t>01  ·  WITHOUT THE FORMULA</a:t>
            </a:r>
          </a:p>
        </p:txBody>
      </p:sp>
      <p:sp>
        <p:nvSpPr>
          <p:cNvPr id="14" name="TextBox 13"/>
          <p:cNvSpPr txBox="1"/>
          <p:nvPr/>
        </p:nvSpPr>
        <p:spPr>
          <a:xfrm>
            <a:off x="594360" y="1975104"/>
            <a:ext cx="3246120" cy="960120"/>
          </a:xfrm>
          <a:prstGeom prst="rect">
            <a:avLst/>
          </a:prstGeom>
          <a:noFill/>
        </p:spPr>
        <p:txBody>
          <a:bodyPr wrap="square" lIns="73152" tIns="0" rIns="73152" bIns="0" anchor="t">
            <a:spAutoFit/>
          </a:bodyPr>
          <a:lstStyle/>
          <a:p>
            <a:pPr algn="l">
              <a:spcAft>
                <a:spcPts val="200"/>
              </a:spcAft>
            </a:pPr>
            <a:r>
              <a:rPr sz="2000" b="1" i="0">
                <a:solidFill>
                  <a:srgbClr val="F0F4F8"/>
                </a:solidFill>
                <a:latin typeface="Calibri"/>
              </a:rPr>
              <a:t>m/z tokens. No precursor formula.</a:t>
            </a:r>
          </a:p>
        </p:txBody>
      </p:sp>
      <p:sp>
        <p:nvSpPr>
          <p:cNvPr id="15" name="TextBox 14"/>
          <p:cNvSpPr txBox="1"/>
          <p:nvPr/>
        </p:nvSpPr>
        <p:spPr>
          <a:xfrm>
            <a:off x="594360" y="3017520"/>
            <a:ext cx="3246120" cy="822960"/>
          </a:xfrm>
          <a:prstGeom prst="rect">
            <a:avLst/>
          </a:prstGeom>
          <a:noFill/>
        </p:spPr>
        <p:txBody>
          <a:bodyPr wrap="square" lIns="73152" tIns="0" rIns="73152" bIns="0" anchor="t">
            <a:spAutoFit/>
          </a:bodyPr>
          <a:lstStyle/>
          <a:p>
            <a:pPr algn="l">
              <a:spcAft>
                <a:spcPts val="200"/>
              </a:spcAft>
            </a:pPr>
            <a:r>
              <a:rPr sz="1500" b="0" i="0">
                <a:solidFill>
                  <a:srgbClr val="B9C9D9"/>
                </a:solidFill>
                <a:latin typeface="Calibri"/>
              </a:rPr>
              <a:t>The peaks go in as they are measured.</a:t>
            </a:r>
          </a:p>
        </p:txBody>
      </p:sp>
      <p:sp>
        <p:nvSpPr>
          <p:cNvPr id="16" name="Rounded Rectangle 15"/>
          <p:cNvSpPr/>
          <p:nvPr/>
        </p:nvSpPr>
        <p:spPr>
          <a:xfrm>
            <a:off x="4187952" y="1280160"/>
            <a:ext cx="3611880" cy="2880360"/>
          </a:xfrm>
          <a:prstGeom prst="roundRect">
            <a:avLst>
              <a:gd name="adj" fmla="val 5000"/>
            </a:avLst>
          </a:prstGeom>
          <a:solidFill>
            <a:srgbClr val="141C28"/>
          </a:solidFill>
          <a:ln w="15875">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34256" y="1426464"/>
            <a:ext cx="3319272" cy="365760"/>
          </a:xfrm>
          <a:prstGeom prst="roundRect">
            <a:avLst>
              <a:gd name="adj" fmla="val 5000"/>
            </a:avLst>
          </a:prstGeom>
          <a:solidFill>
            <a:srgbClr val="1C2736"/>
          </a:solidFill>
          <a:ln w="889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34256" y="1426464"/>
            <a:ext cx="3319272" cy="365760"/>
          </a:xfrm>
          <a:prstGeom prst="rect">
            <a:avLst/>
          </a:prstGeom>
          <a:noFill/>
        </p:spPr>
        <p:txBody>
          <a:bodyPr wrap="square" lIns="73152" tIns="0" rIns="73152" bIns="0" anchor="ctr">
            <a:spAutoFit/>
          </a:bodyPr>
          <a:lstStyle/>
          <a:p>
            <a:pPr algn="l">
              <a:spcAft>
                <a:spcPts val="200"/>
              </a:spcAft>
            </a:pPr>
            <a:r>
              <a:rPr sz="1300" b="1" i="0">
                <a:solidFill>
                  <a:srgbClr val="D9873A"/>
                </a:solidFill>
                <a:latin typeface="Calibri"/>
              </a:rPr>
              <a:t>02  ·  BY FUSING FOUR VIEWS</a:t>
            </a:r>
          </a:p>
        </p:txBody>
      </p:sp>
      <p:sp>
        <p:nvSpPr>
          <p:cNvPr id="19" name="TextBox 18"/>
          <p:cNvSpPr txBox="1"/>
          <p:nvPr/>
        </p:nvSpPr>
        <p:spPr>
          <a:xfrm>
            <a:off x="4370832" y="1975104"/>
            <a:ext cx="3246120" cy="960120"/>
          </a:xfrm>
          <a:prstGeom prst="rect">
            <a:avLst/>
          </a:prstGeom>
          <a:noFill/>
        </p:spPr>
        <p:txBody>
          <a:bodyPr wrap="square" lIns="73152" tIns="0" rIns="73152" bIns="0" anchor="t">
            <a:spAutoFit/>
          </a:bodyPr>
          <a:lstStyle/>
          <a:p>
            <a:pPr algn="l">
              <a:spcAft>
                <a:spcPts val="200"/>
              </a:spcAft>
            </a:pPr>
            <a:r>
              <a:rPr sz="2000" b="1" i="0">
                <a:solidFill>
                  <a:srgbClr val="F0F4F8"/>
                </a:solidFill>
                <a:latin typeface="Calibri"/>
              </a:rPr>
              <a:t>Graph, fingerprint, merged, single.</a:t>
            </a:r>
          </a:p>
        </p:txBody>
      </p:sp>
      <p:sp>
        <p:nvSpPr>
          <p:cNvPr id="20" name="TextBox 19"/>
          <p:cNvSpPr txBox="1"/>
          <p:nvPr/>
        </p:nvSpPr>
        <p:spPr>
          <a:xfrm>
            <a:off x="4370832" y="3017520"/>
            <a:ext cx="3246120" cy="822960"/>
          </a:xfrm>
          <a:prstGeom prst="rect">
            <a:avLst/>
          </a:prstGeom>
          <a:noFill/>
        </p:spPr>
        <p:txBody>
          <a:bodyPr wrap="square" lIns="73152" tIns="0" rIns="73152" bIns="0" anchor="t">
            <a:spAutoFit/>
          </a:bodyPr>
          <a:lstStyle/>
          <a:p>
            <a:pPr algn="l">
              <a:spcAft>
                <a:spcPts val="200"/>
              </a:spcAft>
            </a:pPr>
            <a:r>
              <a:rPr sz="1500" b="0" i="0">
                <a:solidFill>
                  <a:srgbClr val="B9C9D9"/>
                </a:solidFill>
                <a:latin typeface="Calibri"/>
              </a:rPr>
              <a:t>Align them, then fuse at inference.</a:t>
            </a:r>
          </a:p>
        </p:txBody>
      </p:sp>
      <p:sp>
        <p:nvSpPr>
          <p:cNvPr id="21" name="Rounded Rectangle 20"/>
          <p:cNvSpPr/>
          <p:nvPr/>
        </p:nvSpPr>
        <p:spPr>
          <a:xfrm>
            <a:off x="7964424" y="1280160"/>
            <a:ext cx="3611880" cy="2880360"/>
          </a:xfrm>
          <a:prstGeom prst="roundRect">
            <a:avLst>
              <a:gd name="adj" fmla="val 5000"/>
            </a:avLst>
          </a:prstGeom>
          <a:solidFill>
            <a:srgbClr val="141C28"/>
          </a:solidFill>
          <a:ln w="15875">
            <a:solidFill>
              <a:srgbClr val="62C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110728" y="1426464"/>
            <a:ext cx="3319272" cy="365760"/>
          </a:xfrm>
          <a:prstGeom prst="roundRect">
            <a:avLst>
              <a:gd name="adj" fmla="val 5000"/>
            </a:avLst>
          </a:prstGeom>
          <a:solidFill>
            <a:srgbClr val="1C2736"/>
          </a:solidFill>
          <a:ln w="8890">
            <a:solidFill>
              <a:srgbClr val="62C3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10728" y="1426464"/>
            <a:ext cx="3319272" cy="365760"/>
          </a:xfrm>
          <a:prstGeom prst="rect">
            <a:avLst/>
          </a:prstGeom>
          <a:noFill/>
        </p:spPr>
        <p:txBody>
          <a:bodyPr wrap="square" lIns="73152" tIns="0" rIns="73152" bIns="0" anchor="ctr">
            <a:spAutoFit/>
          </a:bodyPr>
          <a:lstStyle/>
          <a:p>
            <a:pPr algn="l">
              <a:spcAft>
                <a:spcPts val="200"/>
              </a:spcAft>
            </a:pPr>
            <a:r>
              <a:rPr sz="1300" b="1" i="0">
                <a:solidFill>
                  <a:srgbClr val="62C370"/>
                </a:solidFill>
                <a:latin typeface="Calibri"/>
              </a:rPr>
              <a:t>03  ·  WITH SOTA RESULTS</a:t>
            </a:r>
          </a:p>
        </p:txBody>
      </p:sp>
      <p:sp>
        <p:nvSpPr>
          <p:cNvPr id="24" name="TextBox 23"/>
          <p:cNvSpPr txBox="1"/>
          <p:nvPr/>
        </p:nvSpPr>
        <p:spPr>
          <a:xfrm>
            <a:off x="8147304" y="1975104"/>
            <a:ext cx="3246120" cy="960120"/>
          </a:xfrm>
          <a:prstGeom prst="rect">
            <a:avLst/>
          </a:prstGeom>
          <a:noFill/>
        </p:spPr>
        <p:txBody>
          <a:bodyPr wrap="square" lIns="73152" tIns="0" rIns="73152" bIns="0" anchor="t">
            <a:spAutoFit/>
          </a:bodyPr>
          <a:lstStyle/>
          <a:p>
            <a:pPr algn="l">
              <a:spcAft>
                <a:spcPts val="200"/>
              </a:spcAft>
            </a:pPr>
            <a:r>
              <a:rPr sz="2000" b="1" i="0">
                <a:solidFill>
                  <a:srgbClr val="F0F4F8"/>
                </a:solidFill>
                <a:latin typeface="Calibri"/>
              </a:rPr>
              <a:t>25.9% Recall@1  ·  53.8% @5</a:t>
            </a:r>
          </a:p>
        </p:txBody>
      </p:sp>
      <p:sp>
        <p:nvSpPr>
          <p:cNvPr id="25" name="TextBox 24"/>
          <p:cNvSpPr txBox="1"/>
          <p:nvPr/>
        </p:nvSpPr>
        <p:spPr>
          <a:xfrm>
            <a:off x="8147304" y="3017520"/>
            <a:ext cx="3246120" cy="822960"/>
          </a:xfrm>
          <a:prstGeom prst="rect">
            <a:avLst/>
          </a:prstGeom>
          <a:noFill/>
        </p:spPr>
        <p:txBody>
          <a:bodyPr wrap="square" lIns="73152" tIns="0" rIns="73152" bIns="0" anchor="t">
            <a:spAutoFit/>
          </a:bodyPr>
          <a:lstStyle/>
          <a:p>
            <a:pPr algn="l">
              <a:spcAft>
                <a:spcPts val="200"/>
              </a:spcAft>
            </a:pPr>
            <a:r>
              <a:rPr sz="1500" b="0" i="0">
                <a:solidFill>
                  <a:srgbClr val="B9C9D9"/>
                </a:solidFill>
                <a:latin typeface="Calibri"/>
              </a:rPr>
              <a:t>Best published, formula-free encoding.</a:t>
            </a:r>
          </a:p>
        </p:txBody>
      </p:sp>
      <p:sp>
        <p:nvSpPr>
          <p:cNvPr id="26" name="Rounded Rectangle 25"/>
          <p:cNvSpPr/>
          <p:nvPr/>
        </p:nvSpPr>
        <p:spPr>
          <a:xfrm>
            <a:off x="411480" y="4343400"/>
            <a:ext cx="11338560" cy="1737360"/>
          </a:xfrm>
          <a:prstGeom prst="roundRect">
            <a:avLst>
              <a:gd name="adj" fmla="val 5000"/>
            </a:avLst>
          </a:prstGeom>
          <a:solidFill>
            <a:srgbClr val="141C28"/>
          </a:solidFill>
          <a:ln w="1651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76072" y="4507992"/>
            <a:ext cx="11009376" cy="347472"/>
          </a:xfrm>
          <a:prstGeom prst="roundRect">
            <a:avLst>
              <a:gd name="adj" fmla="val 5000"/>
            </a:avLst>
          </a:prstGeom>
          <a:solidFill>
            <a:srgbClr val="1C2736"/>
          </a:solidFill>
          <a:ln w="8890">
            <a:solidFill>
              <a:srgbClr val="D987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6072" y="4507992"/>
            <a:ext cx="11009376" cy="347472"/>
          </a:xfrm>
          <a:prstGeom prst="rect">
            <a:avLst/>
          </a:prstGeom>
          <a:noFill/>
        </p:spPr>
        <p:txBody>
          <a:bodyPr wrap="square" lIns="73152" tIns="0" rIns="73152" bIns="0" anchor="ctr">
            <a:spAutoFit/>
          </a:bodyPr>
          <a:lstStyle/>
          <a:p>
            <a:pPr algn="l">
              <a:spcAft>
                <a:spcPts val="200"/>
              </a:spcAft>
            </a:pPr>
            <a:r>
              <a:rPr sz="1400" b="1" i="0">
                <a:solidFill>
                  <a:srgbClr val="D9873A"/>
                </a:solidFill>
                <a:latin typeface="Calibri"/>
              </a:rPr>
              <a:t>THIS OPENS A NEW WAY TO RECONSTRUCT</a:t>
            </a:r>
          </a:p>
        </p:txBody>
      </p:sp>
      <p:sp>
        <p:nvSpPr>
          <p:cNvPr id="29" name="TextBox 28"/>
          <p:cNvSpPr txBox="1"/>
          <p:nvPr/>
        </p:nvSpPr>
        <p:spPr>
          <a:xfrm>
            <a:off x="640080" y="4956048"/>
            <a:ext cx="10972800" cy="914400"/>
          </a:xfrm>
          <a:prstGeom prst="rect">
            <a:avLst/>
          </a:prstGeom>
          <a:noFill/>
        </p:spPr>
        <p:txBody>
          <a:bodyPr wrap="square" lIns="73152" tIns="0" rIns="73152" bIns="0" anchor="t">
            <a:spAutoFit/>
          </a:bodyPr>
          <a:lstStyle/>
          <a:p>
            <a:pPr algn="l">
              <a:spcAft>
                <a:spcPts val="200"/>
              </a:spcAft>
            </a:pPr>
            <a:r>
              <a:rPr sz="2000" b="0" i="0">
                <a:solidFill>
                  <a:srgbClr val="F0F4F8"/>
                </a:solidFill>
                <a:latin typeface="Calibri"/>
              </a:rPr>
              <a:t>The aligned embedding is not only a key for retrieval.</a:t>
            </a:r>
          </a:p>
          <a:p>
            <a:pPr algn="l">
              <a:spcAft>
                <a:spcPts val="200"/>
              </a:spcAft>
            </a:pPr>
            <a:r>
              <a:rPr sz="2000" b="0" i="0">
                <a:solidFill>
                  <a:srgbClr val="F0F4F8"/>
                </a:solidFill>
                <a:latin typeface="Calibri"/>
              </a:rPr>
              <a:t>It is a continuous condition for generating molecules that are not in any library.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297</TotalTime>
  <Words>5096</Words>
  <Application>Microsoft Office PowerPoint</Application>
  <PresentationFormat>Panorámica</PresentationFormat>
  <Paragraphs>857</Paragraphs>
  <Slides>33</Slides>
  <Notes>33</Notes>
  <HiddenSlides>2</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33</vt:i4>
      </vt:variant>
    </vt:vector>
  </HeadingPairs>
  <TitlesOfParts>
    <vt:vector size="37"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Manuel Ruiz Botella</cp:lastModifiedBy>
  <cp:revision>15</cp:revision>
  <dcterms:created xsi:type="dcterms:W3CDTF">2013-01-27T09:14:16Z</dcterms:created>
  <dcterms:modified xsi:type="dcterms:W3CDTF">2026-09-16T11:33:11Z</dcterms:modified>
  <cp:category/>
</cp:coreProperties>
</file>